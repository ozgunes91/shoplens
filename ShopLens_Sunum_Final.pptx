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68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" name="Grupla"/>
          <p:cNvGrpSpPr/>
          <p:nvPr/>
        </p:nvGrpSpPr>
        <p:grpSpPr>
          <a:xfrm>
            <a:off x="742950" y="819149"/>
            <a:ext cx="1524000" cy="514351"/>
            <a:chOff x="0" y="0"/>
            <a:chExt cx="1524000" cy="514350"/>
          </a:xfrm>
        </p:grpSpPr>
        <p:sp>
          <p:nvSpPr>
            <p:cNvPr id="22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3" name="Shop"/>
            <p:cNvSpPr txBox="1"/>
            <p:nvPr/>
          </p:nvSpPr>
          <p:spPr>
            <a:xfrm>
              <a:off x="0" y="-1"/>
              <a:ext cx="15240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27" name="Grupla"/>
          <p:cNvGrpSpPr/>
          <p:nvPr/>
        </p:nvGrpSpPr>
        <p:grpSpPr>
          <a:xfrm>
            <a:off x="1739762" y="819149"/>
            <a:ext cx="1524003" cy="514351"/>
            <a:chOff x="0" y="0"/>
            <a:chExt cx="1524001" cy="514350"/>
          </a:xfrm>
        </p:grpSpPr>
        <p:sp>
          <p:nvSpPr>
            <p:cNvPr id="25" name="Dikdörtgen"/>
            <p:cNvSpPr/>
            <p:nvPr/>
          </p:nvSpPr>
          <p:spPr>
            <a:xfrm>
              <a:off x="-1" y="0"/>
              <a:ext cx="1524003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6" name="Lens"/>
            <p:cNvSpPr txBox="1"/>
            <p:nvPr/>
          </p:nvSpPr>
          <p:spPr>
            <a:xfrm>
              <a:off x="-1" y="-1"/>
              <a:ext cx="1524003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30" name="Grupla"/>
          <p:cNvGrpSpPr/>
          <p:nvPr/>
        </p:nvGrpSpPr>
        <p:grpSpPr>
          <a:xfrm>
            <a:off x="762000" y="1466849"/>
            <a:ext cx="7239000" cy="1066801"/>
            <a:chOff x="0" y="0"/>
            <a:chExt cx="7239000" cy="1066800"/>
          </a:xfrm>
        </p:grpSpPr>
        <p:sp>
          <p:nvSpPr>
            <p:cNvPr id="28" name="Dikdörtgen"/>
            <p:cNvSpPr/>
            <p:nvPr/>
          </p:nvSpPr>
          <p:spPr>
            <a:xfrm>
              <a:off x="0" y="0"/>
              <a:ext cx="7239000" cy="1066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9" name="E-Ticaret Davranış Analizi ve Akıllı Ürün Öneri Sistemi"/>
            <p:cNvSpPr txBox="1"/>
            <p:nvPr/>
          </p:nvSpPr>
          <p:spPr>
            <a:xfrm>
              <a:off x="0" y="-1"/>
              <a:ext cx="7239000" cy="736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E-Ticaret Davranış Analizi ve Akıllı Ürün Öneri Sistemi</a:t>
              </a:r>
            </a:p>
          </p:txBody>
        </p:sp>
      </p:grpSp>
      <p:grpSp>
        <p:nvGrpSpPr>
          <p:cNvPr id="33" name="Grupla"/>
          <p:cNvGrpSpPr/>
          <p:nvPr/>
        </p:nvGrpSpPr>
        <p:grpSpPr>
          <a:xfrm>
            <a:off x="781050" y="2571749"/>
            <a:ext cx="6667500" cy="666751"/>
            <a:chOff x="0" y="0"/>
            <a:chExt cx="6667500" cy="666750"/>
          </a:xfrm>
        </p:grpSpPr>
        <p:sp>
          <p:nvSpPr>
            <p:cNvPr id="31" name="Dikdörtgen"/>
            <p:cNvSpPr/>
            <p:nvPr/>
          </p:nvSpPr>
          <p:spPr>
            <a:xfrm>
              <a:off x="0" y="0"/>
              <a:ext cx="66675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" name="Clickstream, sipariş, yorum ve müşteri segmentasyonu verileriyle kişiye özel satın alma olasılığı üreten açıklanabilir analiz projesi"/>
            <p:cNvSpPr txBox="1"/>
            <p:nvPr/>
          </p:nvSpPr>
          <p:spPr>
            <a:xfrm>
              <a:off x="0" y="-1"/>
              <a:ext cx="66675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Clickstream, sipariş, yorum ve müşteri segmentasyonu verileriyle kişiye özel satın alma olasılığı üreten açıklanabilir analiz projesi</a:t>
              </a:r>
            </a:p>
          </p:txBody>
        </p:sp>
      </p:grpSp>
      <p:sp>
        <p:nvSpPr>
          <p:cNvPr id="34" name="Dikdörtgen"/>
          <p:cNvSpPr/>
          <p:nvPr/>
        </p:nvSpPr>
        <p:spPr>
          <a:xfrm>
            <a:off x="770572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" name="Dikdörtgen"/>
          <p:cNvSpPr/>
          <p:nvPr/>
        </p:nvSpPr>
        <p:spPr>
          <a:xfrm>
            <a:off x="766762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" name="Dikdörtgen"/>
          <p:cNvSpPr/>
          <p:nvPr/>
        </p:nvSpPr>
        <p:spPr>
          <a:xfrm>
            <a:off x="7667625" y="11049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" name="Grupla"/>
          <p:cNvGrpSpPr/>
          <p:nvPr/>
        </p:nvGrpSpPr>
        <p:grpSpPr>
          <a:xfrm>
            <a:off x="7858125" y="1276349"/>
            <a:ext cx="1047750" cy="152401"/>
            <a:chOff x="0" y="0"/>
            <a:chExt cx="1047750" cy="152400"/>
          </a:xfrm>
        </p:grpSpPr>
        <p:sp>
          <p:nvSpPr>
            <p:cNvPr id="37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" name="GÖZLEM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GÖZLEM</a:t>
              </a:r>
            </a:p>
          </p:txBody>
        </p:sp>
      </p:grpSp>
      <p:grpSp>
        <p:nvGrpSpPr>
          <p:cNvPr id="42" name="Grupla"/>
          <p:cNvGrpSpPr/>
          <p:nvPr/>
        </p:nvGrpSpPr>
        <p:grpSpPr>
          <a:xfrm>
            <a:off x="7858125" y="1504949"/>
            <a:ext cx="1047750" cy="361951"/>
            <a:chOff x="0" y="0"/>
            <a:chExt cx="1047750" cy="361950"/>
          </a:xfrm>
        </p:grpSpPr>
        <p:sp>
          <p:nvSpPr>
            <p:cNvPr id="40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" name="1.0M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1.0M</a:t>
              </a:r>
            </a:p>
          </p:txBody>
        </p:sp>
      </p:grpSp>
      <p:grpSp>
        <p:nvGrpSpPr>
          <p:cNvPr id="45" name="Grupla"/>
          <p:cNvGrpSpPr/>
          <p:nvPr/>
        </p:nvGrpSpPr>
        <p:grpSpPr>
          <a:xfrm>
            <a:off x="7858125" y="1885949"/>
            <a:ext cx="1047750" cy="171451"/>
            <a:chOff x="0" y="0"/>
            <a:chExt cx="1047750" cy="171450"/>
          </a:xfrm>
        </p:grpSpPr>
        <p:sp>
          <p:nvSpPr>
            <p:cNvPr id="43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" name="ham 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ham kayıt</a:t>
              </a:r>
            </a:p>
          </p:txBody>
        </p:sp>
      </p:grpSp>
      <p:sp>
        <p:nvSpPr>
          <p:cNvPr id="46" name="Dikdörtgen"/>
          <p:cNvSpPr/>
          <p:nvPr/>
        </p:nvSpPr>
        <p:spPr>
          <a:xfrm>
            <a:off x="932497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Dikdörtgen"/>
          <p:cNvSpPr/>
          <p:nvPr/>
        </p:nvSpPr>
        <p:spPr>
          <a:xfrm>
            <a:off x="928687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Dikdörtgen"/>
          <p:cNvSpPr/>
          <p:nvPr/>
        </p:nvSpPr>
        <p:spPr>
          <a:xfrm>
            <a:off x="9286875" y="11049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" name="Grupla"/>
          <p:cNvGrpSpPr/>
          <p:nvPr/>
        </p:nvGrpSpPr>
        <p:grpSpPr>
          <a:xfrm>
            <a:off x="9477375" y="1276349"/>
            <a:ext cx="1047750" cy="152401"/>
            <a:chOff x="0" y="0"/>
            <a:chExt cx="1047750" cy="152400"/>
          </a:xfrm>
        </p:grpSpPr>
        <p:sp>
          <p:nvSpPr>
            <p:cNvPr id="49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" name="VERİ SET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VERİ SETİ</a:t>
              </a:r>
            </a:p>
          </p:txBody>
        </p:sp>
      </p:grpSp>
      <p:grpSp>
        <p:nvGrpSpPr>
          <p:cNvPr id="54" name="Grupla"/>
          <p:cNvGrpSpPr/>
          <p:nvPr/>
        </p:nvGrpSpPr>
        <p:grpSpPr>
          <a:xfrm>
            <a:off x="9477375" y="1504949"/>
            <a:ext cx="1047750" cy="361951"/>
            <a:chOff x="0" y="0"/>
            <a:chExt cx="1047750" cy="361950"/>
          </a:xfrm>
        </p:grpSpPr>
        <p:sp>
          <p:nvSpPr>
            <p:cNvPr id="52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" name="7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57" name="Grupla"/>
          <p:cNvGrpSpPr/>
          <p:nvPr/>
        </p:nvGrpSpPr>
        <p:grpSpPr>
          <a:xfrm>
            <a:off x="9477375" y="1885949"/>
            <a:ext cx="1047750" cy="171451"/>
            <a:chOff x="0" y="0"/>
            <a:chExt cx="1047750" cy="171450"/>
          </a:xfrm>
        </p:grpSpPr>
        <p:sp>
          <p:nvSpPr>
            <p:cNvPr id="55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" name="ilişkili tablo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ilişkili tablo</a:t>
              </a:r>
            </a:p>
          </p:txBody>
        </p:sp>
      </p:grpSp>
      <p:sp>
        <p:nvSpPr>
          <p:cNvPr id="58" name="Dikdörtgen"/>
          <p:cNvSpPr/>
          <p:nvPr/>
        </p:nvSpPr>
        <p:spPr>
          <a:xfrm>
            <a:off x="770572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" name="Dikdörtgen"/>
          <p:cNvSpPr/>
          <p:nvPr/>
        </p:nvSpPr>
        <p:spPr>
          <a:xfrm>
            <a:off x="766762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Dikdörtgen"/>
          <p:cNvSpPr/>
          <p:nvPr/>
        </p:nvSpPr>
        <p:spPr>
          <a:xfrm>
            <a:off x="7667625" y="2381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" name="Grupla"/>
          <p:cNvGrpSpPr/>
          <p:nvPr/>
        </p:nvGrpSpPr>
        <p:grpSpPr>
          <a:xfrm>
            <a:off x="7858125" y="2552699"/>
            <a:ext cx="1047750" cy="152401"/>
            <a:chOff x="0" y="0"/>
            <a:chExt cx="1047750" cy="152400"/>
          </a:xfrm>
        </p:grpSpPr>
        <p:sp>
          <p:nvSpPr>
            <p:cNvPr id="61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" name="AUC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AUC</a:t>
              </a:r>
            </a:p>
          </p:txBody>
        </p:sp>
      </p:grpSp>
      <p:grpSp>
        <p:nvGrpSpPr>
          <p:cNvPr id="66" name="Grupla"/>
          <p:cNvGrpSpPr/>
          <p:nvPr/>
        </p:nvGrpSpPr>
        <p:grpSpPr>
          <a:xfrm>
            <a:off x="7858125" y="2781299"/>
            <a:ext cx="1047750" cy="361951"/>
            <a:chOff x="0" y="0"/>
            <a:chExt cx="1047750" cy="361950"/>
          </a:xfrm>
        </p:grpSpPr>
        <p:sp>
          <p:nvSpPr>
            <p:cNvPr id="64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" name="0.955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69" name="Grupla"/>
          <p:cNvGrpSpPr/>
          <p:nvPr/>
        </p:nvGrpSpPr>
        <p:grpSpPr>
          <a:xfrm>
            <a:off x="7858125" y="3162299"/>
            <a:ext cx="1047750" cy="171451"/>
            <a:chOff x="0" y="0"/>
            <a:chExt cx="1047750" cy="171450"/>
          </a:xfrm>
        </p:grpSpPr>
        <p:sp>
          <p:nvSpPr>
            <p:cNvPr id="67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" name="kişisel model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sp>
        <p:nvSpPr>
          <p:cNvPr id="70" name="Dikdörtgen"/>
          <p:cNvSpPr/>
          <p:nvPr/>
        </p:nvSpPr>
        <p:spPr>
          <a:xfrm>
            <a:off x="932497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" name="Dikdörtgen"/>
          <p:cNvSpPr/>
          <p:nvPr/>
        </p:nvSpPr>
        <p:spPr>
          <a:xfrm>
            <a:off x="928687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" name="Dikdörtgen"/>
          <p:cNvSpPr/>
          <p:nvPr/>
        </p:nvSpPr>
        <p:spPr>
          <a:xfrm>
            <a:off x="9286875" y="2381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" name="Grupla"/>
          <p:cNvGrpSpPr/>
          <p:nvPr/>
        </p:nvGrpSpPr>
        <p:grpSpPr>
          <a:xfrm>
            <a:off x="9477375" y="2552699"/>
            <a:ext cx="1047750" cy="152401"/>
            <a:chOff x="0" y="0"/>
            <a:chExt cx="1047750" cy="152400"/>
          </a:xfrm>
        </p:grpSpPr>
        <p:sp>
          <p:nvSpPr>
            <p:cNvPr id="73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" name="MÜŞTER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MÜŞTERİ</a:t>
              </a:r>
            </a:p>
          </p:txBody>
        </p:sp>
      </p:grpSp>
      <p:grpSp>
        <p:nvGrpSpPr>
          <p:cNvPr id="78" name="Grupla"/>
          <p:cNvGrpSpPr/>
          <p:nvPr/>
        </p:nvGrpSpPr>
        <p:grpSpPr>
          <a:xfrm>
            <a:off x="9477375" y="2781299"/>
            <a:ext cx="1047750" cy="361951"/>
            <a:chOff x="0" y="0"/>
            <a:chExt cx="1047750" cy="361950"/>
          </a:xfrm>
        </p:grpSpPr>
        <p:sp>
          <p:nvSpPr>
            <p:cNvPr id="76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" name="20K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20K</a:t>
              </a:r>
            </a:p>
          </p:txBody>
        </p:sp>
      </p:grpSp>
      <p:grpSp>
        <p:nvGrpSpPr>
          <p:cNvPr id="81" name="Grupla"/>
          <p:cNvGrpSpPr/>
          <p:nvPr/>
        </p:nvGrpSpPr>
        <p:grpSpPr>
          <a:xfrm>
            <a:off x="9477375" y="3162299"/>
            <a:ext cx="1047750" cy="171451"/>
            <a:chOff x="0" y="0"/>
            <a:chExt cx="1047750" cy="171450"/>
          </a:xfrm>
        </p:grpSpPr>
        <p:sp>
          <p:nvSpPr>
            <p:cNvPr id="79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" name="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kayıt</a:t>
              </a:r>
            </a:p>
          </p:txBody>
        </p:sp>
      </p:grpSp>
      <p:grpSp>
        <p:nvGrpSpPr>
          <p:cNvPr id="84" name="Grupla"/>
          <p:cNvGrpSpPr/>
          <p:nvPr/>
        </p:nvGrpSpPr>
        <p:grpSpPr>
          <a:xfrm>
            <a:off x="781050" y="5333999"/>
            <a:ext cx="4095750" cy="247651"/>
            <a:chOff x="0" y="0"/>
            <a:chExt cx="4095750" cy="247650"/>
          </a:xfrm>
        </p:grpSpPr>
        <p:sp>
          <p:nvSpPr>
            <p:cNvPr id="82" name="Dikdörtgen"/>
            <p:cNvSpPr/>
            <p:nvPr/>
          </p:nvSpPr>
          <p:spPr>
            <a:xfrm>
              <a:off x="0" y="0"/>
              <a:ext cx="40957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" name="Hazırlayan: Özge Güneş"/>
            <p:cNvSpPr txBox="1"/>
            <p:nvPr/>
          </p:nvSpPr>
          <p:spPr>
            <a:xfrm>
              <a:off x="0" y="-1"/>
              <a:ext cx="4095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Hazırlayan: Özge Güneş</a:t>
              </a:r>
            </a:p>
          </p:txBody>
        </p:sp>
      </p:grpSp>
      <p:grpSp>
        <p:nvGrpSpPr>
          <p:cNvPr id="87" name="Grupla"/>
          <p:cNvGrpSpPr/>
          <p:nvPr/>
        </p:nvGrpSpPr>
        <p:grpSpPr>
          <a:xfrm>
            <a:off x="781050" y="5657849"/>
            <a:ext cx="4953000" cy="228601"/>
            <a:chOff x="0" y="0"/>
            <a:chExt cx="4953000" cy="228600"/>
          </a:xfrm>
        </p:grpSpPr>
        <p:sp>
          <p:nvSpPr>
            <p:cNvPr id="85" name="Dikdörtgen"/>
            <p:cNvSpPr/>
            <p:nvPr/>
          </p:nvSpPr>
          <p:spPr>
            <a:xfrm>
              <a:off x="0" y="0"/>
              <a:ext cx="495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" name="İSMEK Yapay Zekâ ve Veri Bilimi | Mayıs 2026"/>
            <p:cNvSpPr txBox="1"/>
            <p:nvPr/>
          </p:nvSpPr>
          <p:spPr>
            <a:xfrm>
              <a:off x="0" y="-1"/>
              <a:ext cx="495300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İSMEK Yapay Zekâ ve Veri Bilimi | Mayıs 2026</a:t>
              </a:r>
            </a:p>
          </p:txBody>
        </p:sp>
      </p:grpSp>
      <p:sp>
        <p:nvSpPr>
          <p:cNvPr id="88" name="Dikdörtgen"/>
          <p:cNvSpPr/>
          <p:nvPr/>
        </p:nvSpPr>
        <p:spPr>
          <a:xfrm>
            <a:off x="76390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" name="Grupla"/>
          <p:cNvGrpSpPr/>
          <p:nvPr/>
        </p:nvGrpSpPr>
        <p:grpSpPr>
          <a:xfrm>
            <a:off x="7772399" y="3905249"/>
            <a:ext cx="1072517" cy="171451"/>
            <a:chOff x="0" y="0"/>
            <a:chExt cx="1072516" cy="171450"/>
          </a:xfrm>
        </p:grpSpPr>
        <p:sp>
          <p:nvSpPr>
            <p:cNvPr id="89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" name="Sınıflandırma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Sınıflandırma</a:t>
              </a:r>
            </a:p>
          </p:txBody>
        </p:sp>
      </p:grpSp>
      <p:sp>
        <p:nvSpPr>
          <p:cNvPr id="92" name="Dikdörtgen"/>
          <p:cNvSpPr/>
          <p:nvPr/>
        </p:nvSpPr>
        <p:spPr>
          <a:xfrm>
            <a:off x="89725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" name="Grupla"/>
          <p:cNvGrpSpPr/>
          <p:nvPr/>
        </p:nvGrpSpPr>
        <p:grpSpPr>
          <a:xfrm>
            <a:off x="9105899" y="3905249"/>
            <a:ext cx="1072517" cy="171451"/>
            <a:chOff x="0" y="0"/>
            <a:chExt cx="1072516" cy="171450"/>
          </a:xfrm>
        </p:grpSpPr>
        <p:sp>
          <p:nvSpPr>
            <p:cNvPr id="93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" name="Random Forest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</a:t>
              </a:r>
            </a:p>
          </p:txBody>
        </p:sp>
      </p:grpSp>
      <p:sp>
        <p:nvSpPr>
          <p:cNvPr id="96" name="Dikdörtgen"/>
          <p:cNvSpPr/>
          <p:nvPr/>
        </p:nvSpPr>
        <p:spPr>
          <a:xfrm>
            <a:off x="7639049" y="4229100"/>
            <a:ext cx="1750698" cy="266700"/>
          </a:xfrm>
          <a:prstGeom prst="rect">
            <a:avLst/>
          </a:prstGeom>
          <a:solidFill>
            <a:srgbClr val="FFF4EC"/>
          </a:solidFill>
          <a:ln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9" name="Grupla"/>
          <p:cNvGrpSpPr/>
          <p:nvPr/>
        </p:nvGrpSpPr>
        <p:grpSpPr>
          <a:xfrm>
            <a:off x="7772399" y="4286249"/>
            <a:ext cx="1541147" cy="171451"/>
            <a:chOff x="0" y="0"/>
            <a:chExt cx="1541146" cy="171450"/>
          </a:xfrm>
        </p:grpSpPr>
        <p:sp>
          <p:nvSpPr>
            <p:cNvPr id="97" name="Dikdörtgen"/>
            <p:cNvSpPr/>
            <p:nvPr/>
          </p:nvSpPr>
          <p:spPr>
            <a:xfrm>
              <a:off x="-1" y="0"/>
              <a:ext cx="154114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" name="VADER Duygu Analizi"/>
            <p:cNvSpPr txBox="1"/>
            <p:nvPr/>
          </p:nvSpPr>
          <p:spPr>
            <a:xfrm>
              <a:off x="-1" y="-1"/>
              <a:ext cx="154114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VADER Duygu Analizi</a:t>
              </a:r>
            </a:p>
          </p:txBody>
        </p:sp>
      </p:grpSp>
      <p:sp>
        <p:nvSpPr>
          <p:cNvPr id="100" name="Dikdörtgen"/>
          <p:cNvSpPr/>
          <p:nvPr/>
        </p:nvSpPr>
        <p:spPr>
          <a:xfrm>
            <a:off x="9544049" y="4229100"/>
            <a:ext cx="159448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" name="Grupla"/>
          <p:cNvGrpSpPr/>
          <p:nvPr/>
        </p:nvGrpSpPr>
        <p:grpSpPr>
          <a:xfrm>
            <a:off x="9677398" y="4286249"/>
            <a:ext cx="1384939" cy="171451"/>
            <a:chOff x="0" y="0"/>
            <a:chExt cx="1384938" cy="171450"/>
          </a:xfrm>
        </p:grpSpPr>
        <p:sp>
          <p:nvSpPr>
            <p:cNvPr id="101" name="Dikdörtgen"/>
            <p:cNvSpPr/>
            <p:nvPr/>
          </p:nvSpPr>
          <p:spPr>
            <a:xfrm>
              <a:off x="-1" y="0"/>
              <a:ext cx="1384939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" name="RFM Segmentasyonu"/>
            <p:cNvSpPr txBox="1"/>
            <p:nvPr/>
          </p:nvSpPr>
          <p:spPr>
            <a:xfrm>
              <a:off x="-1" y="-1"/>
              <a:ext cx="138493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" name="Problem ve Amaç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Problem ve Amaç</a:t>
              </a:r>
            </a:p>
          </p:txBody>
        </p:sp>
      </p:grpSp>
      <p:grpSp>
        <p:nvGrpSpPr>
          <p:cNvPr id="11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4" name="Problem: Çok ürün var, doğru müşteriye doğru ürünü göstermek zo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Problem: Çok ürün var, doğru müşteriye doğru ürünü göstermek zor</a:t>
              </a:r>
            </a:p>
          </p:txBody>
        </p:sp>
      </p:grpSp>
      <p:grpSp>
        <p:nvGrpSpPr>
          <p:cNvPr id="11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" name="Bu proje yalnızca en çok satan ürünleri listelemez; müşteri davranışıyla ürün sinyallerini birlikte ok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proje yalnızca en çok satan ürünleri listelemez; müşteri davranışıyla ürün sinyallerini birlikte okur.</a:t>
              </a:r>
            </a:p>
          </p:txBody>
        </p:sp>
      </p:grpSp>
      <p:sp>
        <p:nvSpPr>
          <p:cNvPr id="119" name="Dikdörtgen"/>
          <p:cNvSpPr/>
          <p:nvPr/>
        </p:nvSpPr>
        <p:spPr>
          <a:xfrm>
            <a:off x="70485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" name="Dikdörtgen"/>
          <p:cNvSpPr/>
          <p:nvPr/>
        </p:nvSpPr>
        <p:spPr>
          <a:xfrm>
            <a:off x="66675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Dikdörtgen"/>
          <p:cNvSpPr/>
          <p:nvPr/>
        </p:nvSpPr>
        <p:spPr>
          <a:xfrm>
            <a:off x="666750" y="2095500"/>
            <a:ext cx="57150" cy="24765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Dikdörtgen"/>
          <p:cNvSpPr/>
          <p:nvPr/>
        </p:nvSpPr>
        <p:spPr>
          <a:xfrm>
            <a:off x="4562475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Dikdörtgen"/>
          <p:cNvSpPr/>
          <p:nvPr/>
        </p:nvSpPr>
        <p:spPr>
          <a:xfrm>
            <a:off x="4524375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" name="Dikdörtgen"/>
          <p:cNvSpPr/>
          <p:nvPr/>
        </p:nvSpPr>
        <p:spPr>
          <a:xfrm>
            <a:off x="4524375" y="2095500"/>
            <a:ext cx="57150" cy="24765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" name="Dikdörtgen"/>
          <p:cNvSpPr/>
          <p:nvPr/>
        </p:nvSpPr>
        <p:spPr>
          <a:xfrm>
            <a:off x="842010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Dikdörtgen"/>
          <p:cNvSpPr/>
          <p:nvPr/>
        </p:nvSpPr>
        <p:spPr>
          <a:xfrm>
            <a:off x="838200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Dikdörtgen"/>
          <p:cNvSpPr/>
          <p:nvPr/>
        </p:nvSpPr>
        <p:spPr>
          <a:xfrm>
            <a:off x="8382000" y="2095500"/>
            <a:ext cx="57150" cy="24765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8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5250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0125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66775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3" name="Grupla"/>
          <p:cNvGrpSpPr/>
          <p:nvPr/>
        </p:nvGrpSpPr>
        <p:grpSpPr>
          <a:xfrm>
            <a:off x="1428750" y="2381249"/>
            <a:ext cx="1905000" cy="266701"/>
            <a:chOff x="0" y="0"/>
            <a:chExt cx="1905000" cy="266700"/>
          </a:xfrm>
        </p:grpSpPr>
        <p:sp>
          <p:nvSpPr>
            <p:cNvPr id="1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" name="İş Problemi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İş Problemi</a:t>
              </a:r>
            </a:p>
          </p:txBody>
        </p:sp>
      </p:grpSp>
      <p:grpSp>
        <p:nvGrpSpPr>
          <p:cNvPr id="136" name="Grupla"/>
          <p:cNvGrpSpPr/>
          <p:nvPr/>
        </p:nvGrpSpPr>
        <p:grpSpPr>
          <a:xfrm>
            <a:off x="952500" y="2905124"/>
            <a:ext cx="2381250" cy="1104901"/>
            <a:chOff x="0" y="0"/>
            <a:chExt cx="2381250" cy="1104900"/>
          </a:xfrm>
        </p:grpSpPr>
        <p:sp>
          <p:nvSpPr>
            <p:cNvPr id="134" name="Dikdörtgen"/>
            <p:cNvSpPr/>
            <p:nvPr/>
          </p:nvSpPr>
          <p:spPr>
            <a:xfrm>
              <a:off x="0" y="0"/>
              <a:ext cx="23812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" name="E-ticaret sitelerinde her müşteriye aynı ürünleri göstermek dönüşümü düşürür. Kullanıcı geçmişi ve ürün kalitesi birlikte değerlendirilmelidir."/>
            <p:cNvSpPr txBox="1"/>
            <p:nvPr/>
          </p:nvSpPr>
          <p:spPr>
            <a:xfrm>
              <a:off x="0" y="-1"/>
              <a:ext cx="2381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E-ticaret sitelerinde her müşteriye aynı ürünleri göstermek dönüşümü düşürür. Kullanıcı geçmişi ve ürün kalitesi birlikte değerlendirilmelidir.</a:t>
              </a:r>
            </a:p>
          </p:txBody>
        </p:sp>
      </p:grpSp>
      <p:grpSp>
        <p:nvGrpSpPr>
          <p:cNvPr id="139" name="Grupla"/>
          <p:cNvGrpSpPr/>
          <p:nvPr/>
        </p:nvGrpSpPr>
        <p:grpSpPr>
          <a:xfrm>
            <a:off x="5286375" y="2381249"/>
            <a:ext cx="1905000" cy="266701"/>
            <a:chOff x="0" y="0"/>
            <a:chExt cx="1905000" cy="266700"/>
          </a:xfrm>
        </p:grpSpPr>
        <p:sp>
          <p:nvSpPr>
            <p:cNvPr id="13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" name="Veri Yaklaşım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Yaklaşımı</a:t>
              </a:r>
            </a:p>
          </p:txBody>
        </p:sp>
      </p:grpSp>
      <p:grpSp>
        <p:nvGrpSpPr>
          <p:cNvPr id="142" name="Grupla"/>
          <p:cNvGrpSpPr/>
          <p:nvPr/>
        </p:nvGrpSpPr>
        <p:grpSpPr>
          <a:xfrm>
            <a:off x="4810125" y="2905124"/>
            <a:ext cx="2476500" cy="1104901"/>
            <a:chOff x="0" y="0"/>
            <a:chExt cx="2476500" cy="1104900"/>
          </a:xfrm>
        </p:grpSpPr>
        <p:sp>
          <p:nvSpPr>
            <p:cNvPr id="140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" name="Görüntüleme, sepete ekleme, sipariş, ürün bilgisi ve yorumlar ayrı tablolardan kontrollü biçimde birleştiril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Görüntüleme, sepete ekleme, sipariş, ürün bilgisi ve yorumlar ayrı tablolardan kontrollü biçimde birleştirilir.</a:t>
              </a:r>
            </a:p>
          </p:txBody>
        </p:sp>
      </p:grpSp>
      <p:grpSp>
        <p:nvGrpSpPr>
          <p:cNvPr id="145" name="Grupla"/>
          <p:cNvGrpSpPr/>
          <p:nvPr/>
        </p:nvGrpSpPr>
        <p:grpSpPr>
          <a:xfrm>
            <a:off x="9144000" y="2381249"/>
            <a:ext cx="1905000" cy="266701"/>
            <a:chOff x="0" y="0"/>
            <a:chExt cx="1905000" cy="266700"/>
          </a:xfrm>
        </p:grpSpPr>
        <p:sp>
          <p:nvSpPr>
            <p:cNvPr id="14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" name="Proje Çıktıs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 Çıktısı</a:t>
              </a:r>
            </a:p>
          </p:txBody>
        </p:sp>
      </p:grpSp>
      <p:grpSp>
        <p:nvGrpSpPr>
          <p:cNvPr id="148" name="Grupla"/>
          <p:cNvGrpSpPr/>
          <p:nvPr/>
        </p:nvGrpSpPr>
        <p:grpSpPr>
          <a:xfrm>
            <a:off x="8667750" y="2905124"/>
            <a:ext cx="2476500" cy="1104901"/>
            <a:chOff x="0" y="0"/>
            <a:chExt cx="2476500" cy="1104900"/>
          </a:xfrm>
        </p:grpSpPr>
        <p:sp>
          <p:nvSpPr>
            <p:cNvPr id="146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" name="Dashboard seçilen müşteri için satın alma olasılığı yüksek ürünleri listeler ve model sonuçlarını açıklanabilir grafiklerle göster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 seçilen müşteri için satın alma olasılığı yüksek ürünleri listeler ve model sonuçlarını açıklanabilir grafiklerle gösterir.</a:t>
              </a:r>
            </a:p>
          </p:txBody>
        </p:sp>
      </p:grpSp>
      <p:sp>
        <p:nvSpPr>
          <p:cNvPr id="149" name="Dikdörtgen"/>
          <p:cNvSpPr/>
          <p:nvPr/>
        </p:nvSpPr>
        <p:spPr>
          <a:xfrm>
            <a:off x="876300" y="5143500"/>
            <a:ext cx="10287000" cy="5905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2" name="Grupla"/>
          <p:cNvGrpSpPr/>
          <p:nvPr/>
        </p:nvGrpSpPr>
        <p:grpSpPr>
          <a:xfrm>
            <a:off x="1028700" y="5257799"/>
            <a:ext cx="9982200" cy="419101"/>
            <a:chOff x="0" y="0"/>
            <a:chExt cx="9982200" cy="419100"/>
          </a:xfrm>
        </p:grpSpPr>
        <p:sp>
          <p:nvSpPr>
            <p:cNvPr id="150" name="Dikdörtgen"/>
            <p:cNvSpPr/>
            <p:nvPr/>
          </p:nvSpPr>
          <p:spPr>
            <a:xfrm>
              <a:off x="0" y="0"/>
              <a:ext cx="9982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" name="Bu proje bir ürün listeleme çalışması değil, müşteri-ürün düzeyinde satın alma tahmini yapan öneri sistemidir.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 indent="13716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Bu proje bir ürün listeleme çalışması değil, müşteri-ürün düzeyinde satın alma tahmini yapan öneri sistemidir.</a:t>
              </a:r>
            </a:p>
          </p:txBody>
        </p:sp>
      </p:grpSp>
      <p:grpSp>
        <p:nvGrpSpPr>
          <p:cNvPr id="155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3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8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" name="0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62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67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65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6" name="Veri Kayna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Kaynağı</a:t>
              </a:r>
            </a:p>
          </p:txBody>
        </p:sp>
      </p:grpSp>
      <p:grpSp>
        <p:nvGrpSpPr>
          <p:cNvPr id="170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68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9" name="Veri seti: E-commerce Transactions + Clickstream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Veri seti: E-commerce Transactions + Clickstream</a:t>
              </a:r>
            </a:p>
          </p:txBody>
        </p:sp>
      </p:grpSp>
      <p:grpSp>
        <p:nvGrpSpPr>
          <p:cNvPr id="173" name="Grupla"/>
          <p:cNvGrpSpPr/>
          <p:nvPr/>
        </p:nvGrpSpPr>
        <p:grpSpPr>
          <a:xfrm>
            <a:off x="604837" y="1550987"/>
            <a:ext cx="9429751" cy="457202"/>
            <a:chOff x="0" y="0"/>
            <a:chExt cx="9429750" cy="457201"/>
          </a:xfrm>
        </p:grpSpPr>
        <p:sp>
          <p:nvSpPr>
            <p:cNvPr id="171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2" name="Kaynak Kaggle’dır. Veri sentetiktir; ancak eğitim projesi için gerekli e-ticaret tablolarını birlikte içer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 Kaggle’dır. Veri sentetiktir; ancak eğitim projesi için gerekli e-ticaret tablolarını birlikte içerir.</a:t>
              </a:r>
            </a:p>
          </p:txBody>
        </p:sp>
      </p:grpSp>
      <p:sp>
        <p:nvSpPr>
          <p:cNvPr id="174" name="Dikdörtgen"/>
          <p:cNvSpPr/>
          <p:nvPr/>
        </p:nvSpPr>
        <p:spPr>
          <a:xfrm>
            <a:off x="666750" y="2057400"/>
            <a:ext cx="9382125" cy="3200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Dikdörtgen"/>
          <p:cNvSpPr/>
          <p:nvPr/>
        </p:nvSpPr>
        <p:spPr>
          <a:xfrm>
            <a:off x="628650" y="2000250"/>
            <a:ext cx="9382125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Dikdörtgen"/>
          <p:cNvSpPr/>
          <p:nvPr/>
        </p:nvSpPr>
        <p:spPr>
          <a:xfrm>
            <a:off x="628650" y="2000250"/>
            <a:ext cx="9382125" cy="4000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9" name="Grupla"/>
          <p:cNvGrpSpPr/>
          <p:nvPr/>
        </p:nvGrpSpPr>
        <p:grpSpPr>
          <a:xfrm>
            <a:off x="723900" y="2085974"/>
            <a:ext cx="1257300" cy="323851"/>
            <a:chOff x="0" y="0"/>
            <a:chExt cx="1257300" cy="323850"/>
          </a:xfrm>
        </p:grpSpPr>
        <p:sp>
          <p:nvSpPr>
            <p:cNvPr id="177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8" name="Tablo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</a:t>
              </a:r>
            </a:p>
          </p:txBody>
        </p:sp>
      </p:grpSp>
      <p:sp>
        <p:nvSpPr>
          <p:cNvPr id="180" name="Dikdörtgen"/>
          <p:cNvSpPr/>
          <p:nvPr/>
        </p:nvSpPr>
        <p:spPr>
          <a:xfrm>
            <a:off x="2055811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3" name="Grupla"/>
          <p:cNvGrpSpPr/>
          <p:nvPr/>
        </p:nvGrpSpPr>
        <p:grpSpPr>
          <a:xfrm>
            <a:off x="2152650" y="2085974"/>
            <a:ext cx="828675" cy="323851"/>
            <a:chOff x="0" y="0"/>
            <a:chExt cx="828675" cy="323850"/>
          </a:xfrm>
        </p:grpSpPr>
        <p:sp>
          <p:nvSpPr>
            <p:cNvPr id="181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2" name="Satır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Satır</a:t>
              </a:r>
            </a:p>
          </p:txBody>
        </p:sp>
      </p:grpSp>
      <p:sp>
        <p:nvSpPr>
          <p:cNvPr id="184" name="Dikdörtgen"/>
          <p:cNvSpPr/>
          <p:nvPr/>
        </p:nvSpPr>
        <p:spPr>
          <a:xfrm>
            <a:off x="3055936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7" name="Grupla"/>
          <p:cNvGrpSpPr/>
          <p:nvPr/>
        </p:nvGrpSpPr>
        <p:grpSpPr>
          <a:xfrm>
            <a:off x="3152775" y="2085974"/>
            <a:ext cx="1828800" cy="323851"/>
            <a:chOff x="0" y="0"/>
            <a:chExt cx="1828800" cy="323850"/>
          </a:xfrm>
        </p:grpSpPr>
        <p:sp>
          <p:nvSpPr>
            <p:cNvPr id="185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6" name="Anahtar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Anahtar</a:t>
              </a:r>
            </a:p>
          </p:txBody>
        </p:sp>
      </p:grpSp>
      <p:sp>
        <p:nvSpPr>
          <p:cNvPr id="188" name="Dikdörtgen"/>
          <p:cNvSpPr/>
          <p:nvPr/>
        </p:nvSpPr>
        <p:spPr>
          <a:xfrm>
            <a:off x="5056187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1" name="Grupla"/>
          <p:cNvGrpSpPr/>
          <p:nvPr/>
        </p:nvGrpSpPr>
        <p:grpSpPr>
          <a:xfrm>
            <a:off x="5153025" y="2085974"/>
            <a:ext cx="4781550" cy="323851"/>
            <a:chOff x="0" y="0"/>
            <a:chExt cx="4781550" cy="323850"/>
          </a:xfrm>
        </p:grpSpPr>
        <p:sp>
          <p:nvSpPr>
            <p:cNvPr id="189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0" name="Projede Kullanım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Kullanımı</a:t>
              </a:r>
            </a:p>
          </p:txBody>
        </p:sp>
      </p:grpSp>
      <p:grpSp>
        <p:nvGrpSpPr>
          <p:cNvPr id="194" name="Grupla"/>
          <p:cNvGrpSpPr/>
          <p:nvPr/>
        </p:nvGrpSpPr>
        <p:grpSpPr>
          <a:xfrm>
            <a:off x="723900" y="2486024"/>
            <a:ext cx="1257300" cy="323851"/>
            <a:chOff x="0" y="0"/>
            <a:chExt cx="1257300" cy="323850"/>
          </a:xfrm>
        </p:grpSpPr>
        <p:sp>
          <p:nvSpPr>
            <p:cNvPr id="19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3" name="even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events.csv</a:t>
              </a:r>
            </a:p>
          </p:txBody>
        </p:sp>
      </p:grpSp>
      <p:sp>
        <p:nvSpPr>
          <p:cNvPr id="195" name="Dikdörtgen"/>
          <p:cNvSpPr/>
          <p:nvPr/>
        </p:nvSpPr>
        <p:spPr>
          <a:xfrm>
            <a:off x="2055811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8" name="Grupla"/>
          <p:cNvGrpSpPr/>
          <p:nvPr/>
        </p:nvGrpSpPr>
        <p:grpSpPr>
          <a:xfrm>
            <a:off x="2152650" y="2486024"/>
            <a:ext cx="828675" cy="323851"/>
            <a:chOff x="0" y="0"/>
            <a:chExt cx="828675" cy="323850"/>
          </a:xfrm>
        </p:grpSpPr>
        <p:sp>
          <p:nvSpPr>
            <p:cNvPr id="19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7" name="760.95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sp>
        <p:nvSpPr>
          <p:cNvPr id="199" name="Dikdörtgen"/>
          <p:cNvSpPr/>
          <p:nvPr/>
        </p:nvSpPr>
        <p:spPr>
          <a:xfrm>
            <a:off x="3055936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2" name="Grupla"/>
          <p:cNvGrpSpPr/>
          <p:nvPr/>
        </p:nvGrpSpPr>
        <p:grpSpPr>
          <a:xfrm>
            <a:off x="3152775" y="2486024"/>
            <a:ext cx="1828800" cy="323851"/>
            <a:chOff x="0" y="0"/>
            <a:chExt cx="1828800" cy="323850"/>
          </a:xfrm>
        </p:grpSpPr>
        <p:sp>
          <p:nvSpPr>
            <p:cNvPr id="20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1" name="session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product_id</a:t>
              </a:r>
            </a:p>
          </p:txBody>
        </p:sp>
      </p:grpSp>
      <p:sp>
        <p:nvSpPr>
          <p:cNvPr id="203" name="Dikdörtgen"/>
          <p:cNvSpPr/>
          <p:nvPr/>
        </p:nvSpPr>
        <p:spPr>
          <a:xfrm>
            <a:off x="5056187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6" name="Grupla"/>
          <p:cNvGrpSpPr/>
          <p:nvPr/>
        </p:nvGrpSpPr>
        <p:grpSpPr>
          <a:xfrm>
            <a:off x="5153025" y="2486024"/>
            <a:ext cx="4781550" cy="323851"/>
            <a:chOff x="0" y="0"/>
            <a:chExt cx="4781550" cy="323850"/>
          </a:xfrm>
        </p:grpSpPr>
        <p:sp>
          <p:nvSpPr>
            <p:cNvPr id="20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5" name="Görüntüleme ve sepete ekleme davranış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 ve sepete ekleme davranışı</a:t>
              </a:r>
            </a:p>
          </p:txBody>
        </p:sp>
      </p:grpSp>
      <p:sp>
        <p:nvSpPr>
          <p:cNvPr id="207" name="Dikdörtgen"/>
          <p:cNvSpPr/>
          <p:nvPr/>
        </p:nvSpPr>
        <p:spPr>
          <a:xfrm>
            <a:off x="628650" y="23987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0" name="Grupla"/>
          <p:cNvGrpSpPr/>
          <p:nvPr/>
        </p:nvGrpSpPr>
        <p:grpSpPr>
          <a:xfrm>
            <a:off x="723900" y="2886074"/>
            <a:ext cx="1257300" cy="323851"/>
            <a:chOff x="0" y="0"/>
            <a:chExt cx="1257300" cy="323850"/>
          </a:xfrm>
        </p:grpSpPr>
        <p:sp>
          <p:nvSpPr>
            <p:cNvPr id="20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9" name="session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sessions.csv</a:t>
              </a:r>
            </a:p>
          </p:txBody>
        </p:sp>
      </p:grpSp>
      <p:sp>
        <p:nvSpPr>
          <p:cNvPr id="211" name="Dikdörtgen"/>
          <p:cNvSpPr/>
          <p:nvPr/>
        </p:nvSpPr>
        <p:spPr>
          <a:xfrm>
            <a:off x="2055811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4" name="Grupla"/>
          <p:cNvGrpSpPr/>
          <p:nvPr/>
        </p:nvGrpSpPr>
        <p:grpSpPr>
          <a:xfrm>
            <a:off x="2152650" y="2886074"/>
            <a:ext cx="828675" cy="323851"/>
            <a:chOff x="0" y="0"/>
            <a:chExt cx="828675" cy="323850"/>
          </a:xfrm>
        </p:grpSpPr>
        <p:sp>
          <p:nvSpPr>
            <p:cNvPr id="21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3" name="1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120.000</a:t>
              </a:r>
            </a:p>
          </p:txBody>
        </p:sp>
      </p:grpSp>
      <p:sp>
        <p:nvSpPr>
          <p:cNvPr id="215" name="Dikdörtgen"/>
          <p:cNvSpPr/>
          <p:nvPr/>
        </p:nvSpPr>
        <p:spPr>
          <a:xfrm>
            <a:off x="3055936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8" name="Grupla"/>
          <p:cNvGrpSpPr/>
          <p:nvPr/>
        </p:nvGrpSpPr>
        <p:grpSpPr>
          <a:xfrm>
            <a:off x="3152775" y="2886074"/>
            <a:ext cx="1828800" cy="323851"/>
            <a:chOff x="0" y="0"/>
            <a:chExt cx="1828800" cy="323850"/>
          </a:xfrm>
        </p:grpSpPr>
        <p:sp>
          <p:nvSpPr>
            <p:cNvPr id="21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7" name="session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customer_id</a:t>
              </a:r>
            </a:p>
          </p:txBody>
        </p:sp>
      </p:grpSp>
      <p:sp>
        <p:nvSpPr>
          <p:cNvPr id="219" name="Dikdörtgen"/>
          <p:cNvSpPr/>
          <p:nvPr/>
        </p:nvSpPr>
        <p:spPr>
          <a:xfrm>
            <a:off x="5056187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2" name="Grupla"/>
          <p:cNvGrpSpPr/>
          <p:nvPr/>
        </p:nvGrpSpPr>
        <p:grpSpPr>
          <a:xfrm>
            <a:off x="5153025" y="2886074"/>
            <a:ext cx="4781550" cy="323851"/>
            <a:chOff x="0" y="0"/>
            <a:chExt cx="4781550" cy="323850"/>
          </a:xfrm>
        </p:grpSpPr>
        <p:sp>
          <p:nvSpPr>
            <p:cNvPr id="22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1" name="Eventleri müşteriye bağlama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Eventleri müşteriye bağlama</a:t>
              </a:r>
            </a:p>
          </p:txBody>
        </p:sp>
      </p:grpSp>
      <p:sp>
        <p:nvSpPr>
          <p:cNvPr id="223" name="Dikdörtgen"/>
          <p:cNvSpPr/>
          <p:nvPr/>
        </p:nvSpPr>
        <p:spPr>
          <a:xfrm>
            <a:off x="628650" y="279876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6" name="Grupla"/>
          <p:cNvGrpSpPr/>
          <p:nvPr/>
        </p:nvGrpSpPr>
        <p:grpSpPr>
          <a:xfrm>
            <a:off x="723900" y="3286124"/>
            <a:ext cx="1257300" cy="323851"/>
            <a:chOff x="0" y="0"/>
            <a:chExt cx="1257300" cy="323850"/>
          </a:xfrm>
        </p:grpSpPr>
        <p:sp>
          <p:nvSpPr>
            <p:cNvPr id="224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5" name="custom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customers.csv</a:t>
              </a:r>
            </a:p>
          </p:txBody>
        </p:sp>
      </p:grpSp>
      <p:sp>
        <p:nvSpPr>
          <p:cNvPr id="227" name="Dikdörtgen"/>
          <p:cNvSpPr/>
          <p:nvPr/>
        </p:nvSpPr>
        <p:spPr>
          <a:xfrm>
            <a:off x="2055811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0" name="Grupla"/>
          <p:cNvGrpSpPr/>
          <p:nvPr/>
        </p:nvGrpSpPr>
        <p:grpSpPr>
          <a:xfrm>
            <a:off x="2152650" y="3286124"/>
            <a:ext cx="828675" cy="323851"/>
            <a:chOff x="0" y="0"/>
            <a:chExt cx="828675" cy="323850"/>
          </a:xfrm>
        </p:grpSpPr>
        <p:sp>
          <p:nvSpPr>
            <p:cNvPr id="228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9" name="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20.000</a:t>
              </a:r>
            </a:p>
          </p:txBody>
        </p:sp>
      </p:grpSp>
      <p:sp>
        <p:nvSpPr>
          <p:cNvPr id="231" name="Dikdörtgen"/>
          <p:cNvSpPr/>
          <p:nvPr/>
        </p:nvSpPr>
        <p:spPr>
          <a:xfrm>
            <a:off x="3055936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4" name="Grupla"/>
          <p:cNvGrpSpPr/>
          <p:nvPr/>
        </p:nvGrpSpPr>
        <p:grpSpPr>
          <a:xfrm>
            <a:off x="3152775" y="3286124"/>
            <a:ext cx="1828800" cy="323851"/>
            <a:chOff x="0" y="0"/>
            <a:chExt cx="1828800" cy="323850"/>
          </a:xfrm>
        </p:grpSpPr>
        <p:sp>
          <p:nvSpPr>
            <p:cNvPr id="232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3" name="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sp>
        <p:nvSpPr>
          <p:cNvPr id="235" name="Dikdörtgen"/>
          <p:cNvSpPr/>
          <p:nvPr/>
        </p:nvSpPr>
        <p:spPr>
          <a:xfrm>
            <a:off x="5056187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8" name="Grupla"/>
          <p:cNvGrpSpPr/>
          <p:nvPr/>
        </p:nvGrpSpPr>
        <p:grpSpPr>
          <a:xfrm>
            <a:off x="5153025" y="3286124"/>
            <a:ext cx="4781550" cy="323851"/>
            <a:chOff x="0" y="0"/>
            <a:chExt cx="4781550" cy="323850"/>
          </a:xfrm>
        </p:grpSpPr>
        <p:sp>
          <p:nvSpPr>
            <p:cNvPr id="236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7" name="Müşteri profil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profili</a:t>
              </a:r>
            </a:p>
          </p:txBody>
        </p:sp>
      </p:grpSp>
      <p:sp>
        <p:nvSpPr>
          <p:cNvPr id="239" name="Dikdörtgen"/>
          <p:cNvSpPr/>
          <p:nvPr/>
        </p:nvSpPr>
        <p:spPr>
          <a:xfrm>
            <a:off x="628650" y="31988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2" name="Grupla"/>
          <p:cNvGrpSpPr/>
          <p:nvPr/>
        </p:nvGrpSpPr>
        <p:grpSpPr>
          <a:xfrm>
            <a:off x="723900" y="3686174"/>
            <a:ext cx="1257300" cy="323851"/>
            <a:chOff x="0" y="0"/>
            <a:chExt cx="1257300" cy="323850"/>
          </a:xfrm>
        </p:grpSpPr>
        <p:sp>
          <p:nvSpPr>
            <p:cNvPr id="240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1" name="ord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orders.csv</a:t>
              </a:r>
            </a:p>
          </p:txBody>
        </p:sp>
      </p:grpSp>
      <p:sp>
        <p:nvSpPr>
          <p:cNvPr id="243" name="Dikdörtgen"/>
          <p:cNvSpPr/>
          <p:nvPr/>
        </p:nvSpPr>
        <p:spPr>
          <a:xfrm>
            <a:off x="2055811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6" name="Grupla"/>
          <p:cNvGrpSpPr/>
          <p:nvPr/>
        </p:nvGrpSpPr>
        <p:grpSpPr>
          <a:xfrm>
            <a:off x="2152650" y="3686174"/>
            <a:ext cx="828675" cy="323851"/>
            <a:chOff x="0" y="0"/>
            <a:chExt cx="828675" cy="323850"/>
          </a:xfrm>
        </p:grpSpPr>
        <p:sp>
          <p:nvSpPr>
            <p:cNvPr id="244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5" name="33.5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33.580</a:t>
              </a:r>
            </a:p>
          </p:txBody>
        </p:sp>
      </p:grpSp>
      <p:sp>
        <p:nvSpPr>
          <p:cNvPr id="247" name="Dikdörtgen"/>
          <p:cNvSpPr/>
          <p:nvPr/>
        </p:nvSpPr>
        <p:spPr>
          <a:xfrm>
            <a:off x="3055936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0" name="Grupla"/>
          <p:cNvGrpSpPr/>
          <p:nvPr/>
        </p:nvGrpSpPr>
        <p:grpSpPr>
          <a:xfrm>
            <a:off x="3152775" y="3686174"/>
            <a:ext cx="1828800" cy="323851"/>
            <a:chOff x="0" y="0"/>
            <a:chExt cx="1828800" cy="323850"/>
          </a:xfrm>
        </p:grpSpPr>
        <p:sp>
          <p:nvSpPr>
            <p:cNvPr id="248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9" name="order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customer_id</a:t>
              </a:r>
            </a:p>
          </p:txBody>
        </p:sp>
      </p:grpSp>
      <p:sp>
        <p:nvSpPr>
          <p:cNvPr id="251" name="Dikdörtgen"/>
          <p:cNvSpPr/>
          <p:nvPr/>
        </p:nvSpPr>
        <p:spPr>
          <a:xfrm>
            <a:off x="5056187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4" name="Grupla"/>
          <p:cNvGrpSpPr/>
          <p:nvPr/>
        </p:nvGrpSpPr>
        <p:grpSpPr>
          <a:xfrm>
            <a:off x="5153025" y="3686174"/>
            <a:ext cx="4781550" cy="323851"/>
            <a:chOff x="0" y="0"/>
            <a:chExt cx="4781550" cy="323850"/>
          </a:xfrm>
        </p:grpSpPr>
        <p:sp>
          <p:nvSpPr>
            <p:cNvPr id="252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3" name="Sipariş zamanı ve müşter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zamanı ve müşteri</a:t>
              </a:r>
            </a:p>
          </p:txBody>
        </p:sp>
      </p:grpSp>
      <p:sp>
        <p:nvSpPr>
          <p:cNvPr id="255" name="Dikdörtgen"/>
          <p:cNvSpPr/>
          <p:nvPr/>
        </p:nvSpPr>
        <p:spPr>
          <a:xfrm>
            <a:off x="628650" y="35988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8" name="Grupla"/>
          <p:cNvGrpSpPr/>
          <p:nvPr/>
        </p:nvGrpSpPr>
        <p:grpSpPr>
          <a:xfrm>
            <a:off x="723900" y="4086224"/>
            <a:ext cx="1257300" cy="323851"/>
            <a:chOff x="0" y="0"/>
            <a:chExt cx="1257300" cy="323850"/>
          </a:xfrm>
        </p:grpSpPr>
        <p:sp>
          <p:nvSpPr>
            <p:cNvPr id="256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7" name="order_item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order_items.csv</a:t>
              </a:r>
            </a:p>
          </p:txBody>
        </p:sp>
      </p:grpSp>
      <p:sp>
        <p:nvSpPr>
          <p:cNvPr id="259" name="Dikdörtgen"/>
          <p:cNvSpPr/>
          <p:nvPr/>
        </p:nvSpPr>
        <p:spPr>
          <a:xfrm>
            <a:off x="2055811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2" name="Grupla"/>
          <p:cNvGrpSpPr/>
          <p:nvPr/>
        </p:nvGrpSpPr>
        <p:grpSpPr>
          <a:xfrm>
            <a:off x="2152650" y="4086224"/>
            <a:ext cx="828675" cy="323851"/>
            <a:chOff x="0" y="0"/>
            <a:chExt cx="828675" cy="323850"/>
          </a:xfrm>
        </p:grpSpPr>
        <p:sp>
          <p:nvSpPr>
            <p:cNvPr id="260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1" name="59.16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sp>
        <p:nvSpPr>
          <p:cNvPr id="263" name="Dikdörtgen"/>
          <p:cNvSpPr/>
          <p:nvPr/>
        </p:nvSpPr>
        <p:spPr>
          <a:xfrm>
            <a:off x="3055936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6" name="Grupla"/>
          <p:cNvGrpSpPr/>
          <p:nvPr/>
        </p:nvGrpSpPr>
        <p:grpSpPr>
          <a:xfrm>
            <a:off x="3152775" y="4086224"/>
            <a:ext cx="1828800" cy="323851"/>
            <a:chOff x="0" y="0"/>
            <a:chExt cx="1828800" cy="323850"/>
          </a:xfrm>
        </p:grpSpPr>
        <p:sp>
          <p:nvSpPr>
            <p:cNvPr id="264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5" name="order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product_id</a:t>
              </a:r>
            </a:p>
          </p:txBody>
        </p:sp>
      </p:grpSp>
      <p:sp>
        <p:nvSpPr>
          <p:cNvPr id="267" name="Dikdörtgen"/>
          <p:cNvSpPr/>
          <p:nvPr/>
        </p:nvSpPr>
        <p:spPr>
          <a:xfrm>
            <a:off x="5056187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0" name="Grupla"/>
          <p:cNvGrpSpPr/>
          <p:nvPr/>
        </p:nvGrpSpPr>
        <p:grpSpPr>
          <a:xfrm>
            <a:off x="5153025" y="4086224"/>
            <a:ext cx="4781550" cy="323851"/>
            <a:chOff x="0" y="0"/>
            <a:chExt cx="4781550" cy="323850"/>
          </a:xfrm>
        </p:grpSpPr>
        <p:sp>
          <p:nvSpPr>
            <p:cNvPr id="268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9" name="Satış adedi ve gelir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adedi ve gelir</a:t>
              </a:r>
            </a:p>
          </p:txBody>
        </p:sp>
      </p:grpSp>
      <p:sp>
        <p:nvSpPr>
          <p:cNvPr id="271" name="Dikdörtgen"/>
          <p:cNvSpPr/>
          <p:nvPr/>
        </p:nvSpPr>
        <p:spPr>
          <a:xfrm>
            <a:off x="628650" y="39989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4" name="Grupla"/>
          <p:cNvGrpSpPr/>
          <p:nvPr/>
        </p:nvGrpSpPr>
        <p:grpSpPr>
          <a:xfrm>
            <a:off x="723900" y="4486274"/>
            <a:ext cx="1257300" cy="323851"/>
            <a:chOff x="0" y="0"/>
            <a:chExt cx="1257300" cy="323850"/>
          </a:xfrm>
        </p:grpSpPr>
        <p:sp>
          <p:nvSpPr>
            <p:cNvPr id="27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3" name="produc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products.csv</a:t>
              </a:r>
            </a:p>
          </p:txBody>
        </p:sp>
      </p:grpSp>
      <p:sp>
        <p:nvSpPr>
          <p:cNvPr id="275" name="Dikdörtgen"/>
          <p:cNvSpPr/>
          <p:nvPr/>
        </p:nvSpPr>
        <p:spPr>
          <a:xfrm>
            <a:off x="2055811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8" name="Grupla"/>
          <p:cNvGrpSpPr/>
          <p:nvPr/>
        </p:nvGrpSpPr>
        <p:grpSpPr>
          <a:xfrm>
            <a:off x="2152650" y="4486274"/>
            <a:ext cx="828675" cy="323851"/>
            <a:chOff x="0" y="0"/>
            <a:chExt cx="828675" cy="323850"/>
          </a:xfrm>
        </p:grpSpPr>
        <p:sp>
          <p:nvSpPr>
            <p:cNvPr id="27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7" name="1.19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</a:t>
              </a:r>
            </a:p>
          </p:txBody>
        </p:sp>
      </p:grpSp>
      <p:sp>
        <p:nvSpPr>
          <p:cNvPr id="279" name="Dikdörtgen"/>
          <p:cNvSpPr/>
          <p:nvPr/>
        </p:nvSpPr>
        <p:spPr>
          <a:xfrm>
            <a:off x="3055936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2" name="Grupla"/>
          <p:cNvGrpSpPr/>
          <p:nvPr/>
        </p:nvGrpSpPr>
        <p:grpSpPr>
          <a:xfrm>
            <a:off x="3152775" y="4486274"/>
            <a:ext cx="1828800" cy="323851"/>
            <a:chOff x="0" y="0"/>
            <a:chExt cx="1828800" cy="323850"/>
          </a:xfrm>
        </p:grpSpPr>
        <p:sp>
          <p:nvSpPr>
            <p:cNvPr id="28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1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83" name="Dikdörtgen"/>
          <p:cNvSpPr/>
          <p:nvPr/>
        </p:nvSpPr>
        <p:spPr>
          <a:xfrm>
            <a:off x="5056187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6" name="Grupla"/>
          <p:cNvGrpSpPr/>
          <p:nvPr/>
        </p:nvGrpSpPr>
        <p:grpSpPr>
          <a:xfrm>
            <a:off x="5153025" y="4486274"/>
            <a:ext cx="4781550" cy="323851"/>
            <a:chOff x="0" y="0"/>
            <a:chExt cx="4781550" cy="323850"/>
          </a:xfrm>
        </p:grpSpPr>
        <p:sp>
          <p:nvSpPr>
            <p:cNvPr id="28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5" name="Ürün kategorisi, fiyat, marj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kategorisi, fiyat, marj</a:t>
              </a:r>
            </a:p>
          </p:txBody>
        </p:sp>
      </p:grpSp>
      <p:sp>
        <p:nvSpPr>
          <p:cNvPr id="287" name="Dikdörtgen"/>
          <p:cNvSpPr/>
          <p:nvPr/>
        </p:nvSpPr>
        <p:spPr>
          <a:xfrm>
            <a:off x="628650" y="43989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0" name="Grupla"/>
          <p:cNvGrpSpPr/>
          <p:nvPr/>
        </p:nvGrpSpPr>
        <p:grpSpPr>
          <a:xfrm>
            <a:off x="723900" y="4886324"/>
            <a:ext cx="1257300" cy="323851"/>
            <a:chOff x="0" y="0"/>
            <a:chExt cx="1257300" cy="323850"/>
          </a:xfrm>
        </p:grpSpPr>
        <p:sp>
          <p:nvSpPr>
            <p:cNvPr id="28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9" name="review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reviews.csv</a:t>
              </a:r>
            </a:p>
          </p:txBody>
        </p:sp>
      </p:grpSp>
      <p:sp>
        <p:nvSpPr>
          <p:cNvPr id="291" name="Dikdörtgen"/>
          <p:cNvSpPr/>
          <p:nvPr/>
        </p:nvSpPr>
        <p:spPr>
          <a:xfrm>
            <a:off x="2055811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4" name="Grupla"/>
          <p:cNvGrpSpPr/>
          <p:nvPr/>
        </p:nvGrpSpPr>
        <p:grpSpPr>
          <a:xfrm>
            <a:off x="2152650" y="4886324"/>
            <a:ext cx="828675" cy="323851"/>
            <a:chOff x="0" y="0"/>
            <a:chExt cx="828675" cy="323850"/>
          </a:xfrm>
        </p:grpSpPr>
        <p:sp>
          <p:nvSpPr>
            <p:cNvPr id="29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3" name="10.7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sp>
        <p:nvSpPr>
          <p:cNvPr id="295" name="Dikdörtgen"/>
          <p:cNvSpPr/>
          <p:nvPr/>
        </p:nvSpPr>
        <p:spPr>
          <a:xfrm>
            <a:off x="3055936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8" name="Grupla"/>
          <p:cNvGrpSpPr/>
          <p:nvPr/>
        </p:nvGrpSpPr>
        <p:grpSpPr>
          <a:xfrm>
            <a:off x="3152775" y="4886324"/>
            <a:ext cx="1828800" cy="323851"/>
            <a:chOff x="0" y="0"/>
            <a:chExt cx="1828800" cy="323850"/>
          </a:xfrm>
        </p:grpSpPr>
        <p:sp>
          <p:nvSpPr>
            <p:cNvPr id="29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7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99" name="Dikdörtgen"/>
          <p:cNvSpPr/>
          <p:nvPr/>
        </p:nvSpPr>
        <p:spPr>
          <a:xfrm>
            <a:off x="5056187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2" name="Grupla"/>
          <p:cNvGrpSpPr/>
          <p:nvPr/>
        </p:nvGrpSpPr>
        <p:grpSpPr>
          <a:xfrm>
            <a:off x="5153025" y="4886324"/>
            <a:ext cx="4781550" cy="323851"/>
            <a:chOff x="0" y="0"/>
            <a:chExt cx="4781550" cy="323850"/>
          </a:xfrm>
        </p:grpSpPr>
        <p:sp>
          <p:nvSpPr>
            <p:cNvPr id="30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1" name="Yorum, rating ve duygu analiz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Yorum, rating ve duygu analizi</a:t>
              </a:r>
            </a:p>
          </p:txBody>
        </p:sp>
      </p:grpSp>
      <p:sp>
        <p:nvSpPr>
          <p:cNvPr id="303" name="Dikdörtgen"/>
          <p:cNvSpPr/>
          <p:nvPr/>
        </p:nvSpPr>
        <p:spPr>
          <a:xfrm>
            <a:off x="628650" y="47990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Dikdörtgen"/>
          <p:cNvSpPr/>
          <p:nvPr/>
        </p:nvSpPr>
        <p:spPr>
          <a:xfrm>
            <a:off x="628650" y="5810250"/>
            <a:ext cx="10287000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7" name="Grupla"/>
          <p:cNvGrpSpPr/>
          <p:nvPr/>
        </p:nvGrpSpPr>
        <p:grpSpPr>
          <a:xfrm>
            <a:off x="781050" y="5924549"/>
            <a:ext cx="9982200" cy="285751"/>
            <a:chOff x="0" y="0"/>
            <a:chExt cx="9982200" cy="285750"/>
          </a:xfrm>
        </p:grpSpPr>
        <p:sp>
          <p:nvSpPr>
            <p:cNvPr id="305" name="Dikdörtgen"/>
            <p:cNvSpPr/>
            <p:nvPr/>
          </p:nvSpPr>
          <p:spPr>
            <a:xfrm>
              <a:off x="0" y="0"/>
              <a:ext cx="99822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6" name="Kaynak: https://www.kaggle.com/datasets/wafaaelhusseini/e-commerce-transactions-clickstream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Kaynak: https://www.kaggle.com/datasets/wafaaelhusseini/e-commerce-transactions-clickstream</a:t>
              </a:r>
            </a:p>
          </p:txBody>
        </p:sp>
      </p:grpSp>
      <p:grpSp>
        <p:nvGrpSpPr>
          <p:cNvPr id="31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30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31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31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2" name="0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1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31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32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32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1" name="Metodoloji 1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1/5</a:t>
              </a:r>
            </a:p>
          </p:txBody>
        </p:sp>
      </p:grpSp>
      <p:grpSp>
        <p:nvGrpSpPr>
          <p:cNvPr id="32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32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324" name="Tablolar tek seferde değil, iş sorusuna göre birleştir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Tablolar tek seferde değil, iş sorusuna göre birleştirildi</a:t>
              </a:r>
            </a:p>
          </p:txBody>
        </p:sp>
      </p:grpSp>
      <p:grpSp>
        <p:nvGrpSpPr>
          <p:cNvPr id="32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32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7" name="Her tablo farklı seviyede veri tutar. Bu yüzden önce ürün analitiği, sonra müşteri-ürün model tablosu oluşturuldu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tablo farklı seviyede veri tutar. Bu yüzden önce ürün analitiği, sonra müşteri-ürün model tablosu oluşturuldu.</a:t>
              </a:r>
            </a:p>
          </p:txBody>
        </p:sp>
      </p:grpSp>
      <p:sp>
        <p:nvSpPr>
          <p:cNvPr id="329" name="Dikdörtgen"/>
          <p:cNvSpPr/>
          <p:nvPr/>
        </p:nvSpPr>
        <p:spPr>
          <a:xfrm>
            <a:off x="8001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0" name="Dikdörtgen"/>
          <p:cNvSpPr/>
          <p:nvPr/>
        </p:nvSpPr>
        <p:spPr>
          <a:xfrm>
            <a:off x="7620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1" name="Dikdörtgen"/>
          <p:cNvSpPr/>
          <p:nvPr/>
        </p:nvSpPr>
        <p:spPr>
          <a:xfrm>
            <a:off x="76200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34" name="Grupla"/>
          <p:cNvGrpSpPr/>
          <p:nvPr/>
        </p:nvGrpSpPr>
        <p:grpSpPr>
          <a:xfrm>
            <a:off x="952500" y="2428875"/>
            <a:ext cx="1238250" cy="228600"/>
            <a:chOff x="0" y="0"/>
            <a:chExt cx="1238250" cy="228600"/>
          </a:xfrm>
        </p:grpSpPr>
        <p:sp>
          <p:nvSpPr>
            <p:cNvPr id="33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3" name="even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</a:t>
              </a:r>
            </a:p>
          </p:txBody>
        </p:sp>
      </p:grpSp>
      <p:grpSp>
        <p:nvGrpSpPr>
          <p:cNvPr id="337" name="Grupla"/>
          <p:cNvGrpSpPr/>
          <p:nvPr/>
        </p:nvGrpSpPr>
        <p:grpSpPr>
          <a:xfrm>
            <a:off x="952500" y="2714624"/>
            <a:ext cx="1238250" cy="171451"/>
            <a:chOff x="0" y="0"/>
            <a:chExt cx="1238250" cy="171450"/>
          </a:xfrm>
        </p:grpSpPr>
        <p:sp>
          <p:nvSpPr>
            <p:cNvPr id="335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6" name="session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</a:t>
              </a:r>
            </a:p>
          </p:txBody>
        </p:sp>
      </p:grpSp>
      <p:grpSp>
        <p:nvGrpSpPr>
          <p:cNvPr id="340" name="Grupla"/>
          <p:cNvGrpSpPr/>
          <p:nvPr/>
        </p:nvGrpSpPr>
        <p:grpSpPr>
          <a:xfrm>
            <a:off x="2609850" y="2438399"/>
            <a:ext cx="381000" cy="330201"/>
            <a:chOff x="0" y="0"/>
            <a:chExt cx="381000" cy="330200"/>
          </a:xfrm>
        </p:grpSpPr>
        <p:sp>
          <p:nvSpPr>
            <p:cNvPr id="338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9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41" name="Dikdörtgen"/>
          <p:cNvSpPr/>
          <p:nvPr/>
        </p:nvSpPr>
        <p:spPr>
          <a:xfrm>
            <a:off x="31813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Dikdörtgen"/>
          <p:cNvSpPr/>
          <p:nvPr/>
        </p:nvSpPr>
        <p:spPr>
          <a:xfrm>
            <a:off x="31432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Dikdörtgen"/>
          <p:cNvSpPr/>
          <p:nvPr/>
        </p:nvSpPr>
        <p:spPr>
          <a:xfrm>
            <a:off x="314325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46" name="Grupla"/>
          <p:cNvGrpSpPr/>
          <p:nvPr/>
        </p:nvGrpSpPr>
        <p:grpSpPr>
          <a:xfrm>
            <a:off x="3333750" y="2428875"/>
            <a:ext cx="1238250" cy="228600"/>
            <a:chOff x="0" y="0"/>
            <a:chExt cx="1238250" cy="228600"/>
          </a:xfrm>
        </p:grpSpPr>
        <p:sp>
          <p:nvSpPr>
            <p:cNvPr id="344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5" name="session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</a:t>
              </a:r>
            </a:p>
          </p:txBody>
        </p:sp>
      </p:grpSp>
      <p:grpSp>
        <p:nvGrpSpPr>
          <p:cNvPr id="349" name="Grupla"/>
          <p:cNvGrpSpPr/>
          <p:nvPr/>
        </p:nvGrpSpPr>
        <p:grpSpPr>
          <a:xfrm>
            <a:off x="3333750" y="2714624"/>
            <a:ext cx="1238250" cy="171451"/>
            <a:chOff x="0" y="0"/>
            <a:chExt cx="1238250" cy="171450"/>
          </a:xfrm>
        </p:grpSpPr>
        <p:sp>
          <p:nvSpPr>
            <p:cNvPr id="347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8" name="custom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grpSp>
        <p:nvGrpSpPr>
          <p:cNvPr id="352" name="Grupla"/>
          <p:cNvGrpSpPr/>
          <p:nvPr/>
        </p:nvGrpSpPr>
        <p:grpSpPr>
          <a:xfrm>
            <a:off x="4991100" y="2438399"/>
            <a:ext cx="381000" cy="330201"/>
            <a:chOff x="0" y="0"/>
            <a:chExt cx="381000" cy="330200"/>
          </a:xfrm>
        </p:grpSpPr>
        <p:sp>
          <p:nvSpPr>
            <p:cNvPr id="350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1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53" name="Dikdörtgen"/>
          <p:cNvSpPr/>
          <p:nvPr/>
        </p:nvSpPr>
        <p:spPr>
          <a:xfrm>
            <a:off x="55626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Dikdörtgen"/>
          <p:cNvSpPr/>
          <p:nvPr/>
        </p:nvSpPr>
        <p:spPr>
          <a:xfrm>
            <a:off x="55245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Dikdörtgen"/>
          <p:cNvSpPr/>
          <p:nvPr/>
        </p:nvSpPr>
        <p:spPr>
          <a:xfrm>
            <a:off x="552450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58" name="Grupla"/>
          <p:cNvGrpSpPr/>
          <p:nvPr/>
        </p:nvGrpSpPr>
        <p:grpSpPr>
          <a:xfrm>
            <a:off x="5715000" y="2428875"/>
            <a:ext cx="1238250" cy="228600"/>
            <a:chOff x="0" y="0"/>
            <a:chExt cx="1238250" cy="228600"/>
          </a:xfrm>
        </p:grpSpPr>
        <p:sp>
          <p:nvSpPr>
            <p:cNvPr id="356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7" name="custom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</a:t>
              </a:r>
            </a:p>
          </p:txBody>
        </p:sp>
      </p:grpSp>
      <p:grpSp>
        <p:nvGrpSpPr>
          <p:cNvPr id="361" name="Grupla"/>
          <p:cNvGrpSpPr/>
          <p:nvPr/>
        </p:nvGrpSpPr>
        <p:grpSpPr>
          <a:xfrm>
            <a:off x="5715000" y="2714624"/>
            <a:ext cx="1238250" cy="171451"/>
            <a:chOff x="0" y="0"/>
            <a:chExt cx="1238250" cy="171450"/>
          </a:xfrm>
        </p:grpSpPr>
        <p:sp>
          <p:nvSpPr>
            <p:cNvPr id="359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0" name="profil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profil</a:t>
              </a:r>
            </a:p>
          </p:txBody>
        </p:sp>
      </p:grpSp>
      <p:grpSp>
        <p:nvGrpSpPr>
          <p:cNvPr id="364" name="Grupla"/>
          <p:cNvGrpSpPr/>
          <p:nvPr/>
        </p:nvGrpSpPr>
        <p:grpSpPr>
          <a:xfrm>
            <a:off x="7372350" y="2438399"/>
            <a:ext cx="381000" cy="330201"/>
            <a:chOff x="0" y="0"/>
            <a:chExt cx="381000" cy="330200"/>
          </a:xfrm>
        </p:grpSpPr>
        <p:sp>
          <p:nvSpPr>
            <p:cNvPr id="362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3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65" name="Dikdörtgen"/>
          <p:cNvSpPr/>
          <p:nvPr/>
        </p:nvSpPr>
        <p:spPr>
          <a:xfrm>
            <a:off x="79438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Dikdörtgen"/>
          <p:cNvSpPr/>
          <p:nvPr/>
        </p:nvSpPr>
        <p:spPr>
          <a:xfrm>
            <a:off x="79057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7" name="Dikdörtgen"/>
          <p:cNvSpPr/>
          <p:nvPr/>
        </p:nvSpPr>
        <p:spPr>
          <a:xfrm>
            <a:off x="790575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0" name="Grupla"/>
          <p:cNvGrpSpPr/>
          <p:nvPr/>
        </p:nvGrpSpPr>
        <p:grpSpPr>
          <a:xfrm>
            <a:off x="8096250" y="2428875"/>
            <a:ext cx="1238250" cy="228600"/>
            <a:chOff x="0" y="0"/>
            <a:chExt cx="1238250" cy="228600"/>
          </a:xfrm>
        </p:grpSpPr>
        <p:sp>
          <p:nvSpPr>
            <p:cNvPr id="368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9" name="kişisel sinyal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sinyal</a:t>
              </a:r>
            </a:p>
          </p:txBody>
        </p:sp>
      </p:grpSp>
      <p:grpSp>
        <p:nvGrpSpPr>
          <p:cNvPr id="373" name="Grupla"/>
          <p:cNvGrpSpPr/>
          <p:nvPr/>
        </p:nvGrpSpPr>
        <p:grpSpPr>
          <a:xfrm>
            <a:off x="8096250" y="2714624"/>
            <a:ext cx="1238250" cy="171451"/>
            <a:chOff x="0" y="0"/>
            <a:chExt cx="1238250" cy="171450"/>
          </a:xfrm>
        </p:grpSpPr>
        <p:sp>
          <p:nvSpPr>
            <p:cNvPr id="371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2" name="davranış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davranış</a:t>
              </a:r>
            </a:p>
          </p:txBody>
        </p:sp>
      </p:grpSp>
      <p:sp>
        <p:nvSpPr>
          <p:cNvPr id="374" name="Dikdörtgen"/>
          <p:cNvSpPr/>
          <p:nvPr/>
        </p:nvSpPr>
        <p:spPr>
          <a:xfrm>
            <a:off x="8001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Dikdörtgen"/>
          <p:cNvSpPr/>
          <p:nvPr/>
        </p:nvSpPr>
        <p:spPr>
          <a:xfrm>
            <a:off x="7620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Dikdörtgen"/>
          <p:cNvSpPr/>
          <p:nvPr/>
        </p:nvSpPr>
        <p:spPr>
          <a:xfrm>
            <a:off x="7620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9" name="Grupla"/>
          <p:cNvGrpSpPr/>
          <p:nvPr/>
        </p:nvGrpSpPr>
        <p:grpSpPr>
          <a:xfrm>
            <a:off x="952500" y="3857625"/>
            <a:ext cx="1238250" cy="228600"/>
            <a:chOff x="0" y="0"/>
            <a:chExt cx="1238250" cy="228600"/>
          </a:xfrm>
        </p:grpSpPr>
        <p:sp>
          <p:nvSpPr>
            <p:cNvPr id="377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8" name="ord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</a:t>
              </a:r>
            </a:p>
          </p:txBody>
        </p:sp>
      </p:grpSp>
      <p:grpSp>
        <p:nvGrpSpPr>
          <p:cNvPr id="382" name="Grupla"/>
          <p:cNvGrpSpPr/>
          <p:nvPr/>
        </p:nvGrpSpPr>
        <p:grpSpPr>
          <a:xfrm>
            <a:off x="952500" y="4143374"/>
            <a:ext cx="1238250" cy="171451"/>
            <a:chOff x="0" y="0"/>
            <a:chExt cx="1238250" cy="171450"/>
          </a:xfrm>
        </p:grpSpPr>
        <p:sp>
          <p:nvSpPr>
            <p:cNvPr id="380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1" name="ord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</a:t>
              </a:r>
            </a:p>
          </p:txBody>
        </p:sp>
      </p:grpSp>
      <p:grpSp>
        <p:nvGrpSpPr>
          <p:cNvPr id="385" name="Grupla"/>
          <p:cNvGrpSpPr/>
          <p:nvPr/>
        </p:nvGrpSpPr>
        <p:grpSpPr>
          <a:xfrm>
            <a:off x="2609850" y="3867149"/>
            <a:ext cx="381000" cy="330201"/>
            <a:chOff x="0" y="0"/>
            <a:chExt cx="381000" cy="330200"/>
          </a:xfrm>
        </p:grpSpPr>
        <p:sp>
          <p:nvSpPr>
            <p:cNvPr id="383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4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86" name="Dikdörtgen"/>
          <p:cNvSpPr/>
          <p:nvPr/>
        </p:nvSpPr>
        <p:spPr>
          <a:xfrm>
            <a:off x="31813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Dikdörtgen"/>
          <p:cNvSpPr/>
          <p:nvPr/>
        </p:nvSpPr>
        <p:spPr>
          <a:xfrm>
            <a:off x="31432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Dikdörtgen"/>
          <p:cNvSpPr/>
          <p:nvPr/>
        </p:nvSpPr>
        <p:spPr>
          <a:xfrm>
            <a:off x="314325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1" name="Grupla"/>
          <p:cNvGrpSpPr/>
          <p:nvPr/>
        </p:nvGrpSpPr>
        <p:grpSpPr>
          <a:xfrm>
            <a:off x="3333750" y="3857625"/>
            <a:ext cx="1238250" cy="228600"/>
            <a:chOff x="0" y="0"/>
            <a:chExt cx="1238250" cy="228600"/>
          </a:xfrm>
        </p:grpSpPr>
        <p:sp>
          <p:nvSpPr>
            <p:cNvPr id="389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0" name="order_item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</a:t>
              </a:r>
            </a:p>
          </p:txBody>
        </p:sp>
      </p:grpSp>
      <p:grpSp>
        <p:nvGrpSpPr>
          <p:cNvPr id="394" name="Grupla"/>
          <p:cNvGrpSpPr/>
          <p:nvPr/>
        </p:nvGrpSpPr>
        <p:grpSpPr>
          <a:xfrm>
            <a:off x="3333750" y="4143374"/>
            <a:ext cx="1238250" cy="171451"/>
            <a:chOff x="0" y="0"/>
            <a:chExt cx="1238250" cy="171450"/>
          </a:xfrm>
        </p:grpSpPr>
        <p:sp>
          <p:nvSpPr>
            <p:cNvPr id="392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3" name="product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grpSp>
        <p:nvGrpSpPr>
          <p:cNvPr id="397" name="Grupla"/>
          <p:cNvGrpSpPr/>
          <p:nvPr/>
        </p:nvGrpSpPr>
        <p:grpSpPr>
          <a:xfrm>
            <a:off x="4991100" y="3867149"/>
            <a:ext cx="381000" cy="330201"/>
            <a:chOff x="0" y="0"/>
            <a:chExt cx="381000" cy="330200"/>
          </a:xfrm>
        </p:grpSpPr>
        <p:sp>
          <p:nvSpPr>
            <p:cNvPr id="395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6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98" name="Dikdörtgen"/>
          <p:cNvSpPr/>
          <p:nvPr/>
        </p:nvSpPr>
        <p:spPr>
          <a:xfrm>
            <a:off x="55626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Dikdörtgen"/>
          <p:cNvSpPr/>
          <p:nvPr/>
        </p:nvSpPr>
        <p:spPr>
          <a:xfrm>
            <a:off x="55245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Dikdörtgen"/>
          <p:cNvSpPr/>
          <p:nvPr/>
        </p:nvSpPr>
        <p:spPr>
          <a:xfrm>
            <a:off x="55245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03" name="Grupla"/>
          <p:cNvGrpSpPr/>
          <p:nvPr/>
        </p:nvGrpSpPr>
        <p:grpSpPr>
          <a:xfrm>
            <a:off x="5715000" y="3857625"/>
            <a:ext cx="1238250" cy="228600"/>
            <a:chOff x="0" y="0"/>
            <a:chExt cx="1238250" cy="228600"/>
          </a:xfrm>
        </p:grpSpPr>
        <p:sp>
          <p:nvSpPr>
            <p:cNvPr id="401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2" name="produc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</a:t>
              </a:r>
            </a:p>
          </p:txBody>
        </p:sp>
      </p:grpSp>
      <p:grpSp>
        <p:nvGrpSpPr>
          <p:cNvPr id="406" name="Grupla"/>
          <p:cNvGrpSpPr/>
          <p:nvPr/>
        </p:nvGrpSpPr>
        <p:grpSpPr>
          <a:xfrm>
            <a:off x="5715000" y="4143374"/>
            <a:ext cx="1238250" cy="171451"/>
            <a:chOff x="0" y="0"/>
            <a:chExt cx="1238250" cy="171450"/>
          </a:xfrm>
        </p:grpSpPr>
        <p:sp>
          <p:nvSpPr>
            <p:cNvPr id="404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5" name="ürün bilgi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bilgi</a:t>
              </a:r>
            </a:p>
          </p:txBody>
        </p:sp>
      </p:grpSp>
      <p:grpSp>
        <p:nvGrpSpPr>
          <p:cNvPr id="409" name="Grupla"/>
          <p:cNvGrpSpPr/>
          <p:nvPr/>
        </p:nvGrpSpPr>
        <p:grpSpPr>
          <a:xfrm>
            <a:off x="7372350" y="3867149"/>
            <a:ext cx="381000" cy="330201"/>
            <a:chOff x="0" y="0"/>
            <a:chExt cx="381000" cy="330200"/>
          </a:xfrm>
        </p:grpSpPr>
        <p:sp>
          <p:nvSpPr>
            <p:cNvPr id="407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8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410" name="Dikdörtgen"/>
          <p:cNvSpPr/>
          <p:nvPr/>
        </p:nvSpPr>
        <p:spPr>
          <a:xfrm>
            <a:off x="79438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Dikdörtgen"/>
          <p:cNvSpPr/>
          <p:nvPr/>
        </p:nvSpPr>
        <p:spPr>
          <a:xfrm>
            <a:off x="79057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2" name="Dikdörtgen"/>
          <p:cNvSpPr/>
          <p:nvPr/>
        </p:nvSpPr>
        <p:spPr>
          <a:xfrm>
            <a:off x="7905750" y="361950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15" name="Grupla"/>
          <p:cNvGrpSpPr/>
          <p:nvPr/>
        </p:nvGrpSpPr>
        <p:grpSpPr>
          <a:xfrm>
            <a:off x="8096250" y="3857625"/>
            <a:ext cx="1238250" cy="228600"/>
            <a:chOff x="0" y="0"/>
            <a:chExt cx="1238250" cy="228600"/>
          </a:xfrm>
        </p:grpSpPr>
        <p:sp>
          <p:nvSpPr>
            <p:cNvPr id="413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4" name="ürün satışı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</a:t>
              </a:r>
            </a:p>
          </p:txBody>
        </p:sp>
      </p:grpSp>
      <p:grpSp>
        <p:nvGrpSpPr>
          <p:cNvPr id="418" name="Grupla"/>
          <p:cNvGrpSpPr/>
          <p:nvPr/>
        </p:nvGrpSpPr>
        <p:grpSpPr>
          <a:xfrm>
            <a:off x="8096250" y="4143374"/>
            <a:ext cx="1238250" cy="171451"/>
            <a:chOff x="0" y="0"/>
            <a:chExt cx="1238250" cy="171450"/>
          </a:xfrm>
        </p:grpSpPr>
        <p:sp>
          <p:nvSpPr>
            <p:cNvPr id="416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7" name="adet + gelir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adet + gelir</a:t>
              </a:r>
            </a:p>
          </p:txBody>
        </p:sp>
      </p:grpSp>
      <p:sp>
        <p:nvSpPr>
          <p:cNvPr id="419" name="Dikdörtgen"/>
          <p:cNvSpPr/>
          <p:nvPr/>
        </p:nvSpPr>
        <p:spPr>
          <a:xfrm>
            <a:off x="9753600" y="2838450"/>
            <a:ext cx="1809750" cy="10001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Dikdörtgen"/>
          <p:cNvSpPr/>
          <p:nvPr/>
        </p:nvSpPr>
        <p:spPr>
          <a:xfrm>
            <a:off x="9715500" y="2781300"/>
            <a:ext cx="1809750" cy="1000125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Dikdörtgen"/>
          <p:cNvSpPr/>
          <p:nvPr/>
        </p:nvSpPr>
        <p:spPr>
          <a:xfrm>
            <a:off x="9715500" y="2781300"/>
            <a:ext cx="57150" cy="1000125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24" name="Grupla"/>
          <p:cNvGrpSpPr/>
          <p:nvPr/>
        </p:nvGrpSpPr>
        <p:grpSpPr>
          <a:xfrm>
            <a:off x="9944100" y="3000375"/>
            <a:ext cx="1238250" cy="228600"/>
            <a:chOff x="0" y="0"/>
            <a:chExt cx="1238250" cy="228600"/>
          </a:xfrm>
        </p:grpSpPr>
        <p:sp>
          <p:nvSpPr>
            <p:cNvPr id="42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3" name="review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</a:t>
              </a:r>
            </a:p>
          </p:txBody>
        </p:sp>
      </p:grpSp>
      <p:grpSp>
        <p:nvGrpSpPr>
          <p:cNvPr id="427" name="Grupla"/>
          <p:cNvGrpSpPr/>
          <p:nvPr/>
        </p:nvGrpSpPr>
        <p:grpSpPr>
          <a:xfrm>
            <a:off x="9944100" y="3314699"/>
            <a:ext cx="1238250" cy="342901"/>
            <a:chOff x="0" y="0"/>
            <a:chExt cx="1238250" cy="342900"/>
          </a:xfrm>
        </p:grpSpPr>
        <p:sp>
          <p:nvSpPr>
            <p:cNvPr id="425" name="Dikdörtgen"/>
            <p:cNvSpPr/>
            <p:nvPr/>
          </p:nvSpPr>
          <p:spPr>
            <a:xfrm>
              <a:off x="0" y="0"/>
              <a:ext cx="12382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6" name="product_id ile ürün duygu sinyali"/>
            <p:cNvSpPr txBox="1"/>
            <p:nvPr/>
          </p:nvSpPr>
          <p:spPr>
            <a:xfrm>
              <a:off x="0" y="-1"/>
              <a:ext cx="1238250" cy="304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duygu sinyali</a:t>
              </a:r>
            </a:p>
          </p:txBody>
        </p:sp>
      </p:grpSp>
      <p:sp>
        <p:nvSpPr>
          <p:cNvPr id="428" name="Dikdörtgen"/>
          <p:cNvSpPr/>
          <p:nvPr/>
        </p:nvSpPr>
        <p:spPr>
          <a:xfrm>
            <a:off x="819150" y="5143500"/>
            <a:ext cx="9906000" cy="5334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31" name="Grupla"/>
          <p:cNvGrpSpPr/>
          <p:nvPr/>
        </p:nvGrpSpPr>
        <p:grpSpPr>
          <a:xfrm>
            <a:off x="971550" y="5257799"/>
            <a:ext cx="9601200" cy="361951"/>
            <a:chOff x="0" y="0"/>
            <a:chExt cx="9601200" cy="361950"/>
          </a:xfrm>
        </p:grpSpPr>
        <p:sp>
          <p:nvSpPr>
            <p:cNvPr id="429" name="Dikdörtgen"/>
            <p:cNvSpPr/>
            <p:nvPr/>
          </p:nvSpPr>
          <p:spPr>
            <a:xfrm>
              <a:off x="0" y="0"/>
              <a:ext cx="96012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0" name="Mantık: events tablosu önce sessions üzerinden müşteriyle, sipariş kalemleri ise products üzerinden ürünle eşleşir."/>
            <p:cNvSpPr txBox="1"/>
            <p:nvPr/>
          </p:nvSpPr>
          <p:spPr>
            <a:xfrm>
              <a:off x="0" y="-1"/>
              <a:ext cx="9601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Mantık: events tablosu önce sessions üzerinden müşteriyle, sipariş kalemleri ise products üzerinden ürünle eşleşir.</a:t>
              </a:r>
            </a:p>
          </p:txBody>
        </p:sp>
      </p:grpSp>
      <p:grpSp>
        <p:nvGrpSpPr>
          <p:cNvPr id="43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43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43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43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6" name="0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4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44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44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44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5" name="Metodoloji 2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2/5</a:t>
              </a:r>
            </a:p>
          </p:txBody>
        </p:sp>
      </p:grpSp>
      <p:grpSp>
        <p:nvGrpSpPr>
          <p:cNvPr id="44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44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448" name="Eksik değerler iş anlamına göre ele alı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Eksik değerler iş anlamına göre ele alındı</a:t>
              </a:r>
            </a:p>
          </p:txBody>
        </p:sp>
      </p:grpSp>
      <p:grpSp>
        <p:nvGrpSpPr>
          <p:cNvPr id="45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45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1" name="Eksikler rastgele silinmedi. Önce alanın neden boş olduğu yorumlandı, sonra uygun işlem seç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Eksikler rastgele silinmedi. Önce alanın neden boş olduğu yorumlandı, sonra uygun işlem seçildi.</a:t>
              </a:r>
            </a:p>
          </p:txBody>
        </p:sp>
      </p:grpSp>
      <p:sp>
        <p:nvSpPr>
          <p:cNvPr id="453" name="Dikdörtgen"/>
          <p:cNvSpPr/>
          <p:nvPr/>
        </p:nvSpPr>
        <p:spPr>
          <a:xfrm>
            <a:off x="704850" y="2190750"/>
            <a:ext cx="10572750" cy="2857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4" name="Dikdörtgen"/>
          <p:cNvSpPr/>
          <p:nvPr/>
        </p:nvSpPr>
        <p:spPr>
          <a:xfrm>
            <a:off x="666750" y="2133600"/>
            <a:ext cx="10572750" cy="2857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5" name="Dikdörtgen"/>
          <p:cNvSpPr/>
          <p:nvPr/>
        </p:nvSpPr>
        <p:spPr>
          <a:xfrm>
            <a:off x="666750" y="2133600"/>
            <a:ext cx="10572750" cy="4762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58" name="Grupla"/>
          <p:cNvGrpSpPr/>
          <p:nvPr/>
        </p:nvGrpSpPr>
        <p:grpSpPr>
          <a:xfrm>
            <a:off x="762000" y="2219324"/>
            <a:ext cx="1924050" cy="400051"/>
            <a:chOff x="0" y="0"/>
            <a:chExt cx="1924050" cy="400050"/>
          </a:xfrm>
        </p:grpSpPr>
        <p:sp>
          <p:nvSpPr>
            <p:cNvPr id="456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7" name="Ala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Alan</a:t>
              </a:r>
            </a:p>
          </p:txBody>
        </p:sp>
      </p:grpSp>
      <p:sp>
        <p:nvSpPr>
          <p:cNvPr id="459" name="Dikdörtgen"/>
          <p:cNvSpPr/>
          <p:nvPr/>
        </p:nvSpPr>
        <p:spPr>
          <a:xfrm>
            <a:off x="2760661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2" name="Grupla"/>
          <p:cNvGrpSpPr/>
          <p:nvPr/>
        </p:nvGrpSpPr>
        <p:grpSpPr>
          <a:xfrm>
            <a:off x="2857500" y="2219324"/>
            <a:ext cx="2971800" cy="400051"/>
            <a:chOff x="0" y="0"/>
            <a:chExt cx="2971800" cy="400050"/>
          </a:xfrm>
        </p:grpSpPr>
        <p:sp>
          <p:nvSpPr>
            <p:cNvPr id="460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1" name="Durum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Durum</a:t>
              </a:r>
            </a:p>
          </p:txBody>
        </p:sp>
      </p:grpSp>
      <p:sp>
        <p:nvSpPr>
          <p:cNvPr id="463" name="Dikdörtgen"/>
          <p:cNvSpPr/>
          <p:nvPr/>
        </p:nvSpPr>
        <p:spPr>
          <a:xfrm>
            <a:off x="5903912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6" name="Grupla"/>
          <p:cNvGrpSpPr/>
          <p:nvPr/>
        </p:nvGrpSpPr>
        <p:grpSpPr>
          <a:xfrm>
            <a:off x="6000750" y="2219324"/>
            <a:ext cx="5162550" cy="400051"/>
            <a:chOff x="0" y="0"/>
            <a:chExt cx="5162550" cy="400050"/>
          </a:xfrm>
        </p:grpSpPr>
        <p:sp>
          <p:nvSpPr>
            <p:cNvPr id="464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5" name="Karar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</a:t>
              </a:r>
            </a:p>
          </p:txBody>
        </p:sp>
      </p:grpSp>
      <p:grpSp>
        <p:nvGrpSpPr>
          <p:cNvPr id="469" name="Grupla"/>
          <p:cNvGrpSpPr/>
          <p:nvPr/>
        </p:nvGrpSpPr>
        <p:grpSpPr>
          <a:xfrm>
            <a:off x="762000" y="2695574"/>
            <a:ext cx="1924050" cy="400051"/>
            <a:chOff x="0" y="0"/>
            <a:chExt cx="1924050" cy="400050"/>
          </a:xfrm>
        </p:grpSpPr>
        <p:sp>
          <p:nvSpPr>
            <p:cNvPr id="467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8" name="events.product_id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events.product_id</a:t>
              </a:r>
            </a:p>
          </p:txBody>
        </p:sp>
      </p:grpSp>
      <p:sp>
        <p:nvSpPr>
          <p:cNvPr id="470" name="Dikdörtgen"/>
          <p:cNvSpPr/>
          <p:nvPr/>
        </p:nvSpPr>
        <p:spPr>
          <a:xfrm>
            <a:off x="2760661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3" name="Grupla"/>
          <p:cNvGrpSpPr/>
          <p:nvPr/>
        </p:nvGrpSpPr>
        <p:grpSpPr>
          <a:xfrm>
            <a:off x="2857500" y="2695574"/>
            <a:ext cx="2971800" cy="400051"/>
            <a:chOff x="0" y="0"/>
            <a:chExt cx="2971800" cy="400050"/>
          </a:xfrm>
        </p:grpSpPr>
        <p:sp>
          <p:nvSpPr>
            <p:cNvPr id="471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2" name="checkout/purchase satırlarında boş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checkout/purchase satırlarında boş</a:t>
              </a:r>
            </a:p>
          </p:txBody>
        </p:sp>
      </p:grpSp>
      <p:sp>
        <p:nvSpPr>
          <p:cNvPr id="474" name="Dikdörtgen"/>
          <p:cNvSpPr/>
          <p:nvPr/>
        </p:nvSpPr>
        <p:spPr>
          <a:xfrm>
            <a:off x="5903912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7" name="Grupla"/>
          <p:cNvGrpSpPr/>
          <p:nvPr/>
        </p:nvGrpSpPr>
        <p:grpSpPr>
          <a:xfrm>
            <a:off x="6000750" y="2695574"/>
            <a:ext cx="5162550" cy="400051"/>
            <a:chOff x="0" y="0"/>
            <a:chExt cx="5162550" cy="400050"/>
          </a:xfrm>
        </p:grpSpPr>
        <p:sp>
          <p:nvSpPr>
            <p:cNvPr id="475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6" name="Ürün satışı order_items.quantity’den hesaplan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 order_items.quantity’den hesaplandı</a:t>
              </a:r>
            </a:p>
          </p:txBody>
        </p:sp>
      </p:grpSp>
      <p:sp>
        <p:nvSpPr>
          <p:cNvPr id="478" name="Dikdörtgen"/>
          <p:cNvSpPr/>
          <p:nvPr/>
        </p:nvSpPr>
        <p:spPr>
          <a:xfrm>
            <a:off x="666750" y="260826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1" name="Grupla"/>
          <p:cNvGrpSpPr/>
          <p:nvPr/>
        </p:nvGrpSpPr>
        <p:grpSpPr>
          <a:xfrm>
            <a:off x="762000" y="3171824"/>
            <a:ext cx="1924050" cy="400051"/>
            <a:chOff x="0" y="0"/>
            <a:chExt cx="1924050" cy="400050"/>
          </a:xfrm>
        </p:grpSpPr>
        <p:sp>
          <p:nvSpPr>
            <p:cNvPr id="479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0" name="events.qty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events.qty</a:t>
              </a:r>
            </a:p>
          </p:txBody>
        </p:sp>
      </p:grpSp>
      <p:sp>
        <p:nvSpPr>
          <p:cNvPr id="482" name="Dikdörtgen"/>
          <p:cNvSpPr/>
          <p:nvPr/>
        </p:nvSpPr>
        <p:spPr>
          <a:xfrm>
            <a:off x="2760661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5" name="Grupla"/>
          <p:cNvGrpSpPr/>
          <p:nvPr/>
        </p:nvGrpSpPr>
        <p:grpSpPr>
          <a:xfrm>
            <a:off x="2857500" y="3171824"/>
            <a:ext cx="2971800" cy="400051"/>
            <a:chOff x="0" y="0"/>
            <a:chExt cx="2971800" cy="400050"/>
          </a:xfrm>
        </p:grpSpPr>
        <p:sp>
          <p:nvSpPr>
            <p:cNvPr id="483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4" name="Sadece purchase eventinde dolu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Sadece purchase eventinde dolu</a:t>
              </a:r>
            </a:p>
          </p:txBody>
        </p:sp>
      </p:grpSp>
      <p:sp>
        <p:nvSpPr>
          <p:cNvPr id="486" name="Dikdörtgen"/>
          <p:cNvSpPr/>
          <p:nvPr/>
        </p:nvSpPr>
        <p:spPr>
          <a:xfrm>
            <a:off x="5903912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9" name="Grupla"/>
          <p:cNvGrpSpPr/>
          <p:nvPr/>
        </p:nvGrpSpPr>
        <p:grpSpPr>
          <a:xfrm>
            <a:off x="6000750" y="3171824"/>
            <a:ext cx="5162550" cy="400051"/>
            <a:chOff x="0" y="0"/>
            <a:chExt cx="5162550" cy="400050"/>
          </a:xfrm>
        </p:grpSpPr>
        <p:sp>
          <p:nvSpPr>
            <p:cNvPr id="487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8" name="Ürün satışında ana kaynak yapılma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satışında ana kaynak yapılmadı</a:t>
              </a:r>
            </a:p>
          </p:txBody>
        </p:sp>
      </p:grpSp>
      <p:sp>
        <p:nvSpPr>
          <p:cNvPr id="490" name="Dikdörtgen"/>
          <p:cNvSpPr/>
          <p:nvPr/>
        </p:nvSpPr>
        <p:spPr>
          <a:xfrm>
            <a:off x="666750" y="308451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3" name="Grupla"/>
          <p:cNvGrpSpPr/>
          <p:nvPr/>
        </p:nvGrpSpPr>
        <p:grpSpPr>
          <a:xfrm>
            <a:off x="762000" y="3648074"/>
            <a:ext cx="1924050" cy="400051"/>
            <a:chOff x="0" y="0"/>
            <a:chExt cx="1924050" cy="400050"/>
          </a:xfrm>
        </p:grpSpPr>
        <p:sp>
          <p:nvSpPr>
            <p:cNvPr id="491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2" name="reviews olmayan ürü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 olmayan ürün</a:t>
              </a:r>
            </a:p>
          </p:txBody>
        </p:sp>
      </p:grpSp>
      <p:sp>
        <p:nvSpPr>
          <p:cNvPr id="494" name="Dikdörtgen"/>
          <p:cNvSpPr/>
          <p:nvPr/>
        </p:nvSpPr>
        <p:spPr>
          <a:xfrm>
            <a:off x="2760661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7" name="Grupla"/>
          <p:cNvGrpSpPr/>
          <p:nvPr/>
        </p:nvGrpSpPr>
        <p:grpSpPr>
          <a:xfrm>
            <a:off x="2857500" y="3648074"/>
            <a:ext cx="2971800" cy="400051"/>
            <a:chOff x="0" y="0"/>
            <a:chExt cx="2971800" cy="400050"/>
          </a:xfrm>
        </p:grpSpPr>
        <p:sp>
          <p:nvSpPr>
            <p:cNvPr id="495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6" name="Yorum ve rating yo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 ve rating yok</a:t>
              </a:r>
            </a:p>
          </p:txBody>
        </p:sp>
      </p:grpSp>
      <p:sp>
        <p:nvSpPr>
          <p:cNvPr id="498" name="Dikdörtgen"/>
          <p:cNvSpPr/>
          <p:nvPr/>
        </p:nvSpPr>
        <p:spPr>
          <a:xfrm>
            <a:off x="5903912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1" name="Grupla"/>
          <p:cNvGrpSpPr/>
          <p:nvPr/>
        </p:nvGrpSpPr>
        <p:grpSpPr>
          <a:xfrm>
            <a:off x="6000750" y="3648074"/>
            <a:ext cx="5162550" cy="400051"/>
            <a:chOff x="0" y="0"/>
            <a:chExt cx="5162550" cy="400050"/>
          </a:xfrm>
        </p:grpSpPr>
        <p:sp>
          <p:nvSpPr>
            <p:cNvPr id="499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0" name="yorum_sayisi=0, pozitif_oran=0 kabul edil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yorum_sayisi=0, pozitif_oran=0 kabul edildi</a:t>
              </a:r>
            </a:p>
          </p:txBody>
        </p:sp>
      </p:grpSp>
      <p:sp>
        <p:nvSpPr>
          <p:cNvPr id="502" name="Dikdörtgen"/>
          <p:cNvSpPr/>
          <p:nvPr/>
        </p:nvSpPr>
        <p:spPr>
          <a:xfrm>
            <a:off x="666750" y="35607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5" name="Grupla"/>
          <p:cNvGrpSpPr/>
          <p:nvPr/>
        </p:nvGrpSpPr>
        <p:grpSpPr>
          <a:xfrm>
            <a:off x="762000" y="4124324"/>
            <a:ext cx="1924050" cy="400051"/>
            <a:chOff x="0" y="0"/>
            <a:chExt cx="1924050" cy="400050"/>
          </a:xfrm>
        </p:grpSpPr>
        <p:sp>
          <p:nvSpPr>
            <p:cNvPr id="503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4" name="page_view=0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page_view=0</a:t>
              </a:r>
            </a:p>
          </p:txBody>
        </p:sp>
      </p:grpSp>
      <p:sp>
        <p:nvSpPr>
          <p:cNvPr id="506" name="Dikdörtgen"/>
          <p:cNvSpPr/>
          <p:nvPr/>
        </p:nvSpPr>
        <p:spPr>
          <a:xfrm>
            <a:off x="2760661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9" name="Grupla"/>
          <p:cNvGrpSpPr/>
          <p:nvPr/>
        </p:nvGrpSpPr>
        <p:grpSpPr>
          <a:xfrm>
            <a:off x="2857500" y="4124324"/>
            <a:ext cx="2971800" cy="400051"/>
            <a:chOff x="0" y="0"/>
            <a:chExt cx="2971800" cy="400050"/>
          </a:xfrm>
        </p:grpSpPr>
        <p:sp>
          <p:nvSpPr>
            <p:cNvPr id="507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8" name="Oran hesabında ris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Oran hesabında risk</a:t>
              </a:r>
            </a:p>
          </p:txBody>
        </p:sp>
      </p:grpSp>
      <p:sp>
        <p:nvSpPr>
          <p:cNvPr id="510" name="Dikdörtgen"/>
          <p:cNvSpPr/>
          <p:nvPr/>
        </p:nvSpPr>
        <p:spPr>
          <a:xfrm>
            <a:off x="5903912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3" name="Grupla"/>
          <p:cNvGrpSpPr/>
          <p:nvPr/>
        </p:nvGrpSpPr>
        <p:grpSpPr>
          <a:xfrm>
            <a:off x="6000750" y="4124324"/>
            <a:ext cx="5162550" cy="400051"/>
            <a:chOff x="0" y="0"/>
            <a:chExt cx="5162550" cy="400050"/>
          </a:xfrm>
        </p:grpSpPr>
        <p:sp>
          <p:nvSpPr>
            <p:cNvPr id="511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2" name="np.where ile sıfıra bölme engellen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np.where ile sıfıra bölme engellendi</a:t>
              </a:r>
            </a:p>
          </p:txBody>
        </p:sp>
      </p:grpSp>
      <p:sp>
        <p:nvSpPr>
          <p:cNvPr id="514" name="Dikdörtgen"/>
          <p:cNvSpPr/>
          <p:nvPr/>
        </p:nvSpPr>
        <p:spPr>
          <a:xfrm>
            <a:off x="666750" y="403701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7" name="Grupla"/>
          <p:cNvGrpSpPr/>
          <p:nvPr/>
        </p:nvGrpSpPr>
        <p:grpSpPr>
          <a:xfrm>
            <a:off x="762000" y="4600574"/>
            <a:ext cx="1924050" cy="400051"/>
            <a:chOff x="0" y="0"/>
            <a:chExt cx="1924050" cy="400050"/>
          </a:xfrm>
        </p:grpSpPr>
        <p:sp>
          <p:nvSpPr>
            <p:cNvPr id="515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6" name="RFM geçmişi yok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geçmişi yok</a:t>
              </a:r>
            </a:p>
          </p:txBody>
        </p:sp>
      </p:grpSp>
      <p:sp>
        <p:nvSpPr>
          <p:cNvPr id="518" name="Dikdörtgen"/>
          <p:cNvSpPr/>
          <p:nvPr/>
        </p:nvSpPr>
        <p:spPr>
          <a:xfrm>
            <a:off x="2760661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1" name="Grupla"/>
          <p:cNvGrpSpPr/>
          <p:nvPr/>
        </p:nvGrpSpPr>
        <p:grpSpPr>
          <a:xfrm>
            <a:off x="2857500" y="4600574"/>
            <a:ext cx="2971800" cy="400051"/>
            <a:chOff x="0" y="0"/>
            <a:chExt cx="2971800" cy="400050"/>
          </a:xfrm>
        </p:grpSpPr>
        <p:sp>
          <p:nvSpPr>
            <p:cNvPr id="519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0" name="Sipariş vermeyen müşteri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vermeyen müşteri</a:t>
              </a:r>
            </a:p>
          </p:txBody>
        </p:sp>
      </p:grpSp>
      <p:sp>
        <p:nvSpPr>
          <p:cNvPr id="522" name="Dikdörtgen"/>
          <p:cNvSpPr/>
          <p:nvPr/>
        </p:nvSpPr>
        <p:spPr>
          <a:xfrm>
            <a:off x="5903912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5" name="Grupla"/>
          <p:cNvGrpSpPr/>
          <p:nvPr/>
        </p:nvGrpSpPr>
        <p:grpSpPr>
          <a:xfrm>
            <a:off x="6000750" y="4600574"/>
            <a:ext cx="5162550" cy="400051"/>
            <a:chOff x="0" y="0"/>
            <a:chExt cx="5162550" cy="400050"/>
          </a:xfrm>
        </p:grpSpPr>
        <p:sp>
          <p:nvSpPr>
            <p:cNvPr id="523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4" name="RFM segmentine dahil edilme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segmentine dahil edilmedi</a:t>
              </a:r>
            </a:p>
          </p:txBody>
        </p:sp>
      </p:grpSp>
      <p:sp>
        <p:nvSpPr>
          <p:cNvPr id="526" name="Dikdörtgen"/>
          <p:cNvSpPr/>
          <p:nvPr/>
        </p:nvSpPr>
        <p:spPr>
          <a:xfrm>
            <a:off x="666750" y="45132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7" name="Dikdörtgen"/>
          <p:cNvSpPr/>
          <p:nvPr/>
        </p:nvSpPr>
        <p:spPr>
          <a:xfrm>
            <a:off x="7143750" y="4857750"/>
            <a:ext cx="3905250" cy="11049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8" name="Dikdörtgen"/>
          <p:cNvSpPr/>
          <p:nvPr/>
        </p:nvSpPr>
        <p:spPr>
          <a:xfrm>
            <a:off x="7105650" y="4800600"/>
            <a:ext cx="3905250" cy="11049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1" name="Grupla"/>
          <p:cNvGrpSpPr/>
          <p:nvPr/>
        </p:nvGrpSpPr>
        <p:grpSpPr>
          <a:xfrm>
            <a:off x="7277100" y="4933949"/>
            <a:ext cx="3562350" cy="190501"/>
            <a:chOff x="0" y="0"/>
            <a:chExt cx="3562350" cy="190500"/>
          </a:xfrm>
        </p:grpSpPr>
        <p:sp>
          <p:nvSpPr>
            <p:cNvPr id="529" name="Dikdörtgen"/>
            <p:cNvSpPr/>
            <p:nvPr/>
          </p:nvSpPr>
          <p:spPr>
            <a:xfrm>
              <a:off x="0" y="0"/>
              <a:ext cx="3562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0" name="Sıfıra bölme koruması"/>
            <p:cNvSpPr txBox="1"/>
            <p:nvPr/>
          </p:nvSpPr>
          <p:spPr>
            <a:xfrm>
              <a:off x="0" y="-1"/>
              <a:ext cx="35623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Sıfıra bölme koruması</a:t>
              </a:r>
            </a:p>
          </p:txBody>
        </p:sp>
      </p:grpSp>
      <p:grpSp>
        <p:nvGrpSpPr>
          <p:cNvPr id="534" name="Grupla"/>
          <p:cNvGrpSpPr/>
          <p:nvPr/>
        </p:nvGrpSpPr>
        <p:grpSpPr>
          <a:xfrm>
            <a:off x="7277100" y="5115517"/>
            <a:ext cx="4358334" cy="762001"/>
            <a:chOff x="0" y="0"/>
            <a:chExt cx="4358332" cy="762000"/>
          </a:xfrm>
        </p:grpSpPr>
        <p:sp>
          <p:nvSpPr>
            <p:cNvPr id="532" name="Dikdörtgen"/>
            <p:cNvSpPr/>
            <p:nvPr/>
          </p:nvSpPr>
          <p:spPr>
            <a:xfrm>
              <a:off x="0" y="0"/>
              <a:ext cx="4358333" cy="745812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533" name="df[&quot;satis_orani&quot;] = np.where(…"/>
            <p:cNvSpPr txBox="1"/>
            <p:nvPr/>
          </p:nvSpPr>
          <p:spPr>
            <a:xfrm>
              <a:off x="0" y="0"/>
              <a:ext cx="4358333" cy="762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df["satis_orani"]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df["page_view"]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df["satis_adedi"] / df["page_view"],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535" name="Dikdörtgen"/>
          <p:cNvSpPr/>
          <p:nvPr/>
        </p:nvSpPr>
        <p:spPr>
          <a:xfrm>
            <a:off x="679831" y="6003925"/>
            <a:ext cx="9525001" cy="4000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8" name="Grupla"/>
          <p:cNvGrpSpPr/>
          <p:nvPr/>
        </p:nvGrpSpPr>
        <p:grpSpPr>
          <a:xfrm>
            <a:off x="832231" y="6118224"/>
            <a:ext cx="9220201" cy="228601"/>
            <a:chOff x="0" y="0"/>
            <a:chExt cx="9220200" cy="228600"/>
          </a:xfrm>
        </p:grpSpPr>
        <p:sp>
          <p:nvSpPr>
            <p:cNvPr id="536" name="Dikdörtgen"/>
            <p:cNvSpPr/>
            <p:nvPr/>
          </p:nvSpPr>
          <p:spPr>
            <a:xfrm>
              <a:off x="0" y="0"/>
              <a:ext cx="9220201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7" name="Bu kararlar modelin uydurma sinyaller öğrenmesini engeller ve dashboard KPI’larını gerçek satış kaynağına bağlar."/>
            <p:cNvSpPr txBox="1"/>
            <p:nvPr/>
          </p:nvSpPr>
          <p:spPr>
            <a:xfrm>
              <a:off x="0" y="-1"/>
              <a:ext cx="9220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kararlar modelin uydurma sinyaller öğrenmesini engeller ve dashboard KPI’larını gerçek satış kaynağına bağlar.</a:t>
              </a:r>
            </a:p>
          </p:txBody>
        </p:sp>
      </p:grpSp>
      <p:grpSp>
        <p:nvGrpSpPr>
          <p:cNvPr id="54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53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54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54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3" name="0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5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54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55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55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2" name="EDA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EDA</a:t>
              </a:r>
            </a:p>
          </p:txBody>
        </p:sp>
      </p:grpSp>
      <p:grpSp>
        <p:nvGrpSpPr>
          <p:cNvPr id="55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55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555" name="Keşifsel analiz: en büyük kayıp görüntülemeden sepete geçişte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Keşifsel analiz: en büyük kayıp görüntülemeden sepete geçişte</a:t>
              </a:r>
            </a:p>
          </p:txBody>
        </p:sp>
      </p:grpSp>
      <p:grpSp>
        <p:nvGrpSpPr>
          <p:cNvPr id="55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55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8" name="Satın alma sürecinin her adımı ayrı incelendi; böylece model öncesi problem alanı netleşt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 sürecinin her adımı ayrı incelendi; böylece model öncesi problem alanı netleşti.</a:t>
              </a:r>
            </a:p>
          </p:txBody>
        </p:sp>
      </p:grpSp>
      <p:pic>
        <p:nvPicPr>
          <p:cNvPr id="5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12681"/>
            <a:ext cx="6858000" cy="3080288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Dikdörtgen"/>
          <p:cNvSpPr/>
          <p:nvPr/>
        </p:nvSpPr>
        <p:spPr>
          <a:xfrm>
            <a:off x="8058150" y="21336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2" name="Dikdörtgen"/>
          <p:cNvSpPr/>
          <p:nvPr/>
        </p:nvSpPr>
        <p:spPr>
          <a:xfrm>
            <a:off x="8020050" y="20764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3" name="Dikdörtgen"/>
          <p:cNvSpPr/>
          <p:nvPr/>
        </p:nvSpPr>
        <p:spPr>
          <a:xfrm>
            <a:off x="8020050" y="2076450"/>
            <a:ext cx="57150" cy="1028700"/>
          </a:xfrm>
          <a:prstGeom prst="rect">
            <a:avLst/>
          </a:prstGeom>
          <a:solidFill>
            <a:srgbClr val="18345C"/>
          </a:solidFill>
          <a:ln w="3175">
            <a:solidFill>
              <a:srgbClr val="18345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66" name="Grupla"/>
          <p:cNvGrpSpPr/>
          <p:nvPr/>
        </p:nvGrpSpPr>
        <p:grpSpPr>
          <a:xfrm>
            <a:off x="8210550" y="2247899"/>
            <a:ext cx="1714500" cy="152401"/>
            <a:chOff x="0" y="0"/>
            <a:chExt cx="1714500" cy="152400"/>
          </a:xfrm>
        </p:grpSpPr>
        <p:sp>
          <p:nvSpPr>
            <p:cNvPr id="564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5" name="SAYFA GÖRÜNTÜ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SAYFA GÖRÜNTÜLEME</a:t>
              </a:r>
            </a:p>
          </p:txBody>
        </p:sp>
      </p:grpSp>
      <p:grpSp>
        <p:nvGrpSpPr>
          <p:cNvPr id="569" name="Grupla"/>
          <p:cNvGrpSpPr/>
          <p:nvPr/>
        </p:nvGrpSpPr>
        <p:grpSpPr>
          <a:xfrm>
            <a:off x="8210550" y="2476499"/>
            <a:ext cx="1714500" cy="361951"/>
            <a:chOff x="0" y="0"/>
            <a:chExt cx="1714500" cy="361950"/>
          </a:xfrm>
        </p:grpSpPr>
        <p:sp>
          <p:nvSpPr>
            <p:cNvPr id="567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8" name="539K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539K</a:t>
              </a:r>
            </a:p>
          </p:txBody>
        </p:sp>
      </p:grpSp>
      <p:grpSp>
        <p:nvGrpSpPr>
          <p:cNvPr id="572" name="Grupla"/>
          <p:cNvGrpSpPr/>
          <p:nvPr/>
        </p:nvGrpSpPr>
        <p:grpSpPr>
          <a:xfrm>
            <a:off x="8210550" y="2857499"/>
            <a:ext cx="1714500" cy="171451"/>
            <a:chOff x="0" y="0"/>
            <a:chExt cx="1714500" cy="171450"/>
          </a:xfrm>
        </p:grpSpPr>
        <p:sp>
          <p:nvSpPr>
            <p:cNvPr id="570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1" name="başlangıç adımı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başlangıç adımı</a:t>
              </a:r>
            </a:p>
          </p:txBody>
        </p:sp>
      </p:grpSp>
      <p:sp>
        <p:nvSpPr>
          <p:cNvPr id="573" name="Dikdörtgen"/>
          <p:cNvSpPr/>
          <p:nvPr/>
        </p:nvSpPr>
        <p:spPr>
          <a:xfrm>
            <a:off x="8058150" y="33909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4" name="Dikdörtgen"/>
          <p:cNvSpPr/>
          <p:nvPr/>
        </p:nvSpPr>
        <p:spPr>
          <a:xfrm>
            <a:off x="8020050" y="33337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5" name="Dikdörtgen"/>
          <p:cNvSpPr/>
          <p:nvPr/>
        </p:nvSpPr>
        <p:spPr>
          <a:xfrm>
            <a:off x="8020050" y="33337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78" name="Grupla"/>
          <p:cNvGrpSpPr/>
          <p:nvPr/>
        </p:nvGrpSpPr>
        <p:grpSpPr>
          <a:xfrm>
            <a:off x="8210550" y="3505199"/>
            <a:ext cx="1714500" cy="152401"/>
            <a:chOff x="0" y="0"/>
            <a:chExt cx="1714500" cy="152400"/>
          </a:xfrm>
        </p:grpSpPr>
        <p:sp>
          <p:nvSpPr>
            <p:cNvPr id="576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7" name="SEPETE EK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SEPETE EKLEME</a:t>
              </a:r>
            </a:p>
          </p:txBody>
        </p:sp>
      </p:grpSp>
      <p:grpSp>
        <p:nvGrpSpPr>
          <p:cNvPr id="581" name="Grupla"/>
          <p:cNvGrpSpPr/>
          <p:nvPr/>
        </p:nvGrpSpPr>
        <p:grpSpPr>
          <a:xfrm>
            <a:off x="8210550" y="3733799"/>
            <a:ext cx="1714500" cy="361951"/>
            <a:chOff x="0" y="0"/>
            <a:chExt cx="1714500" cy="361950"/>
          </a:xfrm>
        </p:grpSpPr>
        <p:sp>
          <p:nvSpPr>
            <p:cNvPr id="579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0" name="26.5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26.5%</a:t>
              </a:r>
            </a:p>
          </p:txBody>
        </p:sp>
      </p:grpSp>
      <p:grpSp>
        <p:nvGrpSpPr>
          <p:cNvPr id="584" name="Grupla"/>
          <p:cNvGrpSpPr/>
          <p:nvPr/>
        </p:nvGrpSpPr>
        <p:grpSpPr>
          <a:xfrm>
            <a:off x="8210550" y="4114799"/>
            <a:ext cx="1714500" cy="171451"/>
            <a:chOff x="0" y="0"/>
            <a:chExt cx="1714500" cy="171450"/>
          </a:xfrm>
        </p:grpSpPr>
        <p:sp>
          <p:nvSpPr>
            <p:cNvPr id="582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3" name="görüntülemeden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görüntülemeden</a:t>
              </a:r>
            </a:p>
          </p:txBody>
        </p:sp>
      </p:grpSp>
      <p:sp>
        <p:nvSpPr>
          <p:cNvPr id="585" name="Dikdörtgen"/>
          <p:cNvSpPr/>
          <p:nvPr/>
        </p:nvSpPr>
        <p:spPr>
          <a:xfrm>
            <a:off x="8058150" y="46482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Dikdörtgen"/>
          <p:cNvSpPr/>
          <p:nvPr/>
        </p:nvSpPr>
        <p:spPr>
          <a:xfrm>
            <a:off x="8020050" y="45910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Dikdörtgen"/>
          <p:cNvSpPr/>
          <p:nvPr/>
        </p:nvSpPr>
        <p:spPr>
          <a:xfrm>
            <a:off x="8020050" y="45910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90" name="Grupla"/>
          <p:cNvGrpSpPr/>
          <p:nvPr/>
        </p:nvGrpSpPr>
        <p:grpSpPr>
          <a:xfrm>
            <a:off x="8210550" y="4762499"/>
            <a:ext cx="1714500" cy="152401"/>
            <a:chOff x="0" y="0"/>
            <a:chExt cx="1714500" cy="152400"/>
          </a:xfrm>
        </p:grpSpPr>
        <p:sp>
          <p:nvSpPr>
            <p:cNvPr id="588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9" name="GENEL DÖNÜŞÜ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DÖNÜŞÜM</a:t>
              </a:r>
            </a:p>
          </p:txBody>
        </p:sp>
      </p:grpSp>
      <p:grpSp>
        <p:nvGrpSpPr>
          <p:cNvPr id="593" name="Grupla"/>
          <p:cNvGrpSpPr/>
          <p:nvPr/>
        </p:nvGrpSpPr>
        <p:grpSpPr>
          <a:xfrm>
            <a:off x="8210550" y="4991099"/>
            <a:ext cx="1714500" cy="361951"/>
            <a:chOff x="0" y="0"/>
            <a:chExt cx="1714500" cy="361950"/>
          </a:xfrm>
        </p:grpSpPr>
        <p:sp>
          <p:nvSpPr>
            <p:cNvPr id="591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2" name="6.2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6.23%</a:t>
              </a:r>
            </a:p>
          </p:txBody>
        </p:sp>
      </p:grpSp>
      <p:grpSp>
        <p:nvGrpSpPr>
          <p:cNvPr id="596" name="Grupla"/>
          <p:cNvGrpSpPr/>
          <p:nvPr/>
        </p:nvGrpSpPr>
        <p:grpSpPr>
          <a:xfrm>
            <a:off x="8210550" y="5372099"/>
            <a:ext cx="1714500" cy="171451"/>
            <a:chOff x="0" y="0"/>
            <a:chExt cx="1714500" cy="171450"/>
          </a:xfrm>
        </p:grpSpPr>
        <p:sp>
          <p:nvSpPr>
            <p:cNvPr id="594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5" name="purchase/page_view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purchase/page_view</a:t>
              </a:r>
            </a:p>
          </p:txBody>
        </p:sp>
      </p:grpSp>
      <p:sp>
        <p:nvSpPr>
          <p:cNvPr id="597" name="Dikdörtgen"/>
          <p:cNvSpPr/>
          <p:nvPr/>
        </p:nvSpPr>
        <p:spPr>
          <a:xfrm>
            <a:off x="781050" y="5757862"/>
            <a:ext cx="8858250" cy="514352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00" name="Grupla"/>
          <p:cNvGrpSpPr/>
          <p:nvPr/>
        </p:nvGrpSpPr>
        <p:grpSpPr>
          <a:xfrm>
            <a:off x="933450" y="5872162"/>
            <a:ext cx="8553450" cy="342902"/>
            <a:chOff x="0" y="0"/>
            <a:chExt cx="8553450" cy="342900"/>
          </a:xfrm>
        </p:grpSpPr>
        <p:sp>
          <p:nvSpPr>
            <p:cNvPr id="598" name="Dikdörtgen"/>
            <p:cNvSpPr/>
            <p:nvPr/>
          </p:nvSpPr>
          <p:spPr>
            <a:xfrm>
              <a:off x="0" y="0"/>
              <a:ext cx="85534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9" name="Yorum: Checkout’a gelenlerin %74.8’i satın alıyor. Asıl kayıp ürün görüntülemeden sepete eklemeye geçişte."/>
            <p:cNvSpPr txBox="1"/>
            <p:nvPr/>
          </p:nvSpPr>
          <p:spPr>
            <a:xfrm>
              <a:off x="0" y="0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Yorum: Checkout’a gelenlerin %74.8’i satın alıyor. Asıl kayıp ürün görüntülemeden sepete eklemeye geçişte.</a:t>
              </a:r>
            </a:p>
          </p:txBody>
        </p:sp>
      </p:grpSp>
      <p:grpSp>
        <p:nvGrpSpPr>
          <p:cNvPr id="60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0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0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0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5" name="0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1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61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61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61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4" name="Metodoloji 3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3/5</a:t>
              </a:r>
            </a:p>
          </p:txBody>
        </p:sp>
      </p:grpSp>
      <p:grpSp>
        <p:nvGrpSpPr>
          <p:cNvPr id="61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61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617" name="Ürün bazlı analitik tablo: her satır bir ürünü temsil ede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bazlı analitik tablo: her satır bir ürünü temsil eder</a:t>
              </a:r>
            </a:p>
          </p:txBody>
        </p:sp>
      </p:grpSp>
      <p:grpSp>
        <p:nvGrpSpPr>
          <p:cNvPr id="62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61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0" name="Bu tablo ürünün genel performansını ölçer; kişisel tahmin modeli için yardımcı ürün sinyali sağ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tablo ürünün genel performansını ölçer; kişisel tahmin modeli için yardımcı ürün sinyali sağlar.</a:t>
              </a:r>
            </a:p>
          </p:txBody>
        </p:sp>
      </p:grpSp>
      <p:sp>
        <p:nvSpPr>
          <p:cNvPr id="622" name="Dikdörtgen"/>
          <p:cNvSpPr/>
          <p:nvPr/>
        </p:nvSpPr>
        <p:spPr>
          <a:xfrm>
            <a:off x="781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Dikdörtgen"/>
          <p:cNvSpPr/>
          <p:nvPr/>
        </p:nvSpPr>
        <p:spPr>
          <a:xfrm>
            <a:off x="742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4" name="Dikdörtgen"/>
          <p:cNvSpPr/>
          <p:nvPr/>
        </p:nvSpPr>
        <p:spPr>
          <a:xfrm>
            <a:off x="74295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7" name="Grupla"/>
          <p:cNvGrpSpPr/>
          <p:nvPr/>
        </p:nvGrpSpPr>
        <p:grpSpPr>
          <a:xfrm>
            <a:off x="933450" y="2171699"/>
            <a:ext cx="1809750" cy="152401"/>
            <a:chOff x="0" y="0"/>
            <a:chExt cx="1809750" cy="152400"/>
          </a:xfrm>
        </p:grpSpPr>
        <p:sp>
          <p:nvSpPr>
            <p:cNvPr id="625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6" name="TABLO BOYUTU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630" name="Grupla"/>
          <p:cNvGrpSpPr/>
          <p:nvPr/>
        </p:nvGrpSpPr>
        <p:grpSpPr>
          <a:xfrm>
            <a:off x="933450" y="2400299"/>
            <a:ext cx="1809750" cy="361951"/>
            <a:chOff x="0" y="0"/>
            <a:chExt cx="1809750" cy="361950"/>
          </a:xfrm>
        </p:grpSpPr>
        <p:sp>
          <p:nvSpPr>
            <p:cNvPr id="628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9" name="1.197 x 15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 x 15</a:t>
              </a:r>
            </a:p>
          </p:txBody>
        </p:sp>
      </p:grpSp>
      <p:grpSp>
        <p:nvGrpSpPr>
          <p:cNvPr id="633" name="Grupla"/>
          <p:cNvGrpSpPr/>
          <p:nvPr/>
        </p:nvGrpSpPr>
        <p:grpSpPr>
          <a:xfrm>
            <a:off x="933450" y="2781299"/>
            <a:ext cx="1809750" cy="171451"/>
            <a:chOff x="0" y="0"/>
            <a:chExt cx="1809750" cy="171450"/>
          </a:xfrm>
        </p:grpSpPr>
        <p:sp>
          <p:nvSpPr>
            <p:cNvPr id="631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2" name="urun_analitik.csv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urun_analitik.csv</a:t>
              </a:r>
            </a:p>
          </p:txBody>
        </p:sp>
      </p:grpSp>
      <p:sp>
        <p:nvSpPr>
          <p:cNvPr id="634" name="Dikdörtgen"/>
          <p:cNvSpPr/>
          <p:nvPr/>
        </p:nvSpPr>
        <p:spPr>
          <a:xfrm>
            <a:off x="3257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5" name="Dikdörtgen"/>
          <p:cNvSpPr/>
          <p:nvPr/>
        </p:nvSpPr>
        <p:spPr>
          <a:xfrm>
            <a:off x="3219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6" name="Dikdörtgen"/>
          <p:cNvSpPr/>
          <p:nvPr/>
        </p:nvSpPr>
        <p:spPr>
          <a:xfrm>
            <a:off x="321945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9" name="Grupla"/>
          <p:cNvGrpSpPr/>
          <p:nvPr/>
        </p:nvGrpSpPr>
        <p:grpSpPr>
          <a:xfrm>
            <a:off x="3409950" y="2171699"/>
            <a:ext cx="1809750" cy="152401"/>
            <a:chOff x="0" y="0"/>
            <a:chExt cx="1809750" cy="152400"/>
          </a:xfrm>
        </p:grpSpPr>
        <p:sp>
          <p:nvSpPr>
            <p:cNvPr id="637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8" name="EVENT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</a:t>
              </a:r>
            </a:p>
          </p:txBody>
        </p:sp>
      </p:grpSp>
      <p:grpSp>
        <p:nvGrpSpPr>
          <p:cNvPr id="642" name="Grupla"/>
          <p:cNvGrpSpPr/>
          <p:nvPr/>
        </p:nvGrpSpPr>
        <p:grpSpPr>
          <a:xfrm>
            <a:off x="3409950" y="2400299"/>
            <a:ext cx="1809750" cy="361951"/>
            <a:chOff x="0" y="0"/>
            <a:chExt cx="1809750" cy="361950"/>
          </a:xfrm>
        </p:grpSpPr>
        <p:sp>
          <p:nvSpPr>
            <p:cNvPr id="640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1" name="760.958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grpSp>
        <p:nvGrpSpPr>
          <p:cNvPr id="645" name="Grupla"/>
          <p:cNvGrpSpPr/>
          <p:nvPr/>
        </p:nvGrpSpPr>
        <p:grpSpPr>
          <a:xfrm>
            <a:off x="3409950" y="2781299"/>
            <a:ext cx="1809750" cy="171451"/>
            <a:chOff x="0" y="0"/>
            <a:chExt cx="1809750" cy="171450"/>
          </a:xfrm>
        </p:grpSpPr>
        <p:sp>
          <p:nvSpPr>
            <p:cNvPr id="643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4" name="özetlendi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özetlendi</a:t>
              </a:r>
            </a:p>
          </p:txBody>
        </p:sp>
      </p:grpSp>
      <p:sp>
        <p:nvSpPr>
          <p:cNvPr id="646" name="Dikdörtgen"/>
          <p:cNvSpPr/>
          <p:nvPr/>
        </p:nvSpPr>
        <p:spPr>
          <a:xfrm>
            <a:off x="5734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7" name="Dikdörtgen"/>
          <p:cNvSpPr/>
          <p:nvPr/>
        </p:nvSpPr>
        <p:spPr>
          <a:xfrm>
            <a:off x="5695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8" name="Dikdörtgen"/>
          <p:cNvSpPr/>
          <p:nvPr/>
        </p:nvSpPr>
        <p:spPr>
          <a:xfrm>
            <a:off x="569595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51" name="Grupla"/>
          <p:cNvGrpSpPr/>
          <p:nvPr/>
        </p:nvGrpSpPr>
        <p:grpSpPr>
          <a:xfrm>
            <a:off x="5886450" y="2171699"/>
            <a:ext cx="1809750" cy="152401"/>
            <a:chOff x="0" y="0"/>
            <a:chExt cx="1809750" cy="152400"/>
          </a:xfrm>
        </p:grpSpPr>
        <p:sp>
          <p:nvSpPr>
            <p:cNvPr id="649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0" name="SİPARİŞ KALEMİ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SİPARİŞ KALEMİ</a:t>
              </a:r>
            </a:p>
          </p:txBody>
        </p:sp>
      </p:grpSp>
      <p:grpSp>
        <p:nvGrpSpPr>
          <p:cNvPr id="654" name="Grupla"/>
          <p:cNvGrpSpPr/>
          <p:nvPr/>
        </p:nvGrpSpPr>
        <p:grpSpPr>
          <a:xfrm>
            <a:off x="5886450" y="2400299"/>
            <a:ext cx="1809750" cy="361951"/>
            <a:chOff x="0" y="0"/>
            <a:chExt cx="1809750" cy="361950"/>
          </a:xfrm>
        </p:grpSpPr>
        <p:sp>
          <p:nvSpPr>
            <p:cNvPr id="652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3" name="59.163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grpSp>
        <p:nvGrpSpPr>
          <p:cNvPr id="657" name="Grupla"/>
          <p:cNvGrpSpPr/>
          <p:nvPr/>
        </p:nvGrpSpPr>
        <p:grpSpPr>
          <a:xfrm>
            <a:off x="5886450" y="2781299"/>
            <a:ext cx="1809750" cy="171451"/>
            <a:chOff x="0" y="0"/>
            <a:chExt cx="1809750" cy="171450"/>
          </a:xfrm>
        </p:grpSpPr>
        <p:sp>
          <p:nvSpPr>
            <p:cNvPr id="655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6" name="satış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kaynağı</a:t>
              </a:r>
            </a:p>
          </p:txBody>
        </p:sp>
      </p:grpSp>
      <p:sp>
        <p:nvSpPr>
          <p:cNvPr id="658" name="Dikdörtgen"/>
          <p:cNvSpPr/>
          <p:nvPr/>
        </p:nvSpPr>
        <p:spPr>
          <a:xfrm>
            <a:off x="8210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9" name="Dikdörtgen"/>
          <p:cNvSpPr/>
          <p:nvPr/>
        </p:nvSpPr>
        <p:spPr>
          <a:xfrm>
            <a:off x="8172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0" name="Dikdörtgen"/>
          <p:cNvSpPr/>
          <p:nvPr/>
        </p:nvSpPr>
        <p:spPr>
          <a:xfrm>
            <a:off x="8172450" y="2000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63" name="Grupla"/>
          <p:cNvGrpSpPr/>
          <p:nvPr/>
        </p:nvGrpSpPr>
        <p:grpSpPr>
          <a:xfrm>
            <a:off x="8362950" y="2171699"/>
            <a:ext cx="1809750" cy="152401"/>
            <a:chOff x="0" y="0"/>
            <a:chExt cx="1809750" cy="152400"/>
          </a:xfrm>
        </p:grpSpPr>
        <p:sp>
          <p:nvSpPr>
            <p:cNvPr id="661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2" name="YORUM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</a:t>
              </a:r>
            </a:p>
          </p:txBody>
        </p:sp>
      </p:grpSp>
      <p:grpSp>
        <p:nvGrpSpPr>
          <p:cNvPr id="666" name="Grupla"/>
          <p:cNvGrpSpPr/>
          <p:nvPr/>
        </p:nvGrpSpPr>
        <p:grpSpPr>
          <a:xfrm>
            <a:off x="8362950" y="2400299"/>
            <a:ext cx="1809750" cy="361951"/>
            <a:chOff x="0" y="0"/>
            <a:chExt cx="1809750" cy="361950"/>
          </a:xfrm>
        </p:grpSpPr>
        <p:sp>
          <p:nvSpPr>
            <p:cNvPr id="664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5" name="10.780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grpSp>
        <p:nvGrpSpPr>
          <p:cNvPr id="669" name="Grupla"/>
          <p:cNvGrpSpPr/>
          <p:nvPr/>
        </p:nvGrpSpPr>
        <p:grpSpPr>
          <a:xfrm>
            <a:off x="8362950" y="2781299"/>
            <a:ext cx="1809750" cy="171451"/>
            <a:chOff x="0" y="0"/>
            <a:chExt cx="1809750" cy="171450"/>
          </a:xfrm>
        </p:grpSpPr>
        <p:sp>
          <p:nvSpPr>
            <p:cNvPr id="667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8" name="duygu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kaynağı</a:t>
              </a:r>
            </a:p>
          </p:txBody>
        </p:sp>
      </p:grpSp>
      <p:sp>
        <p:nvSpPr>
          <p:cNvPr id="670" name="Dikdörtgen"/>
          <p:cNvSpPr/>
          <p:nvPr/>
        </p:nvSpPr>
        <p:spPr>
          <a:xfrm>
            <a:off x="895350" y="3676650"/>
            <a:ext cx="4953000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1" name="Dikdörtgen"/>
          <p:cNvSpPr/>
          <p:nvPr/>
        </p:nvSpPr>
        <p:spPr>
          <a:xfrm>
            <a:off x="857250" y="3619500"/>
            <a:ext cx="4953000" cy="16192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74" name="Grupla"/>
          <p:cNvGrpSpPr/>
          <p:nvPr/>
        </p:nvGrpSpPr>
        <p:grpSpPr>
          <a:xfrm>
            <a:off x="1028700" y="3752849"/>
            <a:ext cx="4610100" cy="190501"/>
            <a:chOff x="0" y="0"/>
            <a:chExt cx="4610100" cy="190500"/>
          </a:xfrm>
        </p:grpSpPr>
        <p:sp>
          <p:nvSpPr>
            <p:cNvPr id="672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73" name="Ürün tablosu birleştirme kodu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tablosu birleştirme kodu</a:t>
              </a:r>
            </a:p>
          </p:txBody>
        </p:sp>
      </p:grpSp>
      <p:grpSp>
        <p:nvGrpSpPr>
          <p:cNvPr id="677" name="Grupla"/>
          <p:cNvGrpSpPr/>
          <p:nvPr/>
        </p:nvGrpSpPr>
        <p:grpSpPr>
          <a:xfrm>
            <a:off x="1028700" y="4019549"/>
            <a:ext cx="4610100" cy="1123951"/>
            <a:chOff x="0" y="0"/>
            <a:chExt cx="4610100" cy="1123950"/>
          </a:xfrm>
        </p:grpSpPr>
        <p:sp>
          <p:nvSpPr>
            <p:cNvPr id="675" name="Dikdörtgen"/>
            <p:cNvSpPr/>
            <p:nvPr/>
          </p:nvSpPr>
          <p:spPr>
            <a:xfrm>
              <a:off x="0" y="0"/>
              <a:ext cx="4610100" cy="1123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676" name="urun_analitik = 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urun_analitik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products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.merge(event_sayilari,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.merge(satislar,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.merge(yorumlar,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678" name="Kare"/>
          <p:cNvSpPr/>
          <p:nvPr/>
        </p:nvSpPr>
        <p:spPr>
          <a:xfrm>
            <a:off x="6477000" y="3762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1" name="Grupla"/>
          <p:cNvGrpSpPr/>
          <p:nvPr/>
        </p:nvGrpSpPr>
        <p:grpSpPr>
          <a:xfrm>
            <a:off x="6648450" y="3695699"/>
            <a:ext cx="4210050" cy="400051"/>
            <a:chOff x="0" y="0"/>
            <a:chExt cx="4210050" cy="400050"/>
          </a:xfrm>
        </p:grpSpPr>
        <p:sp>
          <p:nvSpPr>
            <p:cNvPr id="679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0" name="page_view ve add_to_cart eventlerde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 ve add_to_cart eventlerden gelir.</a:t>
              </a:r>
            </a:p>
          </p:txBody>
        </p:sp>
      </p:grpSp>
      <p:sp>
        <p:nvSpPr>
          <p:cNvPr id="682" name="Kare"/>
          <p:cNvSpPr/>
          <p:nvPr/>
        </p:nvSpPr>
        <p:spPr>
          <a:xfrm>
            <a:off x="6477000" y="4124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5" name="Grupla"/>
          <p:cNvGrpSpPr/>
          <p:nvPr/>
        </p:nvGrpSpPr>
        <p:grpSpPr>
          <a:xfrm>
            <a:off x="6648450" y="4057649"/>
            <a:ext cx="4210050" cy="400051"/>
            <a:chOff x="0" y="0"/>
            <a:chExt cx="4210050" cy="400050"/>
          </a:xfrm>
        </p:grpSpPr>
        <p:sp>
          <p:nvSpPr>
            <p:cNvPr id="683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4" name="satis_adedi ve gelir order_item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satis_adedi ve gelir order_items tablosundan gelir.</a:t>
              </a:r>
            </a:p>
          </p:txBody>
        </p:sp>
      </p:grpSp>
      <p:sp>
        <p:nvSpPr>
          <p:cNvPr id="686" name="Kare"/>
          <p:cNvSpPr/>
          <p:nvPr/>
        </p:nvSpPr>
        <p:spPr>
          <a:xfrm>
            <a:off x="6477000" y="44862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9" name="Grupla"/>
          <p:cNvGrpSpPr/>
          <p:nvPr/>
        </p:nvGrpSpPr>
        <p:grpSpPr>
          <a:xfrm>
            <a:off x="6648450" y="4419599"/>
            <a:ext cx="4210050" cy="400051"/>
            <a:chOff x="0" y="0"/>
            <a:chExt cx="4210050" cy="400050"/>
          </a:xfrm>
        </p:grpSpPr>
        <p:sp>
          <p:nvSpPr>
            <p:cNvPr id="687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8" name="ort_rating ve yorum_sayisi review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 ve yorum_sayisi reviews tablosundan gelir.</a:t>
              </a:r>
            </a:p>
          </p:txBody>
        </p:sp>
      </p:grpSp>
      <p:sp>
        <p:nvSpPr>
          <p:cNvPr id="690" name="Kare"/>
          <p:cNvSpPr/>
          <p:nvPr/>
        </p:nvSpPr>
        <p:spPr>
          <a:xfrm>
            <a:off x="6477000" y="48482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93" name="Grupla"/>
          <p:cNvGrpSpPr/>
          <p:nvPr/>
        </p:nvGrpSpPr>
        <p:grpSpPr>
          <a:xfrm>
            <a:off x="6648450" y="4781549"/>
            <a:ext cx="4210050" cy="400051"/>
            <a:chOff x="0" y="0"/>
            <a:chExt cx="4210050" cy="400050"/>
          </a:xfrm>
        </p:grpSpPr>
        <p:sp>
          <p:nvSpPr>
            <p:cNvPr id="691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2" name="sepet_orani ve satis_orani bu özet tablodan türeti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sepet_orani ve satis_orani bu özet tablodan türetilir.</a:t>
              </a:r>
            </a:p>
          </p:txBody>
        </p:sp>
      </p:grpSp>
      <p:grpSp>
        <p:nvGrpSpPr>
          <p:cNvPr id="69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9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9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9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8" name="0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0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0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0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0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7" name="Metodoloji 4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4/5</a:t>
              </a:r>
            </a:p>
          </p:txBody>
        </p:sp>
      </p:grpSp>
      <p:grpSp>
        <p:nvGrpSpPr>
          <p:cNvPr id="71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0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10" name="Duygu analizi VADER + rating hibrit yöntemiyle yapıl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Duygu analizi VADER + rating hibrit yöntemiyle yapıldı</a:t>
              </a:r>
            </a:p>
          </p:txBody>
        </p:sp>
      </p:grpSp>
      <p:grpSp>
        <p:nvGrpSpPr>
          <p:cNvPr id="71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1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3" name="Bu veri setinde yorum metinleri kısa ve tekrarlı olduğu için rating bilgisi karar kuralına özellikle eklen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veri setinde yorum metinleri kısa ve tekrarlı olduğu için rating bilgisi karar kuralına özellikle eklendi.</a:t>
              </a:r>
            </a:p>
          </p:txBody>
        </p:sp>
      </p:grpSp>
      <p:pic>
        <p:nvPicPr>
          <p:cNvPr id="715" name="image5.png" descr="image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4289" y="2089545"/>
            <a:ext cx="5512590" cy="2447927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Dikdörtgen"/>
          <p:cNvSpPr/>
          <p:nvPr/>
        </p:nvSpPr>
        <p:spPr>
          <a:xfrm>
            <a:off x="6482815" y="2151459"/>
            <a:ext cx="3732650" cy="23241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Dikdörtgen"/>
          <p:cNvSpPr/>
          <p:nvPr/>
        </p:nvSpPr>
        <p:spPr>
          <a:xfrm>
            <a:off x="6444715" y="2094309"/>
            <a:ext cx="3726300" cy="232410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0" name="Grupla"/>
          <p:cNvGrpSpPr/>
          <p:nvPr/>
        </p:nvGrpSpPr>
        <p:grpSpPr>
          <a:xfrm>
            <a:off x="6616165" y="2227658"/>
            <a:ext cx="4991102" cy="190502"/>
            <a:chOff x="0" y="0"/>
            <a:chExt cx="4991101" cy="190501"/>
          </a:xfrm>
        </p:grpSpPr>
        <p:sp>
          <p:nvSpPr>
            <p:cNvPr id="718" name="Dikdörtgen"/>
            <p:cNvSpPr/>
            <p:nvPr/>
          </p:nvSpPr>
          <p:spPr>
            <a:xfrm>
              <a:off x="-1" y="-1"/>
              <a:ext cx="4991103" cy="1905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9" name="Duygu etiketi üretimi"/>
            <p:cNvSpPr txBox="1"/>
            <p:nvPr/>
          </p:nvSpPr>
          <p:spPr>
            <a:xfrm>
              <a:off x="-1" y="-1"/>
              <a:ext cx="499110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etiketi üretimi</a:t>
              </a:r>
            </a:p>
          </p:txBody>
        </p:sp>
      </p:grpSp>
      <p:grpSp>
        <p:nvGrpSpPr>
          <p:cNvPr id="723" name="Grupla"/>
          <p:cNvGrpSpPr/>
          <p:nvPr/>
        </p:nvGrpSpPr>
        <p:grpSpPr>
          <a:xfrm>
            <a:off x="6643378" y="2497849"/>
            <a:ext cx="4917626" cy="1801880"/>
            <a:chOff x="0" y="0"/>
            <a:chExt cx="4917625" cy="1801878"/>
          </a:xfrm>
        </p:grpSpPr>
        <p:sp>
          <p:nvSpPr>
            <p:cNvPr id="721" name="Dikdörtgen"/>
            <p:cNvSpPr/>
            <p:nvPr/>
          </p:nvSpPr>
          <p:spPr>
            <a:xfrm>
              <a:off x="-1" y="0"/>
              <a:ext cx="4917626" cy="1801879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22" name="compound = analizci.polarity_scores(metin)[&quot;compound&quot;]…"/>
            <p:cNvSpPr txBox="1"/>
            <p:nvPr/>
          </p:nvSpPr>
          <p:spPr>
            <a:xfrm>
              <a:off x="-1" y="0"/>
              <a:ext cx="4917626" cy="1219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compound = analizci.polarity_scores(metin)["compound"]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if compound &gt; 0.3 and rating &gt;= 4: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"positive"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elif compound &lt; -0.1 or rating &lt;= 2: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"negative"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else: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"neutral"</a:t>
              </a:r>
            </a:p>
          </p:txBody>
        </p:sp>
      </p:grpSp>
      <p:sp>
        <p:nvSpPr>
          <p:cNvPr id="724" name="Dikdörtgen"/>
          <p:cNvSpPr/>
          <p:nvPr/>
        </p:nvSpPr>
        <p:spPr>
          <a:xfrm>
            <a:off x="1986269" y="4715867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Dikdörtgen"/>
          <p:cNvSpPr/>
          <p:nvPr/>
        </p:nvSpPr>
        <p:spPr>
          <a:xfrm>
            <a:off x="1948169" y="4658717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Dikdörtgen"/>
          <p:cNvSpPr/>
          <p:nvPr/>
        </p:nvSpPr>
        <p:spPr>
          <a:xfrm>
            <a:off x="1948169" y="4658717"/>
            <a:ext cx="57152" cy="1028702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9" name="Grupla"/>
          <p:cNvGrpSpPr/>
          <p:nvPr/>
        </p:nvGrpSpPr>
        <p:grpSpPr>
          <a:xfrm>
            <a:off x="2138669" y="4830167"/>
            <a:ext cx="1238252" cy="152402"/>
            <a:chOff x="0" y="0"/>
            <a:chExt cx="1238251" cy="152401"/>
          </a:xfrm>
        </p:grpSpPr>
        <p:sp>
          <p:nvSpPr>
            <p:cNvPr id="727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28" name="POZİTİF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POZİTİF</a:t>
              </a:r>
            </a:p>
          </p:txBody>
        </p:sp>
      </p:grpSp>
      <p:grpSp>
        <p:nvGrpSpPr>
          <p:cNvPr id="732" name="Grupla"/>
          <p:cNvGrpSpPr/>
          <p:nvPr/>
        </p:nvGrpSpPr>
        <p:grpSpPr>
          <a:xfrm>
            <a:off x="2138669" y="5058767"/>
            <a:ext cx="1238252" cy="361952"/>
            <a:chOff x="0" y="0"/>
            <a:chExt cx="1238251" cy="361950"/>
          </a:xfrm>
        </p:grpSpPr>
        <p:sp>
          <p:nvSpPr>
            <p:cNvPr id="730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1" name="7.62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7.620</a:t>
              </a:r>
            </a:p>
          </p:txBody>
        </p:sp>
      </p:grpSp>
      <p:grpSp>
        <p:nvGrpSpPr>
          <p:cNvPr id="735" name="Grupla"/>
          <p:cNvGrpSpPr/>
          <p:nvPr/>
        </p:nvGrpSpPr>
        <p:grpSpPr>
          <a:xfrm>
            <a:off x="2138669" y="5439767"/>
            <a:ext cx="1238252" cy="171452"/>
            <a:chOff x="0" y="0"/>
            <a:chExt cx="1238251" cy="171451"/>
          </a:xfrm>
        </p:grpSpPr>
        <p:sp>
          <p:nvSpPr>
            <p:cNvPr id="733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4" name="%70.7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%70.7</a:t>
              </a:r>
            </a:p>
          </p:txBody>
        </p:sp>
      </p:grpSp>
      <p:sp>
        <p:nvSpPr>
          <p:cNvPr id="736" name="Dikdörtgen"/>
          <p:cNvSpPr/>
          <p:nvPr/>
        </p:nvSpPr>
        <p:spPr>
          <a:xfrm>
            <a:off x="4671371" y="4709021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7" name="Dikdörtgen"/>
          <p:cNvSpPr/>
          <p:nvPr/>
        </p:nvSpPr>
        <p:spPr>
          <a:xfrm>
            <a:off x="4633271" y="4651871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8" name="Dikdörtgen"/>
          <p:cNvSpPr/>
          <p:nvPr/>
        </p:nvSpPr>
        <p:spPr>
          <a:xfrm>
            <a:off x="4633271" y="4651871"/>
            <a:ext cx="57152" cy="1028702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41" name="Grupla"/>
          <p:cNvGrpSpPr/>
          <p:nvPr/>
        </p:nvGrpSpPr>
        <p:grpSpPr>
          <a:xfrm>
            <a:off x="4823771" y="4823321"/>
            <a:ext cx="1238252" cy="152402"/>
            <a:chOff x="0" y="0"/>
            <a:chExt cx="1238251" cy="152401"/>
          </a:xfrm>
        </p:grpSpPr>
        <p:sp>
          <p:nvSpPr>
            <p:cNvPr id="739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0" name="NÖTR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NÖTR</a:t>
              </a:r>
            </a:p>
          </p:txBody>
        </p:sp>
      </p:grpSp>
      <p:grpSp>
        <p:nvGrpSpPr>
          <p:cNvPr id="744" name="Grupla"/>
          <p:cNvGrpSpPr/>
          <p:nvPr/>
        </p:nvGrpSpPr>
        <p:grpSpPr>
          <a:xfrm>
            <a:off x="4823771" y="5051921"/>
            <a:ext cx="1238252" cy="361952"/>
            <a:chOff x="0" y="0"/>
            <a:chExt cx="1238251" cy="361950"/>
          </a:xfrm>
        </p:grpSpPr>
        <p:sp>
          <p:nvSpPr>
            <p:cNvPr id="742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3" name="1.98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1.980</a:t>
              </a:r>
            </a:p>
          </p:txBody>
        </p:sp>
      </p:grpSp>
      <p:grpSp>
        <p:nvGrpSpPr>
          <p:cNvPr id="747" name="Grupla"/>
          <p:cNvGrpSpPr/>
          <p:nvPr/>
        </p:nvGrpSpPr>
        <p:grpSpPr>
          <a:xfrm>
            <a:off x="4823771" y="5432921"/>
            <a:ext cx="1238252" cy="171452"/>
            <a:chOff x="0" y="0"/>
            <a:chExt cx="1238251" cy="171451"/>
          </a:xfrm>
        </p:grpSpPr>
        <p:sp>
          <p:nvSpPr>
            <p:cNvPr id="745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6" name="%18.4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%18.4</a:t>
              </a:r>
            </a:p>
          </p:txBody>
        </p:sp>
      </p:grpSp>
      <p:sp>
        <p:nvSpPr>
          <p:cNvPr id="748" name="Dikdörtgen"/>
          <p:cNvSpPr/>
          <p:nvPr/>
        </p:nvSpPr>
        <p:spPr>
          <a:xfrm>
            <a:off x="7359650" y="4722712"/>
            <a:ext cx="1619250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9" name="Dikdörtgen"/>
          <p:cNvSpPr/>
          <p:nvPr/>
        </p:nvSpPr>
        <p:spPr>
          <a:xfrm>
            <a:off x="7321550" y="4665562"/>
            <a:ext cx="1619250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Dikdörtgen"/>
          <p:cNvSpPr/>
          <p:nvPr/>
        </p:nvSpPr>
        <p:spPr>
          <a:xfrm>
            <a:off x="7321550" y="4665562"/>
            <a:ext cx="57150" cy="1028702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3" name="Grupla"/>
          <p:cNvGrpSpPr/>
          <p:nvPr/>
        </p:nvGrpSpPr>
        <p:grpSpPr>
          <a:xfrm>
            <a:off x="7512050" y="4837012"/>
            <a:ext cx="1238250" cy="152402"/>
            <a:chOff x="0" y="0"/>
            <a:chExt cx="1238250" cy="152401"/>
          </a:xfrm>
        </p:grpSpPr>
        <p:sp>
          <p:nvSpPr>
            <p:cNvPr id="751" name="Dikdörtgen"/>
            <p:cNvSpPr/>
            <p:nvPr/>
          </p:nvSpPr>
          <p:spPr>
            <a:xfrm>
              <a:off x="0" y="-1"/>
              <a:ext cx="1238250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2" name="NEGATİF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NEGATİF</a:t>
              </a:r>
            </a:p>
          </p:txBody>
        </p:sp>
      </p:grpSp>
      <p:grpSp>
        <p:nvGrpSpPr>
          <p:cNvPr id="756" name="Grupla"/>
          <p:cNvGrpSpPr/>
          <p:nvPr/>
        </p:nvGrpSpPr>
        <p:grpSpPr>
          <a:xfrm>
            <a:off x="7512050" y="5065612"/>
            <a:ext cx="1238250" cy="361952"/>
            <a:chOff x="0" y="0"/>
            <a:chExt cx="1238250" cy="361950"/>
          </a:xfrm>
        </p:grpSpPr>
        <p:sp>
          <p:nvSpPr>
            <p:cNvPr id="754" name="Dikdörtgen"/>
            <p:cNvSpPr/>
            <p:nvPr/>
          </p:nvSpPr>
          <p:spPr>
            <a:xfrm>
              <a:off x="0" y="0"/>
              <a:ext cx="123825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5" name="1.180"/>
            <p:cNvSpPr txBox="1"/>
            <p:nvPr/>
          </p:nvSpPr>
          <p:spPr>
            <a:xfrm>
              <a:off x="0" y="-1"/>
              <a:ext cx="1238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1.180</a:t>
              </a:r>
            </a:p>
          </p:txBody>
        </p:sp>
      </p:grpSp>
      <p:grpSp>
        <p:nvGrpSpPr>
          <p:cNvPr id="759" name="Grupla"/>
          <p:cNvGrpSpPr/>
          <p:nvPr/>
        </p:nvGrpSpPr>
        <p:grpSpPr>
          <a:xfrm>
            <a:off x="7512050" y="5446612"/>
            <a:ext cx="1238250" cy="171452"/>
            <a:chOff x="0" y="0"/>
            <a:chExt cx="1238250" cy="171451"/>
          </a:xfrm>
        </p:grpSpPr>
        <p:sp>
          <p:nvSpPr>
            <p:cNvPr id="757" name="Dikdörtgen"/>
            <p:cNvSpPr/>
            <p:nvPr/>
          </p:nvSpPr>
          <p:spPr>
            <a:xfrm>
              <a:off x="0" y="-1"/>
              <a:ext cx="1238250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8" name="%10.9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%10.9</a:t>
              </a:r>
            </a:p>
          </p:txBody>
        </p:sp>
      </p:grpSp>
      <p:sp>
        <p:nvSpPr>
          <p:cNvPr id="760" name="Dikdörtgen"/>
          <p:cNvSpPr/>
          <p:nvPr/>
        </p:nvSpPr>
        <p:spPr>
          <a:xfrm>
            <a:off x="723899" y="5867400"/>
            <a:ext cx="9437997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63" name="Grupla"/>
          <p:cNvGrpSpPr/>
          <p:nvPr/>
        </p:nvGrpSpPr>
        <p:grpSpPr>
          <a:xfrm>
            <a:off x="3400425" y="6015830"/>
            <a:ext cx="9029700" cy="285752"/>
            <a:chOff x="0" y="0"/>
            <a:chExt cx="9029700" cy="285750"/>
          </a:xfrm>
        </p:grpSpPr>
        <p:sp>
          <p:nvSpPr>
            <p:cNvPr id="761" name="Dikdörtgen"/>
            <p:cNvSpPr/>
            <p:nvPr/>
          </p:nvSpPr>
          <p:spPr>
            <a:xfrm>
              <a:off x="0" y="0"/>
              <a:ext cx="90297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2" name="Bu sunumda duygu analizi yöntemi VADER + rating hibrittir."/>
            <p:cNvSpPr txBox="1"/>
            <p:nvPr/>
          </p:nvSpPr>
          <p:spPr>
            <a:xfrm>
              <a:off x="0" y="0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sunumda duygu analizi yöntemi VADER + rating hibrittir.</a:t>
              </a:r>
            </a:p>
          </p:txBody>
        </p:sp>
      </p:grpSp>
      <p:grpSp>
        <p:nvGrpSpPr>
          <p:cNvPr id="76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76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76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76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8" name="0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7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7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7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7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7" name="Metodoloji 5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5/5</a:t>
              </a:r>
            </a:p>
          </p:txBody>
        </p:sp>
      </p:grpSp>
      <p:grpSp>
        <p:nvGrpSpPr>
          <p:cNvPr id="78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7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80" name="Genel ürün öneri skoru şeffaf bir ağırlıklı formülle hesapla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Genel ürün öneri skoru şeffaf bir ağırlıklı formülle hesaplandı</a:t>
              </a:r>
            </a:p>
          </p:txBody>
        </p:sp>
      </p:grpSp>
      <p:grpSp>
        <p:nvGrpSpPr>
          <p:cNvPr id="78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8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3" name="Skor, ürünün satış, ilgi, memnuniyet, duygu, gelir ve marj sinyallerini tek puanda top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Skor, ürünün satış, ilgi, memnuniyet, duygu, gelir ve marj sinyallerini tek puanda toplar.</a:t>
              </a:r>
            </a:p>
          </p:txBody>
        </p:sp>
      </p:grpSp>
      <p:sp>
        <p:nvSpPr>
          <p:cNvPr id="785" name="Dikdörtgen"/>
          <p:cNvSpPr/>
          <p:nvPr/>
        </p:nvSpPr>
        <p:spPr>
          <a:xfrm>
            <a:off x="647700" y="2057400"/>
            <a:ext cx="5619750" cy="2952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6" name="Dikdörtgen"/>
          <p:cNvSpPr/>
          <p:nvPr/>
        </p:nvSpPr>
        <p:spPr>
          <a:xfrm>
            <a:off x="609600" y="2000250"/>
            <a:ext cx="5619750" cy="29527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89" name="Grupla"/>
          <p:cNvGrpSpPr/>
          <p:nvPr/>
        </p:nvGrpSpPr>
        <p:grpSpPr>
          <a:xfrm>
            <a:off x="781050" y="2133599"/>
            <a:ext cx="5276850" cy="190501"/>
            <a:chOff x="0" y="0"/>
            <a:chExt cx="5276850" cy="190500"/>
          </a:xfrm>
        </p:grpSpPr>
        <p:sp>
          <p:nvSpPr>
            <p:cNvPr id="787" name="Dikdörtgen"/>
            <p:cNvSpPr/>
            <p:nvPr/>
          </p:nvSpPr>
          <p:spPr>
            <a:xfrm>
              <a:off x="0" y="0"/>
              <a:ext cx="52768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8" name="Öneri skoru ve hedef etiket"/>
            <p:cNvSpPr txBox="1"/>
            <p:nvPr/>
          </p:nvSpPr>
          <p:spPr>
            <a:xfrm>
              <a:off x="0" y="-1"/>
              <a:ext cx="52768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skoru ve hedef etiket</a:t>
              </a:r>
            </a:p>
          </p:txBody>
        </p:sp>
      </p:grpSp>
      <p:grpSp>
        <p:nvGrpSpPr>
          <p:cNvPr id="792" name="Grupla"/>
          <p:cNvGrpSpPr/>
          <p:nvPr/>
        </p:nvGrpSpPr>
        <p:grpSpPr>
          <a:xfrm>
            <a:off x="781050" y="2400299"/>
            <a:ext cx="5276850" cy="2457451"/>
            <a:chOff x="0" y="0"/>
            <a:chExt cx="5276850" cy="2457450"/>
          </a:xfrm>
        </p:grpSpPr>
        <p:sp>
          <p:nvSpPr>
            <p:cNvPr id="790" name="Dikdörtgen"/>
            <p:cNvSpPr/>
            <p:nvPr/>
          </p:nvSpPr>
          <p:spPr>
            <a:xfrm>
              <a:off x="0" y="0"/>
              <a:ext cx="5276850" cy="2457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91" name="veri[&quot;oneri_skoru&quot;] = (…"/>
            <p:cNvSpPr txBox="1"/>
            <p:nvPr/>
          </p:nvSpPr>
          <p:spPr>
            <a:xfrm>
              <a:off x="0" y="-1"/>
              <a:ext cx="527685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veri["oneri_skoru"]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norm(satis_orani)  * 0.28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norm(ort_rating)   * 0.20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norm(sepet_orani) 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norm(pozitif_oran)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norm(gelir)        * 0.08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norm(margin_usd)   * 0.08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esik = veri["oneri_skoru"].quantile(0.70)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veri["onerilir"] = (veri["oneri_skoru"] &gt;= esik).astype(int)</a:t>
              </a:r>
            </a:p>
          </p:txBody>
        </p:sp>
      </p:grpSp>
      <p:pic>
        <p:nvPicPr>
          <p:cNvPr id="793" name="image6.png" descr="image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54366" y="2013024"/>
            <a:ext cx="5118120" cy="212869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Dikdörtgen"/>
          <p:cNvSpPr/>
          <p:nvPr/>
        </p:nvSpPr>
        <p:spPr>
          <a:xfrm>
            <a:off x="699135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5" name="Dikdörtgen"/>
          <p:cNvSpPr/>
          <p:nvPr/>
        </p:nvSpPr>
        <p:spPr>
          <a:xfrm>
            <a:off x="695325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6" name="Dikdörtgen"/>
          <p:cNvSpPr/>
          <p:nvPr/>
        </p:nvSpPr>
        <p:spPr>
          <a:xfrm>
            <a:off x="6953250" y="47625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99" name="Grupla"/>
          <p:cNvGrpSpPr/>
          <p:nvPr/>
        </p:nvGrpSpPr>
        <p:grpSpPr>
          <a:xfrm>
            <a:off x="7143750" y="4933949"/>
            <a:ext cx="1619250" cy="152401"/>
            <a:chOff x="0" y="0"/>
            <a:chExt cx="1619250" cy="152400"/>
          </a:xfrm>
        </p:grpSpPr>
        <p:sp>
          <p:nvSpPr>
            <p:cNvPr id="797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98" name="ÖNERİLİR ÜRÜN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ÖNERİLİR ÜRÜN</a:t>
              </a:r>
            </a:p>
          </p:txBody>
        </p:sp>
      </p:grpSp>
      <p:grpSp>
        <p:nvGrpSpPr>
          <p:cNvPr id="802" name="Grupla"/>
          <p:cNvGrpSpPr/>
          <p:nvPr/>
        </p:nvGrpSpPr>
        <p:grpSpPr>
          <a:xfrm>
            <a:off x="7143750" y="5162549"/>
            <a:ext cx="1619250" cy="361951"/>
            <a:chOff x="0" y="0"/>
            <a:chExt cx="1619250" cy="361950"/>
          </a:xfrm>
        </p:grpSpPr>
        <p:sp>
          <p:nvSpPr>
            <p:cNvPr id="800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1" name="35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359</a:t>
              </a:r>
            </a:p>
          </p:txBody>
        </p:sp>
      </p:grpSp>
      <p:grpSp>
        <p:nvGrpSpPr>
          <p:cNvPr id="805" name="Grupla"/>
          <p:cNvGrpSpPr/>
          <p:nvPr/>
        </p:nvGrpSpPr>
        <p:grpSpPr>
          <a:xfrm>
            <a:off x="7143750" y="5543549"/>
            <a:ext cx="1619250" cy="171451"/>
            <a:chOff x="0" y="0"/>
            <a:chExt cx="1619250" cy="171450"/>
          </a:xfrm>
        </p:grpSpPr>
        <p:sp>
          <p:nvSpPr>
            <p:cNvPr id="803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4" name="üst %30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üst %30</a:t>
              </a:r>
            </a:p>
          </p:txBody>
        </p:sp>
      </p:grpSp>
      <p:sp>
        <p:nvSpPr>
          <p:cNvPr id="806" name="Dikdörtgen"/>
          <p:cNvSpPr/>
          <p:nvPr/>
        </p:nvSpPr>
        <p:spPr>
          <a:xfrm>
            <a:off x="918210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7" name="Dikdörtgen"/>
          <p:cNvSpPr/>
          <p:nvPr/>
        </p:nvSpPr>
        <p:spPr>
          <a:xfrm>
            <a:off x="914400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8" name="Dikdörtgen"/>
          <p:cNvSpPr/>
          <p:nvPr/>
        </p:nvSpPr>
        <p:spPr>
          <a:xfrm>
            <a:off x="9144000" y="47625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11" name="Grupla"/>
          <p:cNvGrpSpPr/>
          <p:nvPr/>
        </p:nvGrpSpPr>
        <p:grpSpPr>
          <a:xfrm>
            <a:off x="9334500" y="4933949"/>
            <a:ext cx="1619250" cy="152401"/>
            <a:chOff x="0" y="0"/>
            <a:chExt cx="1619250" cy="152400"/>
          </a:xfrm>
        </p:grpSpPr>
        <p:sp>
          <p:nvSpPr>
            <p:cNvPr id="809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0" name="ORT. SKOR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ORT. SKOR</a:t>
              </a:r>
            </a:p>
          </p:txBody>
        </p:sp>
      </p:grpSp>
      <p:grpSp>
        <p:nvGrpSpPr>
          <p:cNvPr id="814" name="Grupla"/>
          <p:cNvGrpSpPr/>
          <p:nvPr/>
        </p:nvGrpSpPr>
        <p:grpSpPr>
          <a:xfrm>
            <a:off x="9334500" y="5162549"/>
            <a:ext cx="1619250" cy="361951"/>
            <a:chOff x="0" y="0"/>
            <a:chExt cx="1619250" cy="361950"/>
          </a:xfrm>
        </p:grpSpPr>
        <p:sp>
          <p:nvSpPr>
            <p:cNvPr id="812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3" name="0.56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0.569</a:t>
              </a:r>
            </a:p>
          </p:txBody>
        </p:sp>
      </p:grpSp>
      <p:grpSp>
        <p:nvGrpSpPr>
          <p:cNvPr id="817" name="Grupla"/>
          <p:cNvGrpSpPr/>
          <p:nvPr/>
        </p:nvGrpSpPr>
        <p:grpSpPr>
          <a:xfrm>
            <a:off x="9334500" y="5543549"/>
            <a:ext cx="1619250" cy="171451"/>
            <a:chOff x="0" y="0"/>
            <a:chExt cx="1619250" cy="171450"/>
          </a:xfrm>
        </p:grpSpPr>
        <p:sp>
          <p:nvSpPr>
            <p:cNvPr id="815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6" name="maks. 0.796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maks. 0.796</a:t>
              </a:r>
            </a:p>
          </p:txBody>
        </p:sp>
      </p:grpSp>
      <p:sp>
        <p:nvSpPr>
          <p:cNvPr id="818" name="Dikdörtgen"/>
          <p:cNvSpPr/>
          <p:nvPr/>
        </p:nvSpPr>
        <p:spPr>
          <a:xfrm>
            <a:off x="622681" y="5992000"/>
            <a:ext cx="8763001" cy="447677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21" name="Grupla"/>
          <p:cNvGrpSpPr/>
          <p:nvPr/>
        </p:nvGrpSpPr>
        <p:grpSpPr>
          <a:xfrm>
            <a:off x="775081" y="6106300"/>
            <a:ext cx="8458201" cy="342902"/>
            <a:chOff x="0" y="0"/>
            <a:chExt cx="8458200" cy="342900"/>
          </a:xfrm>
        </p:grpSpPr>
        <p:sp>
          <p:nvSpPr>
            <p:cNvPr id="819" name="Dikdörtgen"/>
            <p:cNvSpPr/>
            <p:nvPr/>
          </p:nvSpPr>
          <p:spPr>
            <a:xfrm>
              <a:off x="0" y="0"/>
              <a:ext cx="8458201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0" name="Bu skor genel ürün gücünü gösterir. Kişiye özel model ise aynı ürünleri müşteri davranışıyla yeniden sıralar."/>
            <p:cNvSpPr txBox="1"/>
            <p:nvPr/>
          </p:nvSpPr>
          <p:spPr>
            <a:xfrm>
              <a:off x="0" y="0"/>
              <a:ext cx="8458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skor genel ürün gücünü gösterir. Kişiye özel model ise aynı ürünleri müşteri davranışıyla yeniden sıralar.</a:t>
              </a:r>
            </a:p>
          </p:txBody>
        </p:sp>
      </p:grpSp>
      <p:grpSp>
        <p:nvGrpSpPr>
          <p:cNvPr id="82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2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2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2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6" name="0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3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83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83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5" name="Öneri Mantı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Mantığı</a:t>
              </a:r>
            </a:p>
          </p:txBody>
        </p:sp>
      </p:grpSp>
      <p:grpSp>
        <p:nvGrpSpPr>
          <p:cNvPr id="83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83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838" name="Projede iki öneri katmanı var; ikisi aynı şey değil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Projede iki öneri katmanı var; ikisi aynı şey değil</a:t>
              </a:r>
            </a:p>
          </p:txBody>
        </p:sp>
      </p:grpSp>
      <p:grpSp>
        <p:nvGrpSpPr>
          <p:cNvPr id="84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84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41" name="Genel öneriler ürünün genel kalitesini, kişisel öneriler ise belirli müşterinin satın alma olasılığını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öneriler ürünün genel kalitesini, kişisel öneriler ise belirli müşterinin satın alma olasılığını gösterir.</a:t>
              </a:r>
            </a:p>
          </p:txBody>
        </p:sp>
      </p:grpSp>
      <p:sp>
        <p:nvSpPr>
          <p:cNvPr id="843" name="Dikdörtgen"/>
          <p:cNvSpPr/>
          <p:nvPr/>
        </p:nvSpPr>
        <p:spPr>
          <a:xfrm>
            <a:off x="546971" y="2251075"/>
            <a:ext cx="4476753" cy="2571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Dikdörtgen"/>
          <p:cNvSpPr/>
          <p:nvPr/>
        </p:nvSpPr>
        <p:spPr>
          <a:xfrm>
            <a:off x="508871" y="2193925"/>
            <a:ext cx="4476753" cy="2571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Dikdörtgen"/>
          <p:cNvSpPr/>
          <p:nvPr/>
        </p:nvSpPr>
        <p:spPr>
          <a:xfrm>
            <a:off x="508871" y="2193925"/>
            <a:ext cx="57152" cy="25717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6" name="Dikdörtgen"/>
          <p:cNvSpPr/>
          <p:nvPr/>
        </p:nvSpPr>
        <p:spPr>
          <a:xfrm>
            <a:off x="7149227" y="2278061"/>
            <a:ext cx="4476752" cy="257175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7" name="Dikdörtgen"/>
          <p:cNvSpPr/>
          <p:nvPr/>
        </p:nvSpPr>
        <p:spPr>
          <a:xfrm>
            <a:off x="7111127" y="2220911"/>
            <a:ext cx="4476752" cy="257175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8" name="Dikdörtgen"/>
          <p:cNvSpPr/>
          <p:nvPr/>
        </p:nvSpPr>
        <p:spPr>
          <a:xfrm>
            <a:off x="7111127" y="2220911"/>
            <a:ext cx="57152" cy="2571752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1" name="Grupla"/>
          <p:cNvGrpSpPr/>
          <p:nvPr/>
        </p:nvGrpSpPr>
        <p:grpSpPr>
          <a:xfrm>
            <a:off x="813671" y="2479674"/>
            <a:ext cx="3429003" cy="323851"/>
            <a:chOff x="0" y="0"/>
            <a:chExt cx="3429001" cy="323850"/>
          </a:xfrm>
        </p:grpSpPr>
        <p:sp>
          <p:nvSpPr>
            <p:cNvPr id="849" name="Dikdörtgen"/>
            <p:cNvSpPr/>
            <p:nvPr/>
          </p:nvSpPr>
          <p:spPr>
            <a:xfrm>
              <a:off x="-1" y="0"/>
              <a:ext cx="342900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0" name="1. Genel Ürün Önerisi"/>
            <p:cNvSpPr txBox="1"/>
            <p:nvPr/>
          </p:nvSpPr>
          <p:spPr>
            <a:xfrm>
              <a:off x="-1" y="-1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 Genel Ürün Önerisi</a:t>
              </a:r>
            </a:p>
          </p:txBody>
        </p:sp>
      </p:grpSp>
      <p:sp>
        <p:nvSpPr>
          <p:cNvPr id="852" name="Kare"/>
          <p:cNvSpPr/>
          <p:nvPr/>
        </p:nvSpPr>
        <p:spPr>
          <a:xfrm>
            <a:off x="832722" y="3117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5" name="Grupla"/>
          <p:cNvGrpSpPr/>
          <p:nvPr/>
        </p:nvGrpSpPr>
        <p:grpSpPr>
          <a:xfrm>
            <a:off x="1004171" y="3051174"/>
            <a:ext cx="3257553" cy="419101"/>
            <a:chOff x="0" y="0"/>
            <a:chExt cx="3257551" cy="419100"/>
          </a:xfrm>
        </p:grpSpPr>
        <p:sp>
          <p:nvSpPr>
            <p:cNvPr id="853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4" name="Her satır bir üründür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bir üründür.</a:t>
              </a:r>
            </a:p>
          </p:txBody>
        </p:sp>
      </p:grpSp>
      <p:sp>
        <p:nvSpPr>
          <p:cNvPr id="856" name="Kare"/>
          <p:cNvSpPr/>
          <p:nvPr/>
        </p:nvSpPr>
        <p:spPr>
          <a:xfrm>
            <a:off x="832722" y="3498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9" name="Grupla"/>
          <p:cNvGrpSpPr/>
          <p:nvPr/>
        </p:nvGrpSpPr>
        <p:grpSpPr>
          <a:xfrm>
            <a:off x="1004171" y="3432174"/>
            <a:ext cx="3257553" cy="419101"/>
            <a:chOff x="0" y="0"/>
            <a:chExt cx="3257551" cy="419100"/>
          </a:xfrm>
        </p:grpSpPr>
        <p:sp>
          <p:nvSpPr>
            <p:cNvPr id="857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8" name="Skor: satış + rating + sepet + duygu + gelir + marj."/>
            <p:cNvSpPr txBox="1"/>
            <p:nvPr/>
          </p:nvSpPr>
          <p:spPr>
            <a:xfrm>
              <a:off x="-1" y="-1"/>
              <a:ext cx="32575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Skor: satış + rating + sepet + duygu + gelir + marj.</a:t>
              </a:r>
            </a:p>
          </p:txBody>
        </p:sp>
      </p:grpSp>
      <p:sp>
        <p:nvSpPr>
          <p:cNvPr id="860" name="Kare"/>
          <p:cNvSpPr/>
          <p:nvPr/>
        </p:nvSpPr>
        <p:spPr>
          <a:xfrm>
            <a:off x="832722" y="3879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63" name="Grupla"/>
          <p:cNvGrpSpPr/>
          <p:nvPr/>
        </p:nvGrpSpPr>
        <p:grpSpPr>
          <a:xfrm>
            <a:off x="1004171" y="3813174"/>
            <a:ext cx="3257553" cy="419101"/>
            <a:chOff x="0" y="0"/>
            <a:chExt cx="3257551" cy="419100"/>
          </a:xfrm>
        </p:grpSpPr>
        <p:sp>
          <p:nvSpPr>
            <p:cNvPr id="861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2" name="Amaç: ürünün genel performansını ölçmek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Amaç: ürünün genel performansını ölçmek.</a:t>
              </a:r>
            </a:p>
          </p:txBody>
        </p:sp>
      </p:grpSp>
      <p:grpSp>
        <p:nvGrpSpPr>
          <p:cNvPr id="866" name="Grupla"/>
          <p:cNvGrpSpPr/>
          <p:nvPr/>
        </p:nvGrpSpPr>
        <p:grpSpPr>
          <a:xfrm>
            <a:off x="7415927" y="2506661"/>
            <a:ext cx="3429002" cy="323852"/>
            <a:chOff x="0" y="0"/>
            <a:chExt cx="3429001" cy="323850"/>
          </a:xfrm>
        </p:grpSpPr>
        <p:sp>
          <p:nvSpPr>
            <p:cNvPr id="864" name="Dikdörtgen"/>
            <p:cNvSpPr/>
            <p:nvPr/>
          </p:nvSpPr>
          <p:spPr>
            <a:xfrm>
              <a:off x="-1" y="0"/>
              <a:ext cx="3429003" cy="3238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5" name="2. Kişiye Özel Tahmin"/>
            <p:cNvSpPr txBox="1"/>
            <p:nvPr/>
          </p:nvSpPr>
          <p:spPr>
            <a:xfrm>
              <a:off x="-1" y="0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 Kişiye Özel Tahmin</a:t>
              </a:r>
            </a:p>
          </p:txBody>
        </p:sp>
      </p:grpSp>
      <p:sp>
        <p:nvSpPr>
          <p:cNvPr id="867" name="Kare"/>
          <p:cNvSpPr/>
          <p:nvPr/>
        </p:nvSpPr>
        <p:spPr>
          <a:xfrm>
            <a:off x="7434977" y="3144836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0" name="Grupla"/>
          <p:cNvGrpSpPr/>
          <p:nvPr/>
        </p:nvGrpSpPr>
        <p:grpSpPr>
          <a:xfrm>
            <a:off x="7606427" y="3078161"/>
            <a:ext cx="3448052" cy="419102"/>
            <a:chOff x="0" y="0"/>
            <a:chExt cx="3448051" cy="419100"/>
          </a:xfrm>
        </p:grpSpPr>
        <p:sp>
          <p:nvSpPr>
            <p:cNvPr id="868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9" name="Her satır müşteri + ürün çiftid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müşteri + ürün çiftidir.</a:t>
              </a:r>
            </a:p>
          </p:txBody>
        </p:sp>
      </p:grpSp>
      <p:sp>
        <p:nvSpPr>
          <p:cNvPr id="871" name="Kare"/>
          <p:cNvSpPr/>
          <p:nvPr/>
        </p:nvSpPr>
        <p:spPr>
          <a:xfrm>
            <a:off x="7434977" y="3525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4" name="Grupla"/>
          <p:cNvGrpSpPr/>
          <p:nvPr/>
        </p:nvGrpSpPr>
        <p:grpSpPr>
          <a:xfrm>
            <a:off x="7606427" y="3459162"/>
            <a:ext cx="3448052" cy="419102"/>
            <a:chOff x="0" y="0"/>
            <a:chExt cx="3448051" cy="419100"/>
          </a:xfrm>
        </p:grpSpPr>
        <p:sp>
          <p:nvSpPr>
            <p:cNvPr id="872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3" name="Model satın alma olasılığı üret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alma olasılığı üretir.</a:t>
              </a:r>
            </a:p>
          </p:txBody>
        </p:sp>
      </p:grpSp>
      <p:sp>
        <p:nvSpPr>
          <p:cNvPr id="875" name="Kare"/>
          <p:cNvSpPr/>
          <p:nvPr/>
        </p:nvSpPr>
        <p:spPr>
          <a:xfrm>
            <a:off x="7434977" y="3906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8" name="Grupla"/>
          <p:cNvGrpSpPr/>
          <p:nvPr/>
        </p:nvGrpSpPr>
        <p:grpSpPr>
          <a:xfrm>
            <a:off x="7606427" y="3840162"/>
            <a:ext cx="3448052" cy="419102"/>
            <a:chOff x="0" y="0"/>
            <a:chExt cx="3448051" cy="419100"/>
          </a:xfrm>
        </p:grpSpPr>
        <p:sp>
          <p:nvSpPr>
            <p:cNvPr id="876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7" name="Daha önce satın alınan ürünler öneriden çıkarılır."/>
            <p:cNvSpPr txBox="1"/>
            <p:nvPr/>
          </p:nvSpPr>
          <p:spPr>
            <a:xfrm>
              <a:off x="-1" y="0"/>
              <a:ext cx="34480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Daha önce satın alınan ürünler öneriden çıkarılır.</a:t>
              </a:r>
            </a:p>
          </p:txBody>
        </p:sp>
      </p:grpSp>
      <p:grpSp>
        <p:nvGrpSpPr>
          <p:cNvPr id="881" name="Grupla"/>
          <p:cNvGrpSpPr/>
          <p:nvPr/>
        </p:nvGrpSpPr>
        <p:grpSpPr>
          <a:xfrm>
            <a:off x="5048250" y="3371849"/>
            <a:ext cx="2000250" cy="514351"/>
            <a:chOff x="0" y="0"/>
            <a:chExt cx="2000250" cy="514350"/>
          </a:xfrm>
        </p:grpSpPr>
        <p:sp>
          <p:nvSpPr>
            <p:cNvPr id="879" name="Dikdörtgen"/>
            <p:cNvSpPr/>
            <p:nvPr/>
          </p:nvSpPr>
          <p:spPr>
            <a:xfrm>
              <a:off x="0" y="0"/>
              <a:ext cx="200025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0" name="product_id ile ürün sinyali kişisel modele taşınır"/>
            <p:cNvSpPr txBox="1"/>
            <p:nvPr/>
          </p:nvSpPr>
          <p:spPr>
            <a:xfrm>
              <a:off x="0" y="-1"/>
              <a:ext cx="2000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sinyali kişisel modele taşınır</a:t>
              </a:r>
            </a:p>
          </p:txBody>
        </p:sp>
      </p:grpSp>
      <p:grpSp>
        <p:nvGrpSpPr>
          <p:cNvPr id="884" name="Grupla"/>
          <p:cNvGrpSpPr/>
          <p:nvPr/>
        </p:nvGrpSpPr>
        <p:grpSpPr>
          <a:xfrm>
            <a:off x="5734050" y="2914649"/>
            <a:ext cx="666750" cy="469901"/>
            <a:chOff x="0" y="0"/>
            <a:chExt cx="666750" cy="469900"/>
          </a:xfrm>
        </p:grpSpPr>
        <p:sp>
          <p:nvSpPr>
            <p:cNvPr id="882" name="Dikdörtgen"/>
            <p:cNvSpPr/>
            <p:nvPr/>
          </p:nvSpPr>
          <p:spPr>
            <a:xfrm>
              <a:off x="0" y="-1"/>
              <a:ext cx="666750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3" name="→"/>
            <p:cNvSpPr txBox="1"/>
            <p:nvPr/>
          </p:nvSpPr>
          <p:spPr>
            <a:xfrm>
              <a:off x="0" y="0"/>
              <a:ext cx="66675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885" name="Dikdörtgen"/>
          <p:cNvSpPr/>
          <p:nvPr/>
        </p:nvSpPr>
        <p:spPr>
          <a:xfrm>
            <a:off x="1143000" y="5334000"/>
            <a:ext cx="8953500" cy="5143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88" name="Grupla"/>
          <p:cNvGrpSpPr/>
          <p:nvPr/>
        </p:nvGrpSpPr>
        <p:grpSpPr>
          <a:xfrm>
            <a:off x="1295400" y="5448299"/>
            <a:ext cx="8648700" cy="342901"/>
            <a:chOff x="0" y="0"/>
            <a:chExt cx="8648700" cy="342900"/>
          </a:xfrm>
        </p:grpSpPr>
        <p:sp>
          <p:nvSpPr>
            <p:cNvPr id="886" name="Dikdörtgen"/>
            <p:cNvSpPr/>
            <p:nvPr/>
          </p:nvSpPr>
          <p:spPr>
            <a:xfrm>
              <a:off x="0" y="0"/>
              <a:ext cx="86487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7" name="Genel Öneriler ürün seviyesidir, Müşteri sekmesi kişisel tahmindir."/>
            <p:cNvSpPr txBox="1"/>
            <p:nvPr/>
          </p:nvSpPr>
          <p:spPr>
            <a:xfrm>
              <a:off x="0" y="-1"/>
              <a:ext cx="8648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4" indent="18288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Genel Öneriler ürün seviyesidir, Müşteri sekmesi kişisel tahmindir.</a:t>
              </a:r>
            </a:p>
          </p:txBody>
        </p:sp>
      </p:grpSp>
      <p:grpSp>
        <p:nvGrpSpPr>
          <p:cNvPr id="8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3" name="10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2" name="Kişisel Model Veris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 Verisi</a:t>
              </a:r>
            </a:p>
          </p:txBody>
        </p:sp>
      </p:grpSp>
      <p:grpSp>
        <p:nvGrpSpPr>
          <p:cNvPr id="9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05" name="Kişisel model müşteri-ürün çiftleriyle eğit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model müşteri-ürün çiftleriyle eğitildi</a:t>
              </a:r>
            </a:p>
          </p:txBody>
        </p:sp>
      </p:grpSp>
      <p:grpSp>
        <p:nvGrpSpPr>
          <p:cNvPr id="9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8" name="Modelin sorusu: Bu müşteri bu ürünü satın alır mı? Bu nedenle hedef değişken satın aldı / almadı biçiminded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Modelin sorusu: Bu müşteri bu ürünü satın alır mı? Bu nedenle hedef değişken satın aldı / almadı biçimindedir.</a:t>
              </a:r>
            </a:p>
          </p:txBody>
        </p:sp>
      </p:grpSp>
      <p:sp>
        <p:nvSpPr>
          <p:cNvPr id="910" name="Dikdörtgen"/>
          <p:cNvSpPr/>
          <p:nvPr/>
        </p:nvSpPr>
        <p:spPr>
          <a:xfrm>
            <a:off x="723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1" name="Dikdörtgen"/>
          <p:cNvSpPr/>
          <p:nvPr/>
        </p:nvSpPr>
        <p:spPr>
          <a:xfrm>
            <a:off x="685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Dikdörtgen"/>
          <p:cNvSpPr/>
          <p:nvPr/>
        </p:nvSpPr>
        <p:spPr>
          <a:xfrm>
            <a:off x="68580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5" name="Grupla"/>
          <p:cNvGrpSpPr/>
          <p:nvPr/>
        </p:nvGrpSpPr>
        <p:grpSpPr>
          <a:xfrm>
            <a:off x="876300" y="2171699"/>
            <a:ext cx="2000250" cy="152401"/>
            <a:chOff x="0" y="0"/>
            <a:chExt cx="2000250" cy="152400"/>
          </a:xfrm>
        </p:grpSpPr>
        <p:sp>
          <p:nvSpPr>
            <p:cNvPr id="913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4" name="TABLO BOYUTU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918" name="Grupla"/>
          <p:cNvGrpSpPr/>
          <p:nvPr/>
        </p:nvGrpSpPr>
        <p:grpSpPr>
          <a:xfrm>
            <a:off x="876300" y="2400299"/>
            <a:ext cx="2000250" cy="361951"/>
            <a:chOff x="0" y="0"/>
            <a:chExt cx="2000250" cy="361950"/>
          </a:xfrm>
        </p:grpSpPr>
        <p:sp>
          <p:nvSpPr>
            <p:cNvPr id="916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7" name="529.593 x 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529.593 x 24</a:t>
              </a:r>
            </a:p>
          </p:txBody>
        </p:sp>
      </p:grpSp>
      <p:grpSp>
        <p:nvGrpSpPr>
          <p:cNvPr id="921" name="Grupla"/>
          <p:cNvGrpSpPr/>
          <p:nvPr/>
        </p:nvGrpSpPr>
        <p:grpSpPr>
          <a:xfrm>
            <a:off x="876300" y="2781299"/>
            <a:ext cx="2000250" cy="171451"/>
            <a:chOff x="0" y="0"/>
            <a:chExt cx="2000250" cy="171450"/>
          </a:xfrm>
        </p:grpSpPr>
        <p:sp>
          <p:nvSpPr>
            <p:cNvPr id="919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0" name="kisisel_model_verisi.csv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kisisel_model_verisi.csv</a:t>
              </a:r>
            </a:p>
          </p:txBody>
        </p:sp>
      </p:grpSp>
      <p:sp>
        <p:nvSpPr>
          <p:cNvPr id="922" name="Dikdörtgen"/>
          <p:cNvSpPr/>
          <p:nvPr/>
        </p:nvSpPr>
        <p:spPr>
          <a:xfrm>
            <a:off x="3390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3" name="Dikdörtgen"/>
          <p:cNvSpPr/>
          <p:nvPr/>
        </p:nvSpPr>
        <p:spPr>
          <a:xfrm>
            <a:off x="3352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4" name="Dikdörtgen"/>
          <p:cNvSpPr/>
          <p:nvPr/>
        </p:nvSpPr>
        <p:spPr>
          <a:xfrm>
            <a:off x="335280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27" name="Grupla"/>
          <p:cNvGrpSpPr/>
          <p:nvPr/>
        </p:nvGrpSpPr>
        <p:grpSpPr>
          <a:xfrm>
            <a:off x="3543300" y="2171699"/>
            <a:ext cx="2000250" cy="152401"/>
            <a:chOff x="0" y="0"/>
            <a:chExt cx="2000250" cy="152400"/>
          </a:xfrm>
        </p:grpSpPr>
        <p:sp>
          <p:nvSpPr>
            <p:cNvPr id="925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6" name="SATIN AL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ALDI</a:t>
              </a:r>
            </a:p>
          </p:txBody>
        </p:sp>
      </p:grpSp>
      <p:grpSp>
        <p:nvGrpSpPr>
          <p:cNvPr id="930" name="Grupla"/>
          <p:cNvGrpSpPr/>
          <p:nvPr/>
        </p:nvGrpSpPr>
        <p:grpSpPr>
          <a:xfrm>
            <a:off x="3543300" y="2400299"/>
            <a:ext cx="2000250" cy="361951"/>
            <a:chOff x="0" y="0"/>
            <a:chExt cx="2000250" cy="361950"/>
          </a:xfrm>
        </p:grpSpPr>
        <p:sp>
          <p:nvSpPr>
            <p:cNvPr id="928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9" name="58.969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58.969</a:t>
              </a:r>
            </a:p>
          </p:txBody>
        </p:sp>
      </p:grpSp>
      <p:grpSp>
        <p:nvGrpSpPr>
          <p:cNvPr id="933" name="Grupla"/>
          <p:cNvGrpSpPr/>
          <p:nvPr/>
        </p:nvGrpSpPr>
        <p:grpSpPr>
          <a:xfrm>
            <a:off x="3543300" y="2781299"/>
            <a:ext cx="2000250" cy="171451"/>
            <a:chOff x="0" y="0"/>
            <a:chExt cx="2000250" cy="171450"/>
          </a:xfrm>
        </p:grpSpPr>
        <p:sp>
          <p:nvSpPr>
            <p:cNvPr id="931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2" name="pozi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sınıf</a:t>
              </a:r>
            </a:p>
          </p:txBody>
        </p:sp>
      </p:grpSp>
      <p:sp>
        <p:nvSpPr>
          <p:cNvPr id="934" name="Dikdörtgen"/>
          <p:cNvSpPr/>
          <p:nvPr/>
        </p:nvSpPr>
        <p:spPr>
          <a:xfrm>
            <a:off x="6057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5" name="Dikdörtgen"/>
          <p:cNvSpPr/>
          <p:nvPr/>
        </p:nvSpPr>
        <p:spPr>
          <a:xfrm>
            <a:off x="6019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Dikdörtgen"/>
          <p:cNvSpPr/>
          <p:nvPr/>
        </p:nvSpPr>
        <p:spPr>
          <a:xfrm>
            <a:off x="6019800" y="2000250"/>
            <a:ext cx="57150" cy="10287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39" name="Grupla"/>
          <p:cNvGrpSpPr/>
          <p:nvPr/>
        </p:nvGrpSpPr>
        <p:grpSpPr>
          <a:xfrm>
            <a:off x="6210300" y="2171699"/>
            <a:ext cx="2000250" cy="152401"/>
            <a:chOff x="0" y="0"/>
            <a:chExt cx="2000250" cy="152400"/>
          </a:xfrm>
        </p:grpSpPr>
        <p:sp>
          <p:nvSpPr>
            <p:cNvPr id="93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8" name="SATIN ALMA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ALMADI</a:t>
              </a:r>
            </a:p>
          </p:txBody>
        </p:sp>
      </p:grpSp>
      <p:grpSp>
        <p:nvGrpSpPr>
          <p:cNvPr id="942" name="Grupla"/>
          <p:cNvGrpSpPr/>
          <p:nvPr/>
        </p:nvGrpSpPr>
        <p:grpSpPr>
          <a:xfrm>
            <a:off x="6210300" y="2400299"/>
            <a:ext cx="2000250" cy="361951"/>
            <a:chOff x="0" y="0"/>
            <a:chExt cx="2000250" cy="361950"/>
          </a:xfrm>
        </p:grpSpPr>
        <p:sp>
          <p:nvSpPr>
            <p:cNvPr id="940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1" name="470.6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470.624</a:t>
              </a:r>
            </a:p>
          </p:txBody>
        </p:sp>
      </p:grpSp>
      <p:grpSp>
        <p:nvGrpSpPr>
          <p:cNvPr id="945" name="Grupla"/>
          <p:cNvGrpSpPr/>
          <p:nvPr/>
        </p:nvGrpSpPr>
        <p:grpSpPr>
          <a:xfrm>
            <a:off x="6210300" y="2781299"/>
            <a:ext cx="2000250" cy="171451"/>
            <a:chOff x="0" y="0"/>
            <a:chExt cx="2000250" cy="171450"/>
          </a:xfrm>
        </p:grpSpPr>
        <p:sp>
          <p:nvSpPr>
            <p:cNvPr id="94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4" name="nega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sınıf</a:t>
              </a:r>
            </a:p>
          </p:txBody>
        </p:sp>
      </p:grpSp>
      <p:sp>
        <p:nvSpPr>
          <p:cNvPr id="946" name="Dikdörtgen"/>
          <p:cNvSpPr/>
          <p:nvPr/>
        </p:nvSpPr>
        <p:spPr>
          <a:xfrm>
            <a:off x="8724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Dikdörtgen"/>
          <p:cNvSpPr/>
          <p:nvPr/>
        </p:nvSpPr>
        <p:spPr>
          <a:xfrm>
            <a:off x="8686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Dikdörtgen"/>
          <p:cNvSpPr/>
          <p:nvPr/>
        </p:nvSpPr>
        <p:spPr>
          <a:xfrm>
            <a:off x="868680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1" name="Grupla"/>
          <p:cNvGrpSpPr/>
          <p:nvPr/>
        </p:nvGrpSpPr>
        <p:grpSpPr>
          <a:xfrm>
            <a:off x="8877300" y="2171699"/>
            <a:ext cx="2000250" cy="152401"/>
            <a:chOff x="0" y="0"/>
            <a:chExt cx="2000250" cy="152400"/>
          </a:xfrm>
        </p:grpSpPr>
        <p:sp>
          <p:nvSpPr>
            <p:cNvPr id="949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0" name="MODEL AUC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AUC</a:t>
              </a:r>
            </a:p>
          </p:txBody>
        </p:sp>
      </p:grpSp>
      <p:grpSp>
        <p:nvGrpSpPr>
          <p:cNvPr id="954" name="Grupla"/>
          <p:cNvGrpSpPr/>
          <p:nvPr/>
        </p:nvGrpSpPr>
        <p:grpSpPr>
          <a:xfrm>
            <a:off x="8877300" y="2400299"/>
            <a:ext cx="2000250" cy="361951"/>
            <a:chOff x="0" y="0"/>
            <a:chExt cx="2000250" cy="361950"/>
          </a:xfrm>
        </p:grpSpPr>
        <p:sp>
          <p:nvSpPr>
            <p:cNvPr id="952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3" name="0.955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957" name="Grupla"/>
          <p:cNvGrpSpPr/>
          <p:nvPr/>
        </p:nvGrpSpPr>
        <p:grpSpPr>
          <a:xfrm>
            <a:off x="8877300" y="2781299"/>
            <a:ext cx="2000250" cy="171451"/>
            <a:chOff x="0" y="0"/>
            <a:chExt cx="2000250" cy="171450"/>
          </a:xfrm>
        </p:grpSpPr>
        <p:sp>
          <p:nvSpPr>
            <p:cNvPr id="955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6" name="test set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958" name="Dikdörtgen"/>
          <p:cNvSpPr/>
          <p:nvPr/>
        </p:nvSpPr>
        <p:spPr>
          <a:xfrm>
            <a:off x="857250" y="3695700"/>
            <a:ext cx="5219700" cy="2209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9" name="Dikdörtgen"/>
          <p:cNvSpPr/>
          <p:nvPr/>
        </p:nvSpPr>
        <p:spPr>
          <a:xfrm>
            <a:off x="819150" y="3638550"/>
            <a:ext cx="5219700" cy="22098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2" name="Grupla"/>
          <p:cNvGrpSpPr/>
          <p:nvPr/>
        </p:nvGrpSpPr>
        <p:grpSpPr>
          <a:xfrm>
            <a:off x="990600" y="3771899"/>
            <a:ext cx="4876800" cy="190501"/>
            <a:chOff x="0" y="0"/>
            <a:chExt cx="4876800" cy="190500"/>
          </a:xfrm>
        </p:grpSpPr>
        <p:sp>
          <p:nvSpPr>
            <p:cNvPr id="960" name="Dikdörtgen"/>
            <p:cNvSpPr/>
            <p:nvPr/>
          </p:nvSpPr>
          <p:spPr>
            <a:xfrm>
              <a:off x="0" y="0"/>
              <a:ext cx="4876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1" name="Müşteri-ürün davranış tablosu"/>
            <p:cNvSpPr txBox="1"/>
            <p:nvPr/>
          </p:nvSpPr>
          <p:spPr>
            <a:xfrm>
              <a:off x="0" y="-1"/>
              <a:ext cx="48768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Müşteri-ürün davranış tablosu</a:t>
              </a:r>
            </a:p>
          </p:txBody>
        </p:sp>
      </p:grpSp>
      <p:grpSp>
        <p:nvGrpSpPr>
          <p:cNvPr id="965" name="Grupla"/>
          <p:cNvGrpSpPr/>
          <p:nvPr/>
        </p:nvGrpSpPr>
        <p:grpSpPr>
          <a:xfrm>
            <a:off x="990600" y="4038599"/>
            <a:ext cx="4876800" cy="1714501"/>
            <a:chOff x="0" y="0"/>
            <a:chExt cx="4876800" cy="1714500"/>
          </a:xfrm>
        </p:grpSpPr>
        <p:sp>
          <p:nvSpPr>
            <p:cNvPr id="963" name="Dikdörtgen"/>
            <p:cNvSpPr/>
            <p:nvPr/>
          </p:nvSpPr>
          <p:spPr>
            <a:xfrm>
              <a:off x="0" y="0"/>
              <a:ext cx="48768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964" name="davranis = (…"/>
            <p:cNvSpPr txBox="1"/>
            <p:nvPr/>
          </p:nvSpPr>
          <p:spPr>
            <a:xfrm>
              <a:off x="0" y="-1"/>
              <a:ext cx="487680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davranis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events.dropna(subset=["product_id"])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.merge(sessions[["session_id", "customer_id"]],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   on="session_id",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.pivot_table(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index=["customer_id",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columns="event_type",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values="event_id",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aggfunc="count",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fill_value=0)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966" name="Kare"/>
          <p:cNvSpPr/>
          <p:nvPr/>
        </p:nvSpPr>
        <p:spPr>
          <a:xfrm>
            <a:off x="6705600" y="38766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9" name="Grupla"/>
          <p:cNvGrpSpPr/>
          <p:nvPr/>
        </p:nvGrpSpPr>
        <p:grpSpPr>
          <a:xfrm>
            <a:off x="6877050" y="3809999"/>
            <a:ext cx="3829050" cy="438151"/>
            <a:chOff x="0" y="0"/>
            <a:chExt cx="3829050" cy="438150"/>
          </a:xfrm>
        </p:grpSpPr>
        <p:sp>
          <p:nvSpPr>
            <p:cNvPr id="967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8" name="Pozitif örnek: müşterinin gerçekten satın aldığı ürün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örnek: müşterinin gerçekten satın aldığı ürün.</a:t>
              </a:r>
            </a:p>
          </p:txBody>
        </p:sp>
      </p:grpSp>
      <p:sp>
        <p:nvSpPr>
          <p:cNvPr id="970" name="Kare"/>
          <p:cNvSpPr/>
          <p:nvPr/>
        </p:nvSpPr>
        <p:spPr>
          <a:xfrm>
            <a:off x="6705600" y="42767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3" name="Grupla"/>
          <p:cNvGrpSpPr/>
          <p:nvPr/>
        </p:nvGrpSpPr>
        <p:grpSpPr>
          <a:xfrm>
            <a:off x="6877050" y="4210049"/>
            <a:ext cx="3829050" cy="438151"/>
            <a:chOff x="0" y="0"/>
            <a:chExt cx="3829050" cy="438150"/>
          </a:xfrm>
        </p:grpSpPr>
        <p:sp>
          <p:nvSpPr>
            <p:cNvPr id="971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2" name="Negatif örnek: görüntülenen veya sepete eklenen ama satın alınmayan ürün."/>
            <p:cNvSpPr txBox="1"/>
            <p:nvPr/>
          </p:nvSpPr>
          <p:spPr>
            <a:xfrm>
              <a:off x="0" y="-1"/>
              <a:ext cx="38290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örnek: görüntülenen veya sepete eklenen ama satın alınmayan ürün.</a:t>
              </a:r>
            </a:p>
          </p:txBody>
        </p:sp>
      </p:grpSp>
      <p:sp>
        <p:nvSpPr>
          <p:cNvPr id="974" name="Kare"/>
          <p:cNvSpPr/>
          <p:nvPr/>
        </p:nvSpPr>
        <p:spPr>
          <a:xfrm>
            <a:off x="6705600" y="46767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7" name="Grupla"/>
          <p:cNvGrpSpPr/>
          <p:nvPr/>
        </p:nvGrpSpPr>
        <p:grpSpPr>
          <a:xfrm>
            <a:off x="6877050" y="4610099"/>
            <a:ext cx="3829050" cy="438151"/>
            <a:chOff x="0" y="0"/>
            <a:chExt cx="3829050" cy="438150"/>
          </a:xfrm>
        </p:grpSpPr>
        <p:sp>
          <p:nvSpPr>
            <p:cNvPr id="975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6" name="Hiç görülmeyen ürünler doğrudan negatif kabul edilmedi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Hiç görülmeyen ürünler doğrudan negatif kabul edilmedi.</a:t>
              </a:r>
            </a:p>
          </p:txBody>
        </p:sp>
      </p:grpSp>
      <p:grpSp>
        <p:nvGrpSpPr>
          <p:cNvPr id="9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9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9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9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2" name="11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9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1" name="Özellik Mühendisliğ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Mühendisliği</a:t>
              </a:r>
            </a:p>
          </p:txBody>
        </p:sp>
      </p:grpSp>
      <p:grpSp>
        <p:nvGrpSpPr>
          <p:cNvPr id="9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94" name="Model yalnızca ürün bilgisiyle değil, müşteri davranışıyla da besleni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Model yalnızca ürün bilgisiyle değil, müşteri davranışıyla da beslenir</a:t>
              </a:r>
            </a:p>
          </p:txBody>
        </p:sp>
      </p:grpSp>
      <p:grpSp>
        <p:nvGrpSpPr>
          <p:cNvPr id="9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7" name="Kişiselleştirme, müşteri geçmişi + ürün kalitesi + kategori ilgisi aynı tabloda buluşunca ortaya çık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Kişiselleştirme, müşteri geçmişi + ürün kalitesi + kategori ilgisi aynı tabloda buluşunca ortaya çıkar.</a:t>
              </a:r>
            </a:p>
          </p:txBody>
        </p:sp>
      </p:grpSp>
      <p:sp>
        <p:nvSpPr>
          <p:cNvPr id="999" name="Dikdörtgen"/>
          <p:cNvSpPr/>
          <p:nvPr/>
        </p:nvSpPr>
        <p:spPr>
          <a:xfrm>
            <a:off x="70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Dikdörtgen"/>
          <p:cNvSpPr/>
          <p:nvPr/>
        </p:nvSpPr>
        <p:spPr>
          <a:xfrm>
            <a:off x="66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Dikdörtgen"/>
          <p:cNvSpPr/>
          <p:nvPr/>
        </p:nvSpPr>
        <p:spPr>
          <a:xfrm>
            <a:off x="666750" y="2000250"/>
            <a:ext cx="57150" cy="2000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4" name="Grupla"/>
          <p:cNvGrpSpPr/>
          <p:nvPr/>
        </p:nvGrpSpPr>
        <p:grpSpPr>
          <a:xfrm>
            <a:off x="895350" y="2266949"/>
            <a:ext cx="2762250" cy="266701"/>
            <a:chOff x="0" y="0"/>
            <a:chExt cx="2762250" cy="266700"/>
          </a:xfrm>
        </p:grpSpPr>
        <p:sp>
          <p:nvSpPr>
            <p:cNvPr id="1002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3" name="Müşteri Davranışı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Davranışı</a:t>
              </a:r>
            </a:p>
          </p:txBody>
        </p:sp>
      </p:grpSp>
      <p:sp>
        <p:nvSpPr>
          <p:cNvPr id="1005" name="Dikdörtgen"/>
          <p:cNvSpPr/>
          <p:nvPr/>
        </p:nvSpPr>
        <p:spPr>
          <a:xfrm>
            <a:off x="89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8" name="Grupla"/>
          <p:cNvGrpSpPr/>
          <p:nvPr/>
        </p:nvGrpSpPr>
        <p:grpSpPr>
          <a:xfrm>
            <a:off x="990600" y="2809874"/>
            <a:ext cx="1085850" cy="139701"/>
            <a:chOff x="0" y="0"/>
            <a:chExt cx="1085850" cy="139700"/>
          </a:xfrm>
        </p:grpSpPr>
        <p:sp>
          <p:nvSpPr>
            <p:cNvPr id="100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7" name="page_view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</a:t>
              </a:r>
            </a:p>
          </p:txBody>
        </p:sp>
      </p:grpSp>
      <p:sp>
        <p:nvSpPr>
          <p:cNvPr id="1009" name="Dikdörtgen"/>
          <p:cNvSpPr/>
          <p:nvPr/>
        </p:nvSpPr>
        <p:spPr>
          <a:xfrm>
            <a:off x="234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2" name="Grupla"/>
          <p:cNvGrpSpPr/>
          <p:nvPr/>
        </p:nvGrpSpPr>
        <p:grpSpPr>
          <a:xfrm>
            <a:off x="2438400" y="2809874"/>
            <a:ext cx="1085850" cy="139701"/>
            <a:chOff x="0" y="0"/>
            <a:chExt cx="1085850" cy="139700"/>
          </a:xfrm>
        </p:grpSpPr>
        <p:sp>
          <p:nvSpPr>
            <p:cNvPr id="101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1" name="add_to_cart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013" name="Dikdörtgen"/>
          <p:cNvSpPr/>
          <p:nvPr/>
        </p:nvSpPr>
        <p:spPr>
          <a:xfrm>
            <a:off x="89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6" name="Grupla"/>
          <p:cNvGrpSpPr/>
          <p:nvPr/>
        </p:nvGrpSpPr>
        <p:grpSpPr>
          <a:xfrm>
            <a:off x="990600" y="3133724"/>
            <a:ext cx="1085850" cy="139701"/>
            <a:chOff x="0" y="0"/>
            <a:chExt cx="1085850" cy="139700"/>
          </a:xfrm>
        </p:grpSpPr>
        <p:sp>
          <p:nvSpPr>
            <p:cNvPr id="101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5" name="kategori_ilgi_orani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017" name="Dikdörtgen"/>
          <p:cNvSpPr/>
          <p:nvPr/>
        </p:nvSpPr>
        <p:spPr>
          <a:xfrm>
            <a:off x="451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8" name="Dikdörtgen"/>
          <p:cNvSpPr/>
          <p:nvPr/>
        </p:nvSpPr>
        <p:spPr>
          <a:xfrm>
            <a:off x="447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9" name="Dikdörtgen"/>
          <p:cNvSpPr/>
          <p:nvPr/>
        </p:nvSpPr>
        <p:spPr>
          <a:xfrm>
            <a:off x="4476750" y="2000250"/>
            <a:ext cx="57150" cy="2000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2" name="Grupla"/>
          <p:cNvGrpSpPr/>
          <p:nvPr/>
        </p:nvGrpSpPr>
        <p:grpSpPr>
          <a:xfrm>
            <a:off x="4705350" y="2266949"/>
            <a:ext cx="2762250" cy="266701"/>
            <a:chOff x="0" y="0"/>
            <a:chExt cx="2762250" cy="266700"/>
          </a:xfrm>
        </p:grpSpPr>
        <p:sp>
          <p:nvSpPr>
            <p:cNvPr id="1020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1" name="Ürün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Sinyalleri</a:t>
              </a:r>
            </a:p>
          </p:txBody>
        </p:sp>
      </p:grpSp>
      <p:sp>
        <p:nvSpPr>
          <p:cNvPr id="1023" name="Dikdörtgen"/>
          <p:cNvSpPr/>
          <p:nvPr/>
        </p:nvSpPr>
        <p:spPr>
          <a:xfrm>
            <a:off x="470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6" name="Grupla"/>
          <p:cNvGrpSpPr/>
          <p:nvPr/>
        </p:nvGrpSpPr>
        <p:grpSpPr>
          <a:xfrm>
            <a:off x="4800600" y="2809874"/>
            <a:ext cx="1085850" cy="139701"/>
            <a:chOff x="0" y="0"/>
            <a:chExt cx="1085850" cy="139700"/>
          </a:xfrm>
        </p:grpSpPr>
        <p:sp>
          <p:nvSpPr>
            <p:cNvPr id="102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5" name="price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price_usd</a:t>
              </a:r>
            </a:p>
          </p:txBody>
        </p:sp>
      </p:grpSp>
      <p:sp>
        <p:nvSpPr>
          <p:cNvPr id="1027" name="Dikdörtgen"/>
          <p:cNvSpPr/>
          <p:nvPr/>
        </p:nvSpPr>
        <p:spPr>
          <a:xfrm>
            <a:off x="615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0" name="Grupla"/>
          <p:cNvGrpSpPr/>
          <p:nvPr/>
        </p:nvGrpSpPr>
        <p:grpSpPr>
          <a:xfrm>
            <a:off x="6248400" y="2809874"/>
            <a:ext cx="1085850" cy="139701"/>
            <a:chOff x="0" y="0"/>
            <a:chExt cx="1085850" cy="139700"/>
          </a:xfrm>
        </p:grpSpPr>
        <p:sp>
          <p:nvSpPr>
            <p:cNvPr id="102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9" name="margin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margin_usd</a:t>
              </a:r>
            </a:p>
          </p:txBody>
        </p:sp>
      </p:grpSp>
      <p:sp>
        <p:nvSpPr>
          <p:cNvPr id="1031" name="Dikdörtgen"/>
          <p:cNvSpPr/>
          <p:nvPr/>
        </p:nvSpPr>
        <p:spPr>
          <a:xfrm>
            <a:off x="470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4" name="Grupla"/>
          <p:cNvGrpSpPr/>
          <p:nvPr/>
        </p:nvGrpSpPr>
        <p:grpSpPr>
          <a:xfrm>
            <a:off x="4800600" y="3133724"/>
            <a:ext cx="1085850" cy="139701"/>
            <a:chOff x="0" y="0"/>
            <a:chExt cx="1085850" cy="139700"/>
          </a:xfrm>
        </p:grpSpPr>
        <p:sp>
          <p:nvSpPr>
            <p:cNvPr id="103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3" name="ort_rating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</a:t>
              </a:r>
            </a:p>
          </p:txBody>
        </p:sp>
      </p:grpSp>
      <p:sp>
        <p:nvSpPr>
          <p:cNvPr id="1035" name="Dikdörtgen"/>
          <p:cNvSpPr/>
          <p:nvPr/>
        </p:nvSpPr>
        <p:spPr>
          <a:xfrm>
            <a:off x="615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8" name="Grupla"/>
          <p:cNvGrpSpPr/>
          <p:nvPr/>
        </p:nvGrpSpPr>
        <p:grpSpPr>
          <a:xfrm>
            <a:off x="6248400" y="3133724"/>
            <a:ext cx="1085850" cy="139701"/>
            <a:chOff x="0" y="0"/>
            <a:chExt cx="1085850" cy="139700"/>
          </a:xfrm>
        </p:grpSpPr>
        <p:sp>
          <p:nvSpPr>
            <p:cNvPr id="103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7" name="pozitif_oran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pozitif_oran</a:t>
              </a:r>
            </a:p>
          </p:txBody>
        </p:sp>
      </p:grpSp>
      <p:sp>
        <p:nvSpPr>
          <p:cNvPr id="1039" name="Dikdörtgen"/>
          <p:cNvSpPr/>
          <p:nvPr/>
        </p:nvSpPr>
        <p:spPr>
          <a:xfrm>
            <a:off x="470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2" name="Grupla"/>
          <p:cNvGrpSpPr/>
          <p:nvPr/>
        </p:nvGrpSpPr>
        <p:grpSpPr>
          <a:xfrm>
            <a:off x="4800600" y="3457574"/>
            <a:ext cx="1085850" cy="139701"/>
            <a:chOff x="0" y="0"/>
            <a:chExt cx="1085850" cy="139700"/>
          </a:xfrm>
        </p:grpSpPr>
        <p:sp>
          <p:nvSpPr>
            <p:cNvPr id="104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1" name="oneri_skoru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oneri_skoru</a:t>
              </a:r>
            </a:p>
          </p:txBody>
        </p:sp>
      </p:grpSp>
      <p:sp>
        <p:nvSpPr>
          <p:cNvPr id="1043" name="Dikdörtgen"/>
          <p:cNvSpPr/>
          <p:nvPr/>
        </p:nvSpPr>
        <p:spPr>
          <a:xfrm>
            <a:off x="832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4" name="Dikdörtgen"/>
          <p:cNvSpPr/>
          <p:nvPr/>
        </p:nvSpPr>
        <p:spPr>
          <a:xfrm>
            <a:off x="828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5" name="Dikdörtgen"/>
          <p:cNvSpPr/>
          <p:nvPr/>
        </p:nvSpPr>
        <p:spPr>
          <a:xfrm>
            <a:off x="8286750" y="2000250"/>
            <a:ext cx="57150" cy="20002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8" name="Grupla"/>
          <p:cNvGrpSpPr/>
          <p:nvPr/>
        </p:nvGrpSpPr>
        <p:grpSpPr>
          <a:xfrm>
            <a:off x="8515350" y="2266949"/>
            <a:ext cx="2762250" cy="266701"/>
            <a:chOff x="0" y="0"/>
            <a:chExt cx="2762250" cy="266700"/>
          </a:xfrm>
        </p:grpSpPr>
        <p:sp>
          <p:nvSpPr>
            <p:cNvPr id="1046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7" name="Müşteri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Sinyalleri</a:t>
              </a:r>
            </a:p>
          </p:txBody>
        </p:sp>
      </p:grpSp>
      <p:sp>
        <p:nvSpPr>
          <p:cNvPr id="1049" name="Dikdörtgen"/>
          <p:cNvSpPr/>
          <p:nvPr/>
        </p:nvSpPr>
        <p:spPr>
          <a:xfrm>
            <a:off x="851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2" name="Grupla"/>
          <p:cNvGrpSpPr/>
          <p:nvPr/>
        </p:nvGrpSpPr>
        <p:grpSpPr>
          <a:xfrm>
            <a:off x="8610600" y="2809874"/>
            <a:ext cx="1085850" cy="139701"/>
            <a:chOff x="0" y="0"/>
            <a:chExt cx="1085850" cy="139700"/>
          </a:xfrm>
        </p:grpSpPr>
        <p:sp>
          <p:nvSpPr>
            <p:cNvPr id="105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1" name="rec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053" name="Dikdörtgen"/>
          <p:cNvSpPr/>
          <p:nvPr/>
        </p:nvSpPr>
        <p:spPr>
          <a:xfrm>
            <a:off x="996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6" name="Grupla"/>
          <p:cNvGrpSpPr/>
          <p:nvPr/>
        </p:nvGrpSpPr>
        <p:grpSpPr>
          <a:xfrm>
            <a:off x="10058400" y="2809874"/>
            <a:ext cx="1085850" cy="139701"/>
            <a:chOff x="0" y="0"/>
            <a:chExt cx="1085850" cy="139700"/>
          </a:xfrm>
        </p:grpSpPr>
        <p:sp>
          <p:nvSpPr>
            <p:cNvPr id="105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5" name="frequ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frequency</a:t>
              </a:r>
            </a:p>
          </p:txBody>
        </p:sp>
      </p:grpSp>
      <p:sp>
        <p:nvSpPr>
          <p:cNvPr id="1057" name="Dikdörtgen"/>
          <p:cNvSpPr/>
          <p:nvPr/>
        </p:nvSpPr>
        <p:spPr>
          <a:xfrm>
            <a:off x="851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0" name="Grupla"/>
          <p:cNvGrpSpPr/>
          <p:nvPr/>
        </p:nvGrpSpPr>
        <p:grpSpPr>
          <a:xfrm>
            <a:off x="8610600" y="3133724"/>
            <a:ext cx="1085850" cy="139701"/>
            <a:chOff x="0" y="0"/>
            <a:chExt cx="1085850" cy="139700"/>
          </a:xfrm>
        </p:grpSpPr>
        <p:sp>
          <p:nvSpPr>
            <p:cNvPr id="105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9" name="monetar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061" name="Dikdörtgen"/>
          <p:cNvSpPr/>
          <p:nvPr/>
        </p:nvSpPr>
        <p:spPr>
          <a:xfrm>
            <a:off x="996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4" name="Grupla"/>
          <p:cNvGrpSpPr/>
          <p:nvPr/>
        </p:nvGrpSpPr>
        <p:grpSpPr>
          <a:xfrm>
            <a:off x="10058400" y="3133724"/>
            <a:ext cx="1085850" cy="139701"/>
            <a:chOff x="0" y="0"/>
            <a:chExt cx="1085850" cy="139700"/>
          </a:xfrm>
        </p:grpSpPr>
        <p:sp>
          <p:nvSpPr>
            <p:cNvPr id="106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3" name="R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</a:t>
              </a:r>
            </a:p>
          </p:txBody>
        </p:sp>
      </p:grpSp>
      <p:sp>
        <p:nvSpPr>
          <p:cNvPr id="1065" name="Dikdörtgen"/>
          <p:cNvSpPr/>
          <p:nvPr/>
        </p:nvSpPr>
        <p:spPr>
          <a:xfrm>
            <a:off x="851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8" name="Grupla"/>
          <p:cNvGrpSpPr/>
          <p:nvPr/>
        </p:nvGrpSpPr>
        <p:grpSpPr>
          <a:xfrm>
            <a:off x="8610600" y="3457574"/>
            <a:ext cx="1085850" cy="139701"/>
            <a:chOff x="0" y="0"/>
            <a:chExt cx="1085850" cy="139700"/>
          </a:xfrm>
        </p:grpSpPr>
        <p:sp>
          <p:nvSpPr>
            <p:cNvPr id="106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7" name="F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069" name="Dikdörtgen"/>
          <p:cNvSpPr/>
          <p:nvPr/>
        </p:nvSpPr>
        <p:spPr>
          <a:xfrm>
            <a:off x="99631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2" name="Grupla"/>
          <p:cNvGrpSpPr/>
          <p:nvPr/>
        </p:nvGrpSpPr>
        <p:grpSpPr>
          <a:xfrm>
            <a:off x="10058400" y="3457574"/>
            <a:ext cx="1085850" cy="139701"/>
            <a:chOff x="0" y="0"/>
            <a:chExt cx="1085850" cy="139700"/>
          </a:xfrm>
        </p:grpSpPr>
        <p:sp>
          <p:nvSpPr>
            <p:cNvPr id="107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1" name="M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</a:t>
              </a:r>
            </a:p>
          </p:txBody>
        </p:sp>
      </p:grpSp>
      <p:sp>
        <p:nvSpPr>
          <p:cNvPr id="1073" name="Dikdörtgen"/>
          <p:cNvSpPr/>
          <p:nvPr/>
        </p:nvSpPr>
        <p:spPr>
          <a:xfrm>
            <a:off x="8515350" y="37147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6" name="Grupla"/>
          <p:cNvGrpSpPr/>
          <p:nvPr/>
        </p:nvGrpSpPr>
        <p:grpSpPr>
          <a:xfrm>
            <a:off x="8610600" y="3781424"/>
            <a:ext cx="1085850" cy="139701"/>
            <a:chOff x="0" y="0"/>
            <a:chExt cx="1085850" cy="139700"/>
          </a:xfrm>
        </p:grpSpPr>
        <p:sp>
          <p:nvSpPr>
            <p:cNvPr id="107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5" name="age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age</a:t>
              </a:r>
            </a:p>
          </p:txBody>
        </p:sp>
      </p:grpSp>
      <p:sp>
        <p:nvSpPr>
          <p:cNvPr id="1077" name="Dikdörtgen"/>
          <p:cNvSpPr/>
          <p:nvPr/>
        </p:nvSpPr>
        <p:spPr>
          <a:xfrm>
            <a:off x="1562100" y="4676775"/>
            <a:ext cx="4572000" cy="1295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Dikdörtgen"/>
          <p:cNvSpPr/>
          <p:nvPr/>
        </p:nvSpPr>
        <p:spPr>
          <a:xfrm>
            <a:off x="1524000" y="4619625"/>
            <a:ext cx="4572000" cy="12954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1" name="Grupla"/>
          <p:cNvGrpSpPr/>
          <p:nvPr/>
        </p:nvGrpSpPr>
        <p:grpSpPr>
          <a:xfrm>
            <a:off x="1695450" y="4752974"/>
            <a:ext cx="4229100" cy="190501"/>
            <a:chOff x="0" y="0"/>
            <a:chExt cx="4229100" cy="190500"/>
          </a:xfrm>
        </p:grpSpPr>
        <p:sp>
          <p:nvSpPr>
            <p:cNvPr id="1079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0" name="Kategori ilgisi kodu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kodu</a:t>
              </a:r>
            </a:p>
          </p:txBody>
        </p:sp>
      </p:grpSp>
      <p:grpSp>
        <p:nvGrpSpPr>
          <p:cNvPr id="1084" name="Grupla"/>
          <p:cNvGrpSpPr/>
          <p:nvPr/>
        </p:nvGrpSpPr>
        <p:grpSpPr>
          <a:xfrm>
            <a:off x="1695450" y="4982260"/>
            <a:ext cx="4575175" cy="914401"/>
            <a:chOff x="0" y="0"/>
            <a:chExt cx="4575175" cy="914400"/>
          </a:xfrm>
        </p:grpSpPr>
        <p:sp>
          <p:nvSpPr>
            <p:cNvPr id="1082" name="Dikdörtgen"/>
            <p:cNvSpPr/>
            <p:nvPr/>
          </p:nvSpPr>
          <p:spPr>
            <a:xfrm>
              <a:off x="0" y="0"/>
              <a:ext cx="4575175" cy="8655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083" name="veri[&quot;kategori_ilgi_orani&quot;] = np.where(…"/>
            <p:cNvSpPr txBox="1"/>
            <p:nvPr/>
          </p:nvSpPr>
          <p:spPr>
            <a:xfrm>
              <a:off x="0" y="0"/>
              <a:ext cx="457517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veri["kategori_ilgi_orani"]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veri["kategori_davranis_puani"] /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085" name="Dikdörtgen"/>
          <p:cNvSpPr/>
          <p:nvPr/>
        </p:nvSpPr>
        <p:spPr>
          <a:xfrm>
            <a:off x="6667500" y="4838700"/>
            <a:ext cx="4000500" cy="6667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8" name="Grupla"/>
          <p:cNvGrpSpPr/>
          <p:nvPr/>
        </p:nvGrpSpPr>
        <p:grpSpPr>
          <a:xfrm>
            <a:off x="6819900" y="4953000"/>
            <a:ext cx="3695700" cy="495300"/>
            <a:chOff x="0" y="0"/>
            <a:chExt cx="3695700" cy="495300"/>
          </a:xfrm>
        </p:grpSpPr>
        <p:sp>
          <p:nvSpPr>
            <p:cNvPr id="1086" name="Dikdörtgen"/>
            <p:cNvSpPr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7" name="Kategori ilgisi satın alma etiketinden değil; görüntüleme ve sepete ekleme davranışından hesaplandı."/>
            <p:cNvSpPr txBox="1"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satın alma etiketinden değil; görüntüleme ve sepete ekleme davranışından hesaplandı.</a:t>
              </a:r>
            </a:p>
          </p:txBody>
        </p:sp>
      </p:grpSp>
      <p:grpSp>
        <p:nvGrpSpPr>
          <p:cNvPr id="10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0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0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0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3" name="1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2" name="RFM Segmentasyonu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  <p:grpSp>
        <p:nvGrpSpPr>
          <p:cNvPr id="11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05" name="RFM segmentasyonu müşterileri alışveriş geçmişine göre ayırı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RFM segmentasyonu müşterileri alışveriş geçmişine göre ayırır</a:t>
              </a:r>
            </a:p>
          </p:txBody>
        </p:sp>
      </p:grpSp>
      <p:grpSp>
        <p:nvGrpSpPr>
          <p:cNvPr id="11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8" name="Bu bir kümeleme modeli değil, iş kurallarına dayalı müşteri skorlamas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bir kümeleme modeli değil, iş kurallarına dayalı müşteri skorlamasıdır.</a:t>
              </a:r>
            </a:p>
          </p:txBody>
        </p:sp>
      </p:grpSp>
      <p:pic>
        <p:nvPicPr>
          <p:cNvPr id="1110" name="image7.png" descr="image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2006" y="2076450"/>
            <a:ext cx="4642701" cy="25542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1" name="image8.png" descr="image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15350" y="1905000"/>
            <a:ext cx="4228551" cy="2952750"/>
          </a:xfrm>
          <a:prstGeom prst="rect">
            <a:avLst/>
          </a:prstGeom>
          <a:ln w="12700">
            <a:miter lim="400000"/>
          </a:ln>
        </p:spPr>
      </p:pic>
      <p:sp>
        <p:nvSpPr>
          <p:cNvPr id="1112" name="Dikdörtgen"/>
          <p:cNvSpPr/>
          <p:nvPr/>
        </p:nvSpPr>
        <p:spPr>
          <a:xfrm>
            <a:off x="1085850" y="4772025"/>
            <a:ext cx="5857875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Dikdörtgen"/>
          <p:cNvSpPr/>
          <p:nvPr/>
        </p:nvSpPr>
        <p:spPr>
          <a:xfrm>
            <a:off x="1047750" y="4714875"/>
            <a:ext cx="5857875" cy="1619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4" name="Dikdörtgen"/>
          <p:cNvSpPr/>
          <p:nvPr/>
        </p:nvSpPr>
        <p:spPr>
          <a:xfrm>
            <a:off x="1047750" y="4714875"/>
            <a:ext cx="5857875" cy="3238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17" name="Grupla"/>
          <p:cNvGrpSpPr/>
          <p:nvPr/>
        </p:nvGrpSpPr>
        <p:grpSpPr>
          <a:xfrm>
            <a:off x="1143000" y="4800599"/>
            <a:ext cx="1352550" cy="247651"/>
            <a:chOff x="0" y="0"/>
            <a:chExt cx="1352550" cy="247650"/>
          </a:xfrm>
        </p:grpSpPr>
        <p:sp>
          <p:nvSpPr>
            <p:cNvPr id="1115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6" name="Segment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Segment</a:t>
              </a:r>
            </a:p>
          </p:txBody>
        </p:sp>
      </p:grpSp>
      <p:sp>
        <p:nvSpPr>
          <p:cNvPr id="1118" name="Dikdörtgen"/>
          <p:cNvSpPr/>
          <p:nvPr/>
        </p:nvSpPr>
        <p:spPr>
          <a:xfrm>
            <a:off x="2570161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1" name="Grupla"/>
          <p:cNvGrpSpPr/>
          <p:nvPr/>
        </p:nvGrpSpPr>
        <p:grpSpPr>
          <a:xfrm>
            <a:off x="2667000" y="4800599"/>
            <a:ext cx="828675" cy="247651"/>
            <a:chOff x="0" y="0"/>
            <a:chExt cx="828675" cy="247650"/>
          </a:xfrm>
        </p:grpSpPr>
        <p:sp>
          <p:nvSpPr>
            <p:cNvPr id="1119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0" name="Müşteri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</a:t>
              </a:r>
            </a:p>
          </p:txBody>
        </p:sp>
      </p:grpSp>
      <p:sp>
        <p:nvSpPr>
          <p:cNvPr id="1122" name="Dikdörtgen"/>
          <p:cNvSpPr/>
          <p:nvPr/>
        </p:nvSpPr>
        <p:spPr>
          <a:xfrm>
            <a:off x="3570287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5" name="Grupla"/>
          <p:cNvGrpSpPr/>
          <p:nvPr/>
        </p:nvGrpSpPr>
        <p:grpSpPr>
          <a:xfrm>
            <a:off x="3667125" y="4800599"/>
            <a:ext cx="3162300" cy="247651"/>
            <a:chOff x="0" y="0"/>
            <a:chExt cx="3162300" cy="247650"/>
          </a:xfrm>
        </p:grpSpPr>
        <p:sp>
          <p:nvSpPr>
            <p:cNvPr id="1123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4" name="Anlamı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Anlamı</a:t>
              </a:r>
            </a:p>
          </p:txBody>
        </p:sp>
      </p:grpSp>
      <p:grpSp>
        <p:nvGrpSpPr>
          <p:cNvPr id="1128" name="Grupla"/>
          <p:cNvGrpSpPr/>
          <p:nvPr/>
        </p:nvGrpSpPr>
        <p:grpSpPr>
          <a:xfrm>
            <a:off x="1143000" y="5124449"/>
            <a:ext cx="1352550" cy="247651"/>
            <a:chOff x="0" y="0"/>
            <a:chExt cx="1352550" cy="247650"/>
          </a:xfrm>
        </p:grpSpPr>
        <p:sp>
          <p:nvSpPr>
            <p:cNvPr id="1126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7" name="Sadık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Sadık</a:t>
              </a:r>
            </a:p>
          </p:txBody>
        </p:sp>
      </p:grpSp>
      <p:sp>
        <p:nvSpPr>
          <p:cNvPr id="1129" name="Dikdörtgen"/>
          <p:cNvSpPr/>
          <p:nvPr/>
        </p:nvSpPr>
        <p:spPr>
          <a:xfrm>
            <a:off x="2570161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2" name="Grupla"/>
          <p:cNvGrpSpPr/>
          <p:nvPr/>
        </p:nvGrpSpPr>
        <p:grpSpPr>
          <a:xfrm>
            <a:off x="2667000" y="5124449"/>
            <a:ext cx="828675" cy="247651"/>
            <a:chOff x="0" y="0"/>
            <a:chExt cx="828675" cy="247650"/>
          </a:xfrm>
        </p:grpSpPr>
        <p:sp>
          <p:nvSpPr>
            <p:cNvPr id="1130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1" name="4.38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4.388</a:t>
              </a:r>
            </a:p>
          </p:txBody>
        </p:sp>
      </p:grpSp>
      <p:sp>
        <p:nvSpPr>
          <p:cNvPr id="1133" name="Dikdörtgen"/>
          <p:cNvSpPr/>
          <p:nvPr/>
        </p:nvSpPr>
        <p:spPr>
          <a:xfrm>
            <a:off x="3570287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6" name="Grupla"/>
          <p:cNvGrpSpPr/>
          <p:nvPr/>
        </p:nvGrpSpPr>
        <p:grpSpPr>
          <a:xfrm>
            <a:off x="3667125" y="5124449"/>
            <a:ext cx="3162300" cy="247651"/>
            <a:chOff x="0" y="0"/>
            <a:chExt cx="3162300" cy="247650"/>
          </a:xfrm>
        </p:grpSpPr>
        <p:sp>
          <p:nvSpPr>
            <p:cNvPr id="1134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5" name="Düzenli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Düzenli alışveriş</a:t>
              </a:r>
            </a:p>
          </p:txBody>
        </p:sp>
      </p:grpSp>
      <p:sp>
        <p:nvSpPr>
          <p:cNvPr id="1137" name="Dikdörtgen"/>
          <p:cNvSpPr/>
          <p:nvPr/>
        </p:nvSpPr>
        <p:spPr>
          <a:xfrm>
            <a:off x="1047750" y="50371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0" name="Grupla"/>
          <p:cNvGrpSpPr/>
          <p:nvPr/>
        </p:nvGrpSpPr>
        <p:grpSpPr>
          <a:xfrm>
            <a:off x="1143000" y="5448299"/>
            <a:ext cx="1352550" cy="247651"/>
            <a:chOff x="0" y="0"/>
            <a:chExt cx="1352550" cy="247650"/>
          </a:xfrm>
        </p:grpSpPr>
        <p:sp>
          <p:nvSpPr>
            <p:cNvPr id="1138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9" name="Kayıp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Kayıp</a:t>
              </a:r>
            </a:p>
          </p:txBody>
        </p:sp>
      </p:grpSp>
      <p:sp>
        <p:nvSpPr>
          <p:cNvPr id="1141" name="Dikdörtgen"/>
          <p:cNvSpPr/>
          <p:nvPr/>
        </p:nvSpPr>
        <p:spPr>
          <a:xfrm>
            <a:off x="2570161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4" name="Grupla"/>
          <p:cNvGrpSpPr/>
          <p:nvPr/>
        </p:nvGrpSpPr>
        <p:grpSpPr>
          <a:xfrm>
            <a:off x="2667000" y="5448299"/>
            <a:ext cx="828675" cy="247651"/>
            <a:chOff x="0" y="0"/>
            <a:chExt cx="828675" cy="247650"/>
          </a:xfrm>
        </p:grpSpPr>
        <p:sp>
          <p:nvSpPr>
            <p:cNvPr id="1142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3" name="3.76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3.767</a:t>
              </a:r>
            </a:p>
          </p:txBody>
        </p:sp>
      </p:grpSp>
      <p:sp>
        <p:nvSpPr>
          <p:cNvPr id="1145" name="Dikdörtgen"/>
          <p:cNvSpPr/>
          <p:nvPr/>
        </p:nvSpPr>
        <p:spPr>
          <a:xfrm>
            <a:off x="3570287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8" name="Grupla"/>
          <p:cNvGrpSpPr/>
          <p:nvPr/>
        </p:nvGrpSpPr>
        <p:grpSpPr>
          <a:xfrm>
            <a:off x="3667125" y="5448299"/>
            <a:ext cx="3162300" cy="247651"/>
            <a:chOff x="0" y="0"/>
            <a:chExt cx="3162300" cy="247650"/>
          </a:xfrm>
        </p:grpSpPr>
        <p:sp>
          <p:nvSpPr>
            <p:cNvPr id="1146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7" name="Uzun süredir yok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Uzun süredir yok</a:t>
              </a:r>
            </a:p>
          </p:txBody>
        </p:sp>
      </p:grpSp>
      <p:sp>
        <p:nvSpPr>
          <p:cNvPr id="1149" name="Dikdörtgen"/>
          <p:cNvSpPr/>
          <p:nvPr/>
        </p:nvSpPr>
        <p:spPr>
          <a:xfrm>
            <a:off x="1047750" y="53609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2" name="Grupla"/>
          <p:cNvGrpSpPr/>
          <p:nvPr/>
        </p:nvGrpSpPr>
        <p:grpSpPr>
          <a:xfrm>
            <a:off x="1143000" y="5772149"/>
            <a:ext cx="1352550" cy="247651"/>
            <a:chOff x="0" y="0"/>
            <a:chExt cx="1352550" cy="247650"/>
          </a:xfrm>
        </p:grpSpPr>
        <p:sp>
          <p:nvSpPr>
            <p:cNvPr id="1150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1" name="Şampiyon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Şampiyon</a:t>
              </a:r>
            </a:p>
          </p:txBody>
        </p:sp>
      </p:grpSp>
      <p:sp>
        <p:nvSpPr>
          <p:cNvPr id="1153" name="Dikdörtgen"/>
          <p:cNvSpPr/>
          <p:nvPr/>
        </p:nvSpPr>
        <p:spPr>
          <a:xfrm>
            <a:off x="2570161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6" name="Grupla"/>
          <p:cNvGrpSpPr/>
          <p:nvPr/>
        </p:nvGrpSpPr>
        <p:grpSpPr>
          <a:xfrm>
            <a:off x="2667000" y="5772149"/>
            <a:ext cx="828675" cy="247651"/>
            <a:chOff x="0" y="0"/>
            <a:chExt cx="828675" cy="247650"/>
          </a:xfrm>
        </p:grpSpPr>
        <p:sp>
          <p:nvSpPr>
            <p:cNvPr id="1154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5" name="2.92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2.923</a:t>
              </a:r>
            </a:p>
          </p:txBody>
        </p:sp>
      </p:grpSp>
      <p:sp>
        <p:nvSpPr>
          <p:cNvPr id="1157" name="Dikdörtgen"/>
          <p:cNvSpPr/>
          <p:nvPr/>
        </p:nvSpPr>
        <p:spPr>
          <a:xfrm>
            <a:off x="3570287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0" name="Grupla"/>
          <p:cNvGrpSpPr/>
          <p:nvPr/>
        </p:nvGrpSpPr>
        <p:grpSpPr>
          <a:xfrm>
            <a:off x="3667125" y="5772149"/>
            <a:ext cx="3162300" cy="247651"/>
            <a:chOff x="0" y="0"/>
            <a:chExt cx="3162300" cy="247650"/>
          </a:xfrm>
        </p:grpSpPr>
        <p:sp>
          <p:nvSpPr>
            <p:cNvPr id="1158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9" name="Yakın tarih + sık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Yakın tarih + sık alışveriş</a:t>
              </a:r>
            </a:p>
          </p:txBody>
        </p:sp>
      </p:grpSp>
      <p:sp>
        <p:nvSpPr>
          <p:cNvPr id="1161" name="Dikdörtgen"/>
          <p:cNvSpPr/>
          <p:nvPr/>
        </p:nvSpPr>
        <p:spPr>
          <a:xfrm>
            <a:off x="1047750" y="56848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4" name="Grupla"/>
          <p:cNvGrpSpPr/>
          <p:nvPr/>
        </p:nvGrpSpPr>
        <p:grpSpPr>
          <a:xfrm>
            <a:off x="1143000" y="6095999"/>
            <a:ext cx="1352550" cy="247651"/>
            <a:chOff x="0" y="0"/>
            <a:chExt cx="1352550" cy="247650"/>
          </a:xfrm>
        </p:grpSpPr>
        <p:sp>
          <p:nvSpPr>
            <p:cNvPr id="1162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3" name="Risk Altında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Risk Altında</a:t>
              </a:r>
            </a:p>
          </p:txBody>
        </p:sp>
      </p:grpSp>
      <p:sp>
        <p:nvSpPr>
          <p:cNvPr id="1165" name="Dikdörtgen"/>
          <p:cNvSpPr/>
          <p:nvPr/>
        </p:nvSpPr>
        <p:spPr>
          <a:xfrm>
            <a:off x="2570161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8" name="Grupla"/>
          <p:cNvGrpSpPr/>
          <p:nvPr/>
        </p:nvGrpSpPr>
        <p:grpSpPr>
          <a:xfrm>
            <a:off x="2667000" y="6095999"/>
            <a:ext cx="828675" cy="247651"/>
            <a:chOff x="0" y="0"/>
            <a:chExt cx="828675" cy="247650"/>
          </a:xfrm>
        </p:grpSpPr>
        <p:sp>
          <p:nvSpPr>
            <p:cNvPr id="1166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7" name="2.734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2.734</a:t>
              </a:r>
            </a:p>
          </p:txBody>
        </p:sp>
      </p:grpSp>
      <p:sp>
        <p:nvSpPr>
          <p:cNvPr id="1169" name="Dikdörtgen"/>
          <p:cNvSpPr/>
          <p:nvPr/>
        </p:nvSpPr>
        <p:spPr>
          <a:xfrm>
            <a:off x="3570287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2" name="Grupla"/>
          <p:cNvGrpSpPr/>
          <p:nvPr/>
        </p:nvGrpSpPr>
        <p:grpSpPr>
          <a:xfrm>
            <a:off x="3667125" y="6095999"/>
            <a:ext cx="3162300" cy="247651"/>
            <a:chOff x="0" y="0"/>
            <a:chExt cx="3162300" cy="247650"/>
          </a:xfrm>
        </p:grpSpPr>
        <p:sp>
          <p:nvSpPr>
            <p:cNvPr id="1170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1" name="Geri kazanılabilir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Geri kazanılabilir</a:t>
              </a:r>
            </a:p>
          </p:txBody>
        </p:sp>
      </p:grpSp>
      <p:sp>
        <p:nvSpPr>
          <p:cNvPr id="1173" name="Dikdörtgen"/>
          <p:cNvSpPr/>
          <p:nvPr/>
        </p:nvSpPr>
        <p:spPr>
          <a:xfrm>
            <a:off x="1047750" y="60086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4" name="Dikdörtgen"/>
          <p:cNvSpPr/>
          <p:nvPr/>
        </p:nvSpPr>
        <p:spPr>
          <a:xfrm>
            <a:off x="6343650" y="5124450"/>
            <a:ext cx="4095750" cy="6096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7" name="Grupla"/>
          <p:cNvGrpSpPr/>
          <p:nvPr/>
        </p:nvGrpSpPr>
        <p:grpSpPr>
          <a:xfrm>
            <a:off x="6496050" y="5238749"/>
            <a:ext cx="3790950" cy="438151"/>
            <a:chOff x="0" y="0"/>
            <a:chExt cx="3790950" cy="438150"/>
          </a:xfrm>
        </p:grpSpPr>
        <p:sp>
          <p:nvSpPr>
            <p:cNvPr id="1175" name="Dikdörtgen"/>
            <p:cNvSpPr/>
            <p:nvPr/>
          </p:nvSpPr>
          <p:spPr>
            <a:xfrm>
              <a:off x="0" y="0"/>
              <a:ext cx="37909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6" name="Noktaların iç içe görünmesi normaldir: segmentler görsel mesafe ile değil R, F ve M skor kurallarıyla oluşur."/>
            <p:cNvSpPr txBox="1"/>
            <p:nvPr/>
          </p:nvSpPr>
          <p:spPr>
            <a:xfrm>
              <a:off x="0" y="-1"/>
              <a:ext cx="37909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Noktaların iç içe görünmesi normaldir: segmentler görsel mesafe ile değil R, F ve M skor kurallarıyla oluşur.</a:t>
              </a:r>
            </a:p>
          </p:txBody>
        </p:sp>
      </p:grpSp>
      <p:grpSp>
        <p:nvGrpSpPr>
          <p:cNvPr id="11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1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1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1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2" name="1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1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1" name="Model Seçim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Seçimi</a:t>
              </a:r>
            </a:p>
          </p:txBody>
        </p:sp>
      </p:grpSp>
      <p:grpSp>
        <p:nvGrpSpPr>
          <p:cNvPr id="11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94" name="Problem türü sınıflandırmadır; Random Forest sonuçları yorumlamayı kolaylaştır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 türü sınıflandırmadır; Random Forest sonuçları yorumlamayı kolaylaştırır</a:t>
              </a:r>
            </a:p>
          </p:txBody>
        </p:sp>
      </p:grpSp>
      <p:grpSp>
        <p:nvGrpSpPr>
          <p:cNvPr id="11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7" name="Tahmin sayısal satış adedi değil, satın alır / satın almaz veya önerilir / önerilmez karar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Tahmin sayısal satış adedi değil, satın alır / satın almaz veya önerilir / önerilmez kararıdır.</a:t>
              </a:r>
            </a:p>
          </p:txBody>
        </p:sp>
      </p:grpSp>
      <p:sp>
        <p:nvSpPr>
          <p:cNvPr id="1199" name="Dikdörtgen"/>
          <p:cNvSpPr/>
          <p:nvPr/>
        </p:nvSpPr>
        <p:spPr>
          <a:xfrm>
            <a:off x="7810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0" name="Dikdörtgen"/>
          <p:cNvSpPr/>
          <p:nvPr/>
        </p:nvSpPr>
        <p:spPr>
          <a:xfrm>
            <a:off x="7429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1" name="Dikdörtgen"/>
          <p:cNvSpPr/>
          <p:nvPr/>
        </p:nvSpPr>
        <p:spPr>
          <a:xfrm>
            <a:off x="742950" y="2095500"/>
            <a:ext cx="57150" cy="2381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4" name="Grupla"/>
          <p:cNvGrpSpPr/>
          <p:nvPr/>
        </p:nvGrpSpPr>
        <p:grpSpPr>
          <a:xfrm>
            <a:off x="1047750" y="2381249"/>
            <a:ext cx="2381250" cy="266701"/>
            <a:chOff x="0" y="0"/>
            <a:chExt cx="2381250" cy="266700"/>
          </a:xfrm>
        </p:grpSpPr>
        <p:sp>
          <p:nvSpPr>
            <p:cNvPr id="1202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3" name="Neden sınıflandırma?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sınıflandırma?</a:t>
              </a:r>
            </a:p>
          </p:txBody>
        </p:sp>
      </p:grpSp>
      <p:sp>
        <p:nvSpPr>
          <p:cNvPr id="1205" name="Kare"/>
          <p:cNvSpPr/>
          <p:nvPr/>
        </p:nvSpPr>
        <p:spPr>
          <a:xfrm>
            <a:off x="10477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8" name="Grupla"/>
          <p:cNvGrpSpPr/>
          <p:nvPr/>
        </p:nvGrpSpPr>
        <p:grpSpPr>
          <a:xfrm>
            <a:off x="1219200" y="2952749"/>
            <a:ext cx="2019300" cy="438151"/>
            <a:chOff x="0" y="0"/>
            <a:chExt cx="2019300" cy="438150"/>
          </a:xfrm>
        </p:grpSpPr>
        <p:sp>
          <p:nvSpPr>
            <p:cNvPr id="1206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7" name="Hedef iki sınıflıdı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iki sınıflıdır.</a:t>
              </a:r>
            </a:p>
          </p:txBody>
        </p:sp>
      </p:grpSp>
      <p:sp>
        <p:nvSpPr>
          <p:cNvPr id="1209" name="Kare"/>
          <p:cNvSpPr/>
          <p:nvPr/>
        </p:nvSpPr>
        <p:spPr>
          <a:xfrm>
            <a:off x="104775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2" name="Grupla"/>
          <p:cNvGrpSpPr/>
          <p:nvPr/>
        </p:nvGrpSpPr>
        <p:grpSpPr>
          <a:xfrm>
            <a:off x="1219200" y="3352799"/>
            <a:ext cx="2019300" cy="438151"/>
            <a:chOff x="0" y="0"/>
            <a:chExt cx="2019300" cy="438150"/>
          </a:xfrm>
        </p:grpSpPr>
        <p:sp>
          <p:nvSpPr>
            <p:cNvPr id="1210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1" name="0 = hayır, 1 = evet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 = hayır, 1 = evet.</a:t>
              </a:r>
            </a:p>
          </p:txBody>
        </p:sp>
      </p:grpSp>
      <p:sp>
        <p:nvSpPr>
          <p:cNvPr id="1213" name="Kare"/>
          <p:cNvSpPr/>
          <p:nvPr/>
        </p:nvSpPr>
        <p:spPr>
          <a:xfrm>
            <a:off x="104775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6" name="Grupla"/>
          <p:cNvGrpSpPr/>
          <p:nvPr/>
        </p:nvGrpSpPr>
        <p:grpSpPr>
          <a:xfrm>
            <a:off x="1219200" y="3752849"/>
            <a:ext cx="2019300" cy="438151"/>
            <a:chOff x="0" y="0"/>
            <a:chExt cx="2019300" cy="438150"/>
          </a:xfrm>
        </p:grpSpPr>
        <p:sp>
          <p:nvSpPr>
            <p:cNvPr id="121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5" name="Olasılık sıralama için kullan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 sıralama için kullanılır.</a:t>
              </a:r>
            </a:p>
          </p:txBody>
        </p:sp>
      </p:grpSp>
      <p:sp>
        <p:nvSpPr>
          <p:cNvPr id="1217" name="Dikdörtgen"/>
          <p:cNvSpPr/>
          <p:nvPr/>
        </p:nvSpPr>
        <p:spPr>
          <a:xfrm>
            <a:off x="461010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8" name="Dikdörtgen"/>
          <p:cNvSpPr/>
          <p:nvPr/>
        </p:nvSpPr>
        <p:spPr>
          <a:xfrm>
            <a:off x="457200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9" name="Dikdörtgen"/>
          <p:cNvSpPr/>
          <p:nvPr/>
        </p:nvSpPr>
        <p:spPr>
          <a:xfrm>
            <a:off x="4572000" y="2095500"/>
            <a:ext cx="57150" cy="2381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2" name="Grupla"/>
          <p:cNvGrpSpPr/>
          <p:nvPr/>
        </p:nvGrpSpPr>
        <p:grpSpPr>
          <a:xfrm>
            <a:off x="4876800" y="2381249"/>
            <a:ext cx="2381250" cy="508001"/>
            <a:chOff x="0" y="0"/>
            <a:chExt cx="2381250" cy="508000"/>
          </a:xfrm>
        </p:grpSpPr>
        <p:sp>
          <p:nvSpPr>
            <p:cNvPr id="1220" name="Dikdörtgen"/>
            <p:cNvSpPr/>
            <p:nvPr/>
          </p:nvSpPr>
          <p:spPr>
            <a:xfrm>
              <a:off x="0" y="-1"/>
              <a:ext cx="2381250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1" name="Neden Random Forest?"/>
            <p:cNvSpPr txBox="1"/>
            <p:nvPr/>
          </p:nvSpPr>
          <p:spPr>
            <a:xfrm>
              <a:off x="0" y="0"/>
              <a:ext cx="23812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Random Forest?</a:t>
              </a:r>
            </a:p>
          </p:txBody>
        </p:sp>
      </p:grpSp>
      <p:sp>
        <p:nvSpPr>
          <p:cNvPr id="1223" name="Kare"/>
          <p:cNvSpPr/>
          <p:nvPr/>
        </p:nvSpPr>
        <p:spPr>
          <a:xfrm>
            <a:off x="487680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6" name="Grupla"/>
          <p:cNvGrpSpPr/>
          <p:nvPr/>
        </p:nvGrpSpPr>
        <p:grpSpPr>
          <a:xfrm>
            <a:off x="5048250" y="2952749"/>
            <a:ext cx="2019300" cy="438151"/>
            <a:chOff x="0" y="0"/>
            <a:chExt cx="2019300" cy="438150"/>
          </a:xfrm>
        </p:grpSpPr>
        <p:sp>
          <p:nvSpPr>
            <p:cNvPr id="122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5" name="Karar ağacı mantığı anlaş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 ağacı mantığı anlaşılır.</a:t>
              </a:r>
            </a:p>
          </p:txBody>
        </p:sp>
      </p:grpSp>
      <p:sp>
        <p:nvSpPr>
          <p:cNvPr id="1227" name="Kare"/>
          <p:cNvSpPr/>
          <p:nvPr/>
        </p:nvSpPr>
        <p:spPr>
          <a:xfrm>
            <a:off x="487680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0" name="Grupla"/>
          <p:cNvGrpSpPr/>
          <p:nvPr/>
        </p:nvGrpSpPr>
        <p:grpSpPr>
          <a:xfrm>
            <a:off x="5048250" y="3352799"/>
            <a:ext cx="2019300" cy="438151"/>
            <a:chOff x="0" y="0"/>
            <a:chExt cx="2019300" cy="438150"/>
          </a:xfrm>
        </p:grpSpPr>
        <p:sp>
          <p:nvSpPr>
            <p:cNvPr id="1228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9" name="Doğrusal olmayan ilişkileri yakala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Doğrusal olmayan ilişkileri yakalar.</a:t>
              </a:r>
            </a:p>
          </p:txBody>
        </p:sp>
      </p:grpSp>
      <p:sp>
        <p:nvSpPr>
          <p:cNvPr id="1231" name="Kare"/>
          <p:cNvSpPr/>
          <p:nvPr/>
        </p:nvSpPr>
        <p:spPr>
          <a:xfrm>
            <a:off x="487680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4" name="Grupla"/>
          <p:cNvGrpSpPr/>
          <p:nvPr/>
        </p:nvGrpSpPr>
        <p:grpSpPr>
          <a:xfrm>
            <a:off x="5048250" y="3752849"/>
            <a:ext cx="2019300" cy="438151"/>
            <a:chOff x="0" y="0"/>
            <a:chExt cx="2019300" cy="438150"/>
          </a:xfrm>
        </p:grpSpPr>
        <p:sp>
          <p:nvSpPr>
            <p:cNvPr id="1232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3" name="Özellik önemini gösteri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önemini gösterir.</a:t>
              </a:r>
            </a:p>
          </p:txBody>
        </p:sp>
      </p:grpSp>
      <p:sp>
        <p:nvSpPr>
          <p:cNvPr id="1235" name="Dikdörtgen"/>
          <p:cNvSpPr/>
          <p:nvPr/>
        </p:nvSpPr>
        <p:spPr>
          <a:xfrm>
            <a:off x="84391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6" name="Dikdörtgen"/>
          <p:cNvSpPr/>
          <p:nvPr/>
        </p:nvSpPr>
        <p:spPr>
          <a:xfrm>
            <a:off x="84010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7" name="Dikdörtgen"/>
          <p:cNvSpPr/>
          <p:nvPr/>
        </p:nvSpPr>
        <p:spPr>
          <a:xfrm>
            <a:off x="8401050" y="2095500"/>
            <a:ext cx="57150" cy="238125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0" name="Grupla"/>
          <p:cNvGrpSpPr/>
          <p:nvPr/>
        </p:nvGrpSpPr>
        <p:grpSpPr>
          <a:xfrm>
            <a:off x="8705850" y="2381249"/>
            <a:ext cx="2381250" cy="266701"/>
            <a:chOff x="0" y="0"/>
            <a:chExt cx="2381250" cy="266700"/>
          </a:xfrm>
        </p:grpSpPr>
        <p:sp>
          <p:nvSpPr>
            <p:cNvPr id="1238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9" name="Veri sızıntısı önlemi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sızıntısı önlemi</a:t>
              </a:r>
            </a:p>
          </p:txBody>
        </p:sp>
      </p:grpSp>
      <p:sp>
        <p:nvSpPr>
          <p:cNvPr id="1241" name="Kare"/>
          <p:cNvSpPr/>
          <p:nvPr/>
        </p:nvSpPr>
        <p:spPr>
          <a:xfrm>
            <a:off x="87058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4" name="Grupla"/>
          <p:cNvGrpSpPr/>
          <p:nvPr/>
        </p:nvGrpSpPr>
        <p:grpSpPr>
          <a:xfrm>
            <a:off x="8877300" y="2952749"/>
            <a:ext cx="2114550" cy="400051"/>
            <a:chOff x="0" y="0"/>
            <a:chExt cx="2114550" cy="400050"/>
          </a:xfrm>
        </p:grpSpPr>
        <p:sp>
          <p:nvSpPr>
            <p:cNvPr id="1242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3" name="Satış oranı ürün modeline verilmedi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oranı ürün modeline verilmedi.</a:t>
              </a:r>
            </a:p>
          </p:txBody>
        </p:sp>
      </p:grpSp>
      <p:sp>
        <p:nvSpPr>
          <p:cNvPr id="1245" name="Kare"/>
          <p:cNvSpPr/>
          <p:nvPr/>
        </p:nvSpPr>
        <p:spPr>
          <a:xfrm>
            <a:off x="8705850" y="3381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8" name="Grupla"/>
          <p:cNvGrpSpPr/>
          <p:nvPr/>
        </p:nvGrpSpPr>
        <p:grpSpPr>
          <a:xfrm>
            <a:off x="8877300" y="3314699"/>
            <a:ext cx="2114550" cy="400051"/>
            <a:chOff x="0" y="0"/>
            <a:chExt cx="2114550" cy="400050"/>
          </a:xfrm>
        </p:grpSpPr>
        <p:sp>
          <p:nvSpPr>
            <p:cNvPr id="1246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7" name="Hedef etiketiyle aynı bilgiyi taşıyan alanlar çıkar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etiketiyle aynı bilgiyi taşıyan alanlar çıkarıldı.</a:t>
              </a:r>
            </a:p>
          </p:txBody>
        </p:sp>
      </p:grpSp>
      <p:sp>
        <p:nvSpPr>
          <p:cNvPr id="1249" name="Kare"/>
          <p:cNvSpPr/>
          <p:nvPr/>
        </p:nvSpPr>
        <p:spPr>
          <a:xfrm>
            <a:off x="8705850" y="3743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2" name="Grupla"/>
          <p:cNvGrpSpPr/>
          <p:nvPr/>
        </p:nvGrpSpPr>
        <p:grpSpPr>
          <a:xfrm>
            <a:off x="8877300" y="3676649"/>
            <a:ext cx="2114550" cy="400051"/>
            <a:chOff x="0" y="0"/>
            <a:chExt cx="2114550" cy="400050"/>
          </a:xfrm>
        </p:grpSpPr>
        <p:sp>
          <p:nvSpPr>
            <p:cNvPr id="1250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1" name="Train/test ayrımı stratify ile yap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Train/test ayrımı stratify ile yapıldı.</a:t>
              </a:r>
            </a:p>
          </p:txBody>
        </p:sp>
      </p:grpSp>
      <p:sp>
        <p:nvSpPr>
          <p:cNvPr id="1253" name="Dikdörtgen"/>
          <p:cNvSpPr/>
          <p:nvPr/>
        </p:nvSpPr>
        <p:spPr>
          <a:xfrm>
            <a:off x="3181350" y="5010150"/>
            <a:ext cx="5334000" cy="1066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4" name="Dikdörtgen"/>
          <p:cNvSpPr/>
          <p:nvPr/>
        </p:nvSpPr>
        <p:spPr>
          <a:xfrm>
            <a:off x="3034712" y="4952999"/>
            <a:ext cx="5442539" cy="121494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7" name="Grupla"/>
          <p:cNvGrpSpPr/>
          <p:nvPr/>
        </p:nvGrpSpPr>
        <p:grpSpPr>
          <a:xfrm>
            <a:off x="3314700" y="5086349"/>
            <a:ext cx="4991100" cy="190501"/>
            <a:chOff x="0" y="0"/>
            <a:chExt cx="4991100" cy="190500"/>
          </a:xfrm>
        </p:grpSpPr>
        <p:sp>
          <p:nvSpPr>
            <p:cNvPr id="1255" name="Dikdörtgen"/>
            <p:cNvSpPr/>
            <p:nvPr/>
          </p:nvSpPr>
          <p:spPr>
            <a:xfrm>
              <a:off x="0" y="0"/>
              <a:ext cx="4991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6" name="Kişisel model"/>
            <p:cNvSpPr txBox="1"/>
            <p:nvPr/>
          </p:nvSpPr>
          <p:spPr>
            <a:xfrm>
              <a:off x="0" y="-1"/>
              <a:ext cx="4991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260" name="Grupla"/>
          <p:cNvGrpSpPr/>
          <p:nvPr/>
        </p:nvGrpSpPr>
        <p:grpSpPr>
          <a:xfrm>
            <a:off x="3314699" y="5180998"/>
            <a:ext cx="6869326" cy="914401"/>
            <a:chOff x="0" y="0"/>
            <a:chExt cx="6869324" cy="914400"/>
          </a:xfrm>
        </p:grpSpPr>
        <p:sp>
          <p:nvSpPr>
            <p:cNvPr id="1258" name="Dikdörtgen"/>
            <p:cNvSpPr/>
            <p:nvPr/>
          </p:nvSpPr>
          <p:spPr>
            <a:xfrm>
              <a:off x="0" y="0"/>
              <a:ext cx="6869325" cy="7865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259" name="model = RandomForestClassifier(…"/>
            <p:cNvSpPr txBox="1"/>
            <p:nvPr/>
          </p:nvSpPr>
          <p:spPr>
            <a:xfrm>
              <a:off x="0" y="0"/>
              <a:ext cx="686932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model = RandomForestClassifier(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n_estimators=180,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max_depth=10,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class_weight="balanced",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grpSp>
        <p:nvGrpSpPr>
          <p:cNvPr id="126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26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26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26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5" name="1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7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27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27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27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4" name="Ürün Model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Modeli</a:t>
              </a:r>
            </a:p>
          </p:txBody>
        </p:sp>
      </p:grpSp>
      <p:grpSp>
        <p:nvGrpSpPr>
          <p:cNvPr id="127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27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277" name="Ürün modeli genel önerilebilirlik etiketini başarılı biçimde ayırıyo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modeli genel önerilebilirlik etiketini başarılı biçimde ayırıyor</a:t>
              </a:r>
            </a:p>
          </p:txBody>
        </p:sp>
      </p:grpSp>
      <p:grpSp>
        <p:nvGrpSpPr>
          <p:cNvPr id="128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27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0" name="Bu model genel ürün skorunun hangi özelliklerle açıklanabildiğini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model genel ürün skorunun hangi özelliklerle açıklanabildiğini gösterir.</a:t>
              </a:r>
            </a:p>
          </p:txBody>
        </p:sp>
      </p:grpSp>
      <p:sp>
        <p:nvSpPr>
          <p:cNvPr id="1282" name="Dikdörtgen"/>
          <p:cNvSpPr/>
          <p:nvPr/>
        </p:nvSpPr>
        <p:spPr>
          <a:xfrm>
            <a:off x="7048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3" name="Dikdörtgen"/>
          <p:cNvSpPr/>
          <p:nvPr/>
        </p:nvSpPr>
        <p:spPr>
          <a:xfrm>
            <a:off x="6667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4" name="Dikdörtgen"/>
          <p:cNvSpPr/>
          <p:nvPr/>
        </p:nvSpPr>
        <p:spPr>
          <a:xfrm>
            <a:off x="666750" y="19050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87" name="Grupla"/>
          <p:cNvGrpSpPr/>
          <p:nvPr/>
        </p:nvGrpSpPr>
        <p:grpSpPr>
          <a:xfrm>
            <a:off x="857250" y="2076449"/>
            <a:ext cx="1524000" cy="152401"/>
            <a:chOff x="0" y="0"/>
            <a:chExt cx="1524000" cy="152400"/>
          </a:xfrm>
        </p:grpSpPr>
        <p:sp>
          <p:nvSpPr>
            <p:cNvPr id="1285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6" name="DOĞRULUK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290" name="Grupla"/>
          <p:cNvGrpSpPr/>
          <p:nvPr/>
        </p:nvGrpSpPr>
        <p:grpSpPr>
          <a:xfrm>
            <a:off x="857250" y="2305049"/>
            <a:ext cx="1524000" cy="361951"/>
            <a:chOff x="0" y="0"/>
            <a:chExt cx="1524000" cy="361950"/>
          </a:xfrm>
        </p:grpSpPr>
        <p:sp>
          <p:nvSpPr>
            <p:cNvPr id="1288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9" name="84.7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84.7%</a:t>
              </a:r>
            </a:p>
          </p:txBody>
        </p:sp>
      </p:grpSp>
      <p:grpSp>
        <p:nvGrpSpPr>
          <p:cNvPr id="1293" name="Grupla"/>
          <p:cNvGrpSpPr/>
          <p:nvPr/>
        </p:nvGrpSpPr>
        <p:grpSpPr>
          <a:xfrm>
            <a:off x="857250" y="2686049"/>
            <a:ext cx="1524000" cy="171451"/>
            <a:chOff x="0" y="0"/>
            <a:chExt cx="1524000" cy="171450"/>
          </a:xfrm>
        </p:grpSpPr>
        <p:sp>
          <p:nvSpPr>
            <p:cNvPr id="1291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2" name="test set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294" name="Dikdörtgen"/>
          <p:cNvSpPr/>
          <p:nvPr/>
        </p:nvSpPr>
        <p:spPr>
          <a:xfrm>
            <a:off x="28956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5" name="Dikdörtgen"/>
          <p:cNvSpPr/>
          <p:nvPr/>
        </p:nvSpPr>
        <p:spPr>
          <a:xfrm>
            <a:off x="28575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6" name="Dikdörtgen"/>
          <p:cNvSpPr/>
          <p:nvPr/>
        </p:nvSpPr>
        <p:spPr>
          <a:xfrm>
            <a:off x="2857500" y="19050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99" name="Grupla"/>
          <p:cNvGrpSpPr/>
          <p:nvPr/>
        </p:nvGrpSpPr>
        <p:grpSpPr>
          <a:xfrm>
            <a:off x="3048000" y="2076449"/>
            <a:ext cx="1524000" cy="152401"/>
            <a:chOff x="0" y="0"/>
            <a:chExt cx="1524000" cy="152400"/>
          </a:xfrm>
        </p:grpSpPr>
        <p:sp>
          <p:nvSpPr>
            <p:cNvPr id="1297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8" name="ROC AUC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02" name="Grupla"/>
          <p:cNvGrpSpPr/>
          <p:nvPr/>
        </p:nvGrpSpPr>
        <p:grpSpPr>
          <a:xfrm>
            <a:off x="3048000" y="2305049"/>
            <a:ext cx="1524000" cy="361951"/>
            <a:chOff x="0" y="0"/>
            <a:chExt cx="1524000" cy="361950"/>
          </a:xfrm>
        </p:grpSpPr>
        <p:sp>
          <p:nvSpPr>
            <p:cNvPr id="1300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1" name="0.913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0.913</a:t>
              </a:r>
            </a:p>
          </p:txBody>
        </p:sp>
      </p:grpSp>
      <p:grpSp>
        <p:nvGrpSpPr>
          <p:cNvPr id="1305" name="Grupla"/>
          <p:cNvGrpSpPr/>
          <p:nvPr/>
        </p:nvGrpSpPr>
        <p:grpSpPr>
          <a:xfrm>
            <a:off x="3048000" y="2686049"/>
            <a:ext cx="1524000" cy="171451"/>
            <a:chOff x="0" y="0"/>
            <a:chExt cx="1524000" cy="171450"/>
          </a:xfrm>
        </p:grpSpPr>
        <p:sp>
          <p:nvSpPr>
            <p:cNvPr id="1303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4" name="iyi ayrım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iyi ayrım</a:t>
              </a:r>
            </a:p>
          </p:txBody>
        </p:sp>
      </p:grpSp>
      <p:sp>
        <p:nvSpPr>
          <p:cNvPr id="1306" name="Dikdörtgen"/>
          <p:cNvSpPr/>
          <p:nvPr/>
        </p:nvSpPr>
        <p:spPr>
          <a:xfrm>
            <a:off x="50863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7" name="Dikdörtgen"/>
          <p:cNvSpPr/>
          <p:nvPr/>
        </p:nvSpPr>
        <p:spPr>
          <a:xfrm>
            <a:off x="50482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8" name="Dikdörtgen"/>
          <p:cNvSpPr/>
          <p:nvPr/>
        </p:nvSpPr>
        <p:spPr>
          <a:xfrm>
            <a:off x="5048250" y="19050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11" name="Grupla"/>
          <p:cNvGrpSpPr/>
          <p:nvPr/>
        </p:nvGrpSpPr>
        <p:grpSpPr>
          <a:xfrm>
            <a:off x="5238750" y="2076449"/>
            <a:ext cx="1524000" cy="152401"/>
            <a:chOff x="0" y="0"/>
            <a:chExt cx="1524000" cy="152400"/>
          </a:xfrm>
        </p:grpSpPr>
        <p:sp>
          <p:nvSpPr>
            <p:cNvPr id="1309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0" name="PRECISION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314" name="Grupla"/>
          <p:cNvGrpSpPr/>
          <p:nvPr/>
        </p:nvGrpSpPr>
        <p:grpSpPr>
          <a:xfrm>
            <a:off x="5238750" y="2305049"/>
            <a:ext cx="1524000" cy="361951"/>
            <a:chOff x="0" y="0"/>
            <a:chExt cx="1524000" cy="361950"/>
          </a:xfrm>
        </p:grpSpPr>
        <p:sp>
          <p:nvSpPr>
            <p:cNvPr id="1312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3" name="73.4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73.4%</a:t>
              </a:r>
            </a:p>
          </p:txBody>
        </p:sp>
      </p:grpSp>
      <p:grpSp>
        <p:nvGrpSpPr>
          <p:cNvPr id="1317" name="Grupla"/>
          <p:cNvGrpSpPr/>
          <p:nvPr/>
        </p:nvGrpSpPr>
        <p:grpSpPr>
          <a:xfrm>
            <a:off x="5238750" y="2686049"/>
            <a:ext cx="1524000" cy="171451"/>
            <a:chOff x="0" y="0"/>
            <a:chExt cx="1524000" cy="171450"/>
          </a:xfrm>
        </p:grpSpPr>
        <p:sp>
          <p:nvSpPr>
            <p:cNvPr id="1315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6" name="önerilir sınıf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önerilir sınıf</a:t>
              </a:r>
            </a:p>
          </p:txBody>
        </p:sp>
      </p:grpSp>
      <p:sp>
        <p:nvSpPr>
          <p:cNvPr id="1318" name="Dikdörtgen"/>
          <p:cNvSpPr/>
          <p:nvPr/>
        </p:nvSpPr>
        <p:spPr>
          <a:xfrm>
            <a:off x="72771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9" name="Dikdörtgen"/>
          <p:cNvSpPr/>
          <p:nvPr/>
        </p:nvSpPr>
        <p:spPr>
          <a:xfrm>
            <a:off x="72390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0" name="Dikdörtgen"/>
          <p:cNvSpPr/>
          <p:nvPr/>
        </p:nvSpPr>
        <p:spPr>
          <a:xfrm>
            <a:off x="7239000" y="19050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23" name="Grupla"/>
          <p:cNvGrpSpPr/>
          <p:nvPr/>
        </p:nvGrpSpPr>
        <p:grpSpPr>
          <a:xfrm>
            <a:off x="7429500" y="2076449"/>
            <a:ext cx="1524000" cy="152401"/>
            <a:chOff x="0" y="0"/>
            <a:chExt cx="1524000" cy="152400"/>
          </a:xfrm>
        </p:grpSpPr>
        <p:sp>
          <p:nvSpPr>
            <p:cNvPr id="1321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2" name="F1 SKORU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F1 SKORU</a:t>
              </a:r>
            </a:p>
          </p:txBody>
        </p:sp>
      </p:grpSp>
      <p:grpSp>
        <p:nvGrpSpPr>
          <p:cNvPr id="1326" name="Grupla"/>
          <p:cNvGrpSpPr/>
          <p:nvPr/>
        </p:nvGrpSpPr>
        <p:grpSpPr>
          <a:xfrm>
            <a:off x="7429500" y="2305049"/>
            <a:ext cx="1524000" cy="361951"/>
            <a:chOff x="0" y="0"/>
            <a:chExt cx="1524000" cy="361950"/>
          </a:xfrm>
        </p:grpSpPr>
        <p:sp>
          <p:nvSpPr>
            <p:cNvPr id="1324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5" name="0.750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0.750</a:t>
              </a:r>
            </a:p>
          </p:txBody>
        </p:sp>
      </p:grpSp>
      <p:grpSp>
        <p:nvGrpSpPr>
          <p:cNvPr id="1329" name="Grupla"/>
          <p:cNvGrpSpPr/>
          <p:nvPr/>
        </p:nvGrpSpPr>
        <p:grpSpPr>
          <a:xfrm>
            <a:off x="7429500" y="2686049"/>
            <a:ext cx="1524000" cy="171451"/>
            <a:chOff x="0" y="0"/>
            <a:chExt cx="1524000" cy="171450"/>
          </a:xfrm>
        </p:grpSpPr>
        <p:sp>
          <p:nvSpPr>
            <p:cNvPr id="1327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8" name="denge metriğ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denge metriği</a:t>
              </a:r>
            </a:p>
          </p:txBody>
        </p:sp>
      </p:grpSp>
      <p:pic>
        <p:nvPicPr>
          <p:cNvPr id="1330" name="image9.png" descr="image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1689" y="3429000"/>
            <a:ext cx="2694372" cy="2190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1" name="image10.png" descr="image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09560" y="3381375"/>
            <a:ext cx="3220530" cy="228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2" name="image11.png" descr="image1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34375" y="3700895"/>
            <a:ext cx="2857500" cy="1570763"/>
          </a:xfrm>
          <a:prstGeom prst="rect">
            <a:avLst/>
          </a:prstGeom>
          <a:ln w="12700">
            <a:miter lim="400000"/>
          </a:ln>
        </p:spPr>
      </p:pic>
      <p:sp>
        <p:nvSpPr>
          <p:cNvPr id="1333" name="Dikdörtgen"/>
          <p:cNvSpPr/>
          <p:nvPr/>
        </p:nvSpPr>
        <p:spPr>
          <a:xfrm>
            <a:off x="838200" y="5810250"/>
            <a:ext cx="9334500" cy="4191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36" name="Grupla"/>
          <p:cNvGrpSpPr/>
          <p:nvPr/>
        </p:nvGrpSpPr>
        <p:grpSpPr>
          <a:xfrm>
            <a:off x="990600" y="5924549"/>
            <a:ext cx="9029700" cy="247651"/>
            <a:chOff x="0" y="0"/>
            <a:chExt cx="9029700" cy="247650"/>
          </a:xfrm>
        </p:grpSpPr>
        <p:sp>
          <p:nvSpPr>
            <p:cNvPr id="1334" name="Dikdörtgen"/>
            <p:cNvSpPr/>
            <p:nvPr/>
          </p:nvSpPr>
          <p:spPr>
            <a:xfrm>
              <a:off x="0" y="0"/>
              <a:ext cx="90297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5" name="Confusion Matrix: 69 doğru öneri, 25 yanlış öneri, 21 kaçan öneri var. AUC 0.913 modelin sınıfları iyi ayırdığını göster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Matrix: 69 doğru öneri, 25 yanlış öneri, 21 kaçan öneri var. AUC 0.913 modelin sınıfları iyi ayırdığını gösterir.</a:t>
              </a:r>
            </a:p>
          </p:txBody>
        </p:sp>
      </p:grpSp>
      <p:grpSp>
        <p:nvGrpSpPr>
          <p:cNvPr id="133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33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34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34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1" name="1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4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34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35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34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0" name="Kişisel Model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35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35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353" name="Kişisel satın alma modeli ürünleri müşteri bazında sıralamak için kullanıl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satın alma modeli ürünleri müşteri bazında sıralamak için kullanılır</a:t>
              </a:r>
            </a:p>
          </p:txBody>
        </p:sp>
      </p:grpSp>
      <p:grpSp>
        <p:nvGrpSpPr>
          <p:cNvPr id="1357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355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6" name="Dashboard’daki öneri listesi modelin satın alma olasılığına göre oluşturul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Dashboard’daki öneri listesi modelin satın alma olasılığına göre oluşturulur.</a:t>
              </a:r>
            </a:p>
          </p:txBody>
        </p:sp>
      </p:grpSp>
      <p:sp>
        <p:nvSpPr>
          <p:cNvPr id="1358" name="Dikdörtgen"/>
          <p:cNvSpPr/>
          <p:nvPr/>
        </p:nvSpPr>
        <p:spPr>
          <a:xfrm>
            <a:off x="7810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9" name="Dikdörtgen"/>
          <p:cNvSpPr/>
          <p:nvPr/>
        </p:nvSpPr>
        <p:spPr>
          <a:xfrm>
            <a:off x="7429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0" name="Dikdörtgen"/>
          <p:cNvSpPr/>
          <p:nvPr/>
        </p:nvSpPr>
        <p:spPr>
          <a:xfrm>
            <a:off x="742950" y="19431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63" name="Grupla"/>
          <p:cNvGrpSpPr/>
          <p:nvPr/>
        </p:nvGrpSpPr>
        <p:grpSpPr>
          <a:xfrm>
            <a:off x="933450" y="2114549"/>
            <a:ext cx="1714500" cy="152401"/>
            <a:chOff x="0" y="0"/>
            <a:chExt cx="1714500" cy="152400"/>
          </a:xfrm>
        </p:grpSpPr>
        <p:sp>
          <p:nvSpPr>
            <p:cNvPr id="1361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2" name="DOĞRULUK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366" name="Grupla"/>
          <p:cNvGrpSpPr/>
          <p:nvPr/>
        </p:nvGrpSpPr>
        <p:grpSpPr>
          <a:xfrm>
            <a:off x="933450" y="2343149"/>
            <a:ext cx="1714500" cy="361951"/>
            <a:chOff x="0" y="0"/>
            <a:chExt cx="1714500" cy="361950"/>
          </a:xfrm>
        </p:grpSpPr>
        <p:sp>
          <p:nvSpPr>
            <p:cNvPr id="1364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5" name="88.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88.3%</a:t>
              </a:r>
            </a:p>
          </p:txBody>
        </p:sp>
      </p:grpSp>
      <p:grpSp>
        <p:nvGrpSpPr>
          <p:cNvPr id="1369" name="Grupla"/>
          <p:cNvGrpSpPr/>
          <p:nvPr/>
        </p:nvGrpSpPr>
        <p:grpSpPr>
          <a:xfrm>
            <a:off x="933450" y="2724149"/>
            <a:ext cx="1714500" cy="171451"/>
            <a:chOff x="0" y="0"/>
            <a:chExt cx="1714500" cy="171450"/>
          </a:xfrm>
        </p:grpSpPr>
        <p:sp>
          <p:nvSpPr>
            <p:cNvPr id="1367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8" name="test seti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370" name="Dikdörtgen"/>
          <p:cNvSpPr/>
          <p:nvPr/>
        </p:nvSpPr>
        <p:spPr>
          <a:xfrm>
            <a:off x="31813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1" name="Dikdörtgen"/>
          <p:cNvSpPr/>
          <p:nvPr/>
        </p:nvSpPr>
        <p:spPr>
          <a:xfrm>
            <a:off x="31432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2" name="Dikdörtgen"/>
          <p:cNvSpPr/>
          <p:nvPr/>
        </p:nvSpPr>
        <p:spPr>
          <a:xfrm>
            <a:off x="3143250" y="19431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75" name="Grupla"/>
          <p:cNvGrpSpPr/>
          <p:nvPr/>
        </p:nvGrpSpPr>
        <p:grpSpPr>
          <a:xfrm>
            <a:off x="3333750" y="2114549"/>
            <a:ext cx="1714500" cy="152401"/>
            <a:chOff x="0" y="0"/>
            <a:chExt cx="1714500" cy="152400"/>
          </a:xfrm>
        </p:grpSpPr>
        <p:sp>
          <p:nvSpPr>
            <p:cNvPr id="1373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4" name="ROC AUC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78" name="Grupla"/>
          <p:cNvGrpSpPr/>
          <p:nvPr/>
        </p:nvGrpSpPr>
        <p:grpSpPr>
          <a:xfrm>
            <a:off x="3333750" y="2343149"/>
            <a:ext cx="1714500" cy="361951"/>
            <a:chOff x="0" y="0"/>
            <a:chExt cx="1714500" cy="361950"/>
          </a:xfrm>
        </p:grpSpPr>
        <p:sp>
          <p:nvSpPr>
            <p:cNvPr id="1376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7" name="0.955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1381" name="Grupla"/>
          <p:cNvGrpSpPr/>
          <p:nvPr/>
        </p:nvGrpSpPr>
        <p:grpSpPr>
          <a:xfrm>
            <a:off x="3333750" y="2724149"/>
            <a:ext cx="1714500" cy="171451"/>
            <a:chOff x="0" y="0"/>
            <a:chExt cx="1714500" cy="171450"/>
          </a:xfrm>
        </p:grpSpPr>
        <p:sp>
          <p:nvSpPr>
            <p:cNvPr id="1379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0" name="çok iyi ayrı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çok iyi ayrım</a:t>
              </a:r>
            </a:p>
          </p:txBody>
        </p:sp>
      </p:grpSp>
      <p:sp>
        <p:nvSpPr>
          <p:cNvPr id="1382" name="Dikdörtgen"/>
          <p:cNvSpPr/>
          <p:nvPr/>
        </p:nvSpPr>
        <p:spPr>
          <a:xfrm>
            <a:off x="55816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3" name="Dikdörtgen"/>
          <p:cNvSpPr/>
          <p:nvPr/>
        </p:nvSpPr>
        <p:spPr>
          <a:xfrm>
            <a:off x="55435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4" name="Dikdörtgen"/>
          <p:cNvSpPr/>
          <p:nvPr/>
        </p:nvSpPr>
        <p:spPr>
          <a:xfrm>
            <a:off x="5543550" y="19431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87" name="Grupla"/>
          <p:cNvGrpSpPr/>
          <p:nvPr/>
        </p:nvGrpSpPr>
        <p:grpSpPr>
          <a:xfrm>
            <a:off x="5734050" y="2114549"/>
            <a:ext cx="1714500" cy="152401"/>
            <a:chOff x="0" y="0"/>
            <a:chExt cx="1714500" cy="152400"/>
          </a:xfrm>
        </p:grpSpPr>
        <p:sp>
          <p:nvSpPr>
            <p:cNvPr id="1385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6" name="RECALL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RECALL</a:t>
              </a:r>
            </a:p>
          </p:txBody>
        </p:sp>
      </p:grpSp>
      <p:grpSp>
        <p:nvGrpSpPr>
          <p:cNvPr id="1390" name="Grupla"/>
          <p:cNvGrpSpPr/>
          <p:nvPr/>
        </p:nvGrpSpPr>
        <p:grpSpPr>
          <a:xfrm>
            <a:off x="5734050" y="2343149"/>
            <a:ext cx="1714500" cy="361951"/>
            <a:chOff x="0" y="0"/>
            <a:chExt cx="1714500" cy="361950"/>
          </a:xfrm>
        </p:grpSpPr>
        <p:sp>
          <p:nvSpPr>
            <p:cNvPr id="1388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9" name="%99.96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%99.96</a:t>
              </a:r>
            </a:p>
          </p:txBody>
        </p:sp>
      </p:grpSp>
      <p:grpSp>
        <p:nvGrpSpPr>
          <p:cNvPr id="1393" name="Grupla"/>
          <p:cNvGrpSpPr/>
          <p:nvPr/>
        </p:nvGrpSpPr>
        <p:grpSpPr>
          <a:xfrm>
            <a:off x="5734050" y="2724149"/>
            <a:ext cx="1714500" cy="171451"/>
            <a:chOff x="0" y="0"/>
            <a:chExt cx="1714500" cy="171450"/>
          </a:xfrm>
        </p:grpSpPr>
        <p:sp>
          <p:nvSpPr>
            <p:cNvPr id="1391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2" name="satın alanları yakalama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alanları yakalama</a:t>
              </a:r>
            </a:p>
          </p:txBody>
        </p:sp>
      </p:grpSp>
      <p:sp>
        <p:nvSpPr>
          <p:cNvPr id="1394" name="Dikdörtgen"/>
          <p:cNvSpPr/>
          <p:nvPr/>
        </p:nvSpPr>
        <p:spPr>
          <a:xfrm>
            <a:off x="7981950" y="200025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5" name="Dikdörtgen"/>
          <p:cNvSpPr/>
          <p:nvPr/>
        </p:nvSpPr>
        <p:spPr>
          <a:xfrm>
            <a:off x="7943850" y="194310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6" name="Dikdörtgen"/>
          <p:cNvSpPr/>
          <p:nvPr/>
        </p:nvSpPr>
        <p:spPr>
          <a:xfrm>
            <a:off x="7943850" y="19431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99" name="Grupla"/>
          <p:cNvGrpSpPr/>
          <p:nvPr/>
        </p:nvGrpSpPr>
        <p:grpSpPr>
          <a:xfrm>
            <a:off x="8134350" y="2114549"/>
            <a:ext cx="2000250" cy="152401"/>
            <a:chOff x="0" y="0"/>
            <a:chExt cx="2000250" cy="152400"/>
          </a:xfrm>
        </p:grpSpPr>
        <p:sp>
          <p:nvSpPr>
            <p:cNvPr id="139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8" name="PRECISION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402" name="Grupla"/>
          <p:cNvGrpSpPr/>
          <p:nvPr/>
        </p:nvGrpSpPr>
        <p:grpSpPr>
          <a:xfrm>
            <a:off x="8134350" y="2249430"/>
            <a:ext cx="2567971" cy="464682"/>
            <a:chOff x="0" y="0"/>
            <a:chExt cx="2567969" cy="464680"/>
          </a:xfrm>
        </p:grpSpPr>
        <p:sp>
          <p:nvSpPr>
            <p:cNvPr id="1400" name="Dikdörtgen"/>
            <p:cNvSpPr/>
            <p:nvPr/>
          </p:nvSpPr>
          <p:spPr>
            <a:xfrm>
              <a:off x="0" y="0"/>
              <a:ext cx="2567970" cy="46468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1" name="%48.7"/>
            <p:cNvSpPr txBox="1"/>
            <p:nvPr/>
          </p:nvSpPr>
          <p:spPr>
            <a:xfrm>
              <a:off x="0" y="0"/>
              <a:ext cx="256797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%48.7</a:t>
              </a:r>
            </a:p>
          </p:txBody>
        </p:sp>
      </p:grpSp>
      <p:grpSp>
        <p:nvGrpSpPr>
          <p:cNvPr id="1405" name="Grupla"/>
          <p:cNvGrpSpPr/>
          <p:nvPr/>
        </p:nvGrpSpPr>
        <p:grpSpPr>
          <a:xfrm>
            <a:off x="8134350" y="2724149"/>
            <a:ext cx="2000250" cy="171451"/>
            <a:chOff x="0" y="0"/>
            <a:chExt cx="2000250" cy="171450"/>
          </a:xfrm>
        </p:grpSpPr>
        <p:sp>
          <p:nvSpPr>
            <p:cNvPr id="140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4" name="öneri isabet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isabeti</a:t>
              </a:r>
            </a:p>
          </p:txBody>
        </p:sp>
      </p:grpSp>
      <p:sp>
        <p:nvSpPr>
          <p:cNvPr id="1406" name="Dikdörtgen"/>
          <p:cNvSpPr/>
          <p:nvPr/>
        </p:nvSpPr>
        <p:spPr>
          <a:xfrm>
            <a:off x="933450" y="3600450"/>
            <a:ext cx="4429125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7" name="Dikdörtgen"/>
          <p:cNvSpPr/>
          <p:nvPr/>
        </p:nvSpPr>
        <p:spPr>
          <a:xfrm>
            <a:off x="895350" y="3543300"/>
            <a:ext cx="4429125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8" name="Dikdörtgen"/>
          <p:cNvSpPr/>
          <p:nvPr/>
        </p:nvSpPr>
        <p:spPr>
          <a:xfrm>
            <a:off x="895350" y="3543300"/>
            <a:ext cx="57150" cy="18097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1" name="Grupla"/>
          <p:cNvGrpSpPr/>
          <p:nvPr/>
        </p:nvGrpSpPr>
        <p:grpSpPr>
          <a:xfrm>
            <a:off x="1181100" y="3790949"/>
            <a:ext cx="3238500" cy="266701"/>
            <a:chOff x="0" y="0"/>
            <a:chExt cx="3238500" cy="266700"/>
          </a:xfrm>
        </p:grpSpPr>
        <p:sp>
          <p:nvSpPr>
            <p:cNvPr id="1409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0" name="Confusion Matrix Yorumu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 Yorumu</a:t>
              </a:r>
            </a:p>
          </p:txBody>
        </p:sp>
      </p:grpSp>
      <p:sp>
        <p:nvSpPr>
          <p:cNvPr id="1412" name="Kare"/>
          <p:cNvSpPr/>
          <p:nvPr/>
        </p:nvSpPr>
        <p:spPr>
          <a:xfrm>
            <a:off x="1200150" y="43148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5" name="Grupla"/>
          <p:cNvGrpSpPr/>
          <p:nvPr/>
        </p:nvGrpSpPr>
        <p:grpSpPr>
          <a:xfrm>
            <a:off x="1371600" y="4248149"/>
            <a:ext cx="3257550" cy="342901"/>
            <a:chOff x="0" y="0"/>
            <a:chExt cx="3257550" cy="342900"/>
          </a:xfrm>
        </p:grpSpPr>
        <p:sp>
          <p:nvSpPr>
            <p:cNvPr id="1413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4" name="Model satın alanları neredeyse kaçırmıyo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alanları neredeyse kaçırmıyor.</a:t>
              </a:r>
            </a:p>
          </p:txBody>
        </p:sp>
      </p:grpSp>
      <p:sp>
        <p:nvSpPr>
          <p:cNvPr id="1416" name="Kare"/>
          <p:cNvSpPr/>
          <p:nvPr/>
        </p:nvSpPr>
        <p:spPr>
          <a:xfrm>
            <a:off x="1200150" y="46196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9" name="Grupla"/>
          <p:cNvGrpSpPr/>
          <p:nvPr/>
        </p:nvGrpSpPr>
        <p:grpSpPr>
          <a:xfrm>
            <a:off x="1365250" y="4478337"/>
            <a:ext cx="3257550" cy="355601"/>
            <a:chOff x="0" y="0"/>
            <a:chExt cx="3257550" cy="355600"/>
          </a:xfrm>
        </p:grpSpPr>
        <p:sp>
          <p:nvSpPr>
            <p:cNvPr id="1417" name="Dikdörtgen"/>
            <p:cNvSpPr/>
            <p:nvPr/>
          </p:nvSpPr>
          <p:spPr>
            <a:xfrm>
              <a:off x="0" y="0"/>
              <a:ext cx="32575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8" name="Yanlış pozitifler öneri sistemlerinde izlenmesi gereken maliyettir."/>
            <p:cNvSpPr txBox="1"/>
            <p:nvPr/>
          </p:nvSpPr>
          <p:spPr>
            <a:xfrm>
              <a:off x="0" y="0"/>
              <a:ext cx="3257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Yanlış pozitifler öneri sistemlerinde izlenmesi gereken maliyettir.</a:t>
              </a:r>
            </a:p>
          </p:txBody>
        </p:sp>
      </p:grpSp>
      <p:sp>
        <p:nvSpPr>
          <p:cNvPr id="1420" name="Kare"/>
          <p:cNvSpPr/>
          <p:nvPr/>
        </p:nvSpPr>
        <p:spPr>
          <a:xfrm>
            <a:off x="1189037" y="4995862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3" name="Grupla"/>
          <p:cNvGrpSpPr/>
          <p:nvPr/>
        </p:nvGrpSpPr>
        <p:grpSpPr>
          <a:xfrm>
            <a:off x="1368425" y="4924424"/>
            <a:ext cx="3257550" cy="342901"/>
            <a:chOff x="0" y="0"/>
            <a:chExt cx="3257550" cy="342900"/>
          </a:xfrm>
        </p:grpSpPr>
        <p:sp>
          <p:nvSpPr>
            <p:cNvPr id="1421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2" name="Olasılıklar ürün sıralamak için daha anlamlıdı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Olasılıklar ürün sıralamak için daha anlamlıdır.</a:t>
              </a:r>
            </a:p>
          </p:txBody>
        </p:sp>
      </p:grpSp>
      <p:sp>
        <p:nvSpPr>
          <p:cNvPr id="1424" name="Dikdörtgen"/>
          <p:cNvSpPr/>
          <p:nvPr/>
        </p:nvSpPr>
        <p:spPr>
          <a:xfrm>
            <a:off x="6229350" y="3600450"/>
            <a:ext cx="4381500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5" name="Dikdörtgen"/>
          <p:cNvSpPr/>
          <p:nvPr/>
        </p:nvSpPr>
        <p:spPr>
          <a:xfrm>
            <a:off x="6191250" y="3543300"/>
            <a:ext cx="43815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6" name="Dikdörtgen"/>
          <p:cNvSpPr/>
          <p:nvPr/>
        </p:nvSpPr>
        <p:spPr>
          <a:xfrm>
            <a:off x="6191250" y="3543300"/>
            <a:ext cx="57150" cy="18097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9" name="Grupla"/>
          <p:cNvGrpSpPr/>
          <p:nvPr/>
        </p:nvGrpSpPr>
        <p:grpSpPr>
          <a:xfrm>
            <a:off x="6477000" y="3790949"/>
            <a:ext cx="3238500" cy="266701"/>
            <a:chOff x="0" y="0"/>
            <a:chExt cx="3238500" cy="266700"/>
          </a:xfrm>
        </p:grpSpPr>
        <p:sp>
          <p:nvSpPr>
            <p:cNvPr id="1427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8" name="En Güçlü Sinyaller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Güçlü Sinyaller</a:t>
              </a:r>
            </a:p>
          </p:txBody>
        </p:sp>
      </p:grpSp>
      <p:grpSp>
        <p:nvGrpSpPr>
          <p:cNvPr id="1432" name="Grupla"/>
          <p:cNvGrpSpPr/>
          <p:nvPr/>
        </p:nvGrpSpPr>
        <p:grpSpPr>
          <a:xfrm>
            <a:off x="6477000" y="4238624"/>
            <a:ext cx="1428750" cy="171451"/>
            <a:chOff x="0" y="0"/>
            <a:chExt cx="1428750" cy="171450"/>
          </a:xfrm>
        </p:grpSpPr>
        <p:sp>
          <p:nvSpPr>
            <p:cNvPr id="1430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1" name="add_to_cart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433" name="Dikdörtgen"/>
          <p:cNvSpPr/>
          <p:nvPr/>
        </p:nvSpPr>
        <p:spPr>
          <a:xfrm>
            <a:off x="8096250" y="4267200"/>
            <a:ext cx="1809750" cy="1143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36" name="Grupla"/>
          <p:cNvGrpSpPr/>
          <p:nvPr/>
        </p:nvGrpSpPr>
        <p:grpSpPr>
          <a:xfrm>
            <a:off x="10001250" y="4219574"/>
            <a:ext cx="552450" cy="171451"/>
            <a:chOff x="0" y="0"/>
            <a:chExt cx="552450" cy="171450"/>
          </a:xfrm>
        </p:grpSpPr>
        <p:sp>
          <p:nvSpPr>
            <p:cNvPr id="1434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5" name="80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80.5%</a:t>
              </a:r>
            </a:p>
          </p:txBody>
        </p:sp>
      </p:grpSp>
      <p:grpSp>
        <p:nvGrpSpPr>
          <p:cNvPr id="1439" name="Grupla"/>
          <p:cNvGrpSpPr/>
          <p:nvPr/>
        </p:nvGrpSpPr>
        <p:grpSpPr>
          <a:xfrm>
            <a:off x="6477000" y="4524374"/>
            <a:ext cx="1428750" cy="171451"/>
            <a:chOff x="0" y="0"/>
            <a:chExt cx="1428750" cy="171450"/>
          </a:xfrm>
        </p:grpSpPr>
        <p:sp>
          <p:nvSpPr>
            <p:cNvPr id="1437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8" name="monetar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440" name="Dikdörtgen"/>
          <p:cNvSpPr/>
          <p:nvPr/>
        </p:nvSpPr>
        <p:spPr>
          <a:xfrm>
            <a:off x="8096250" y="4552950"/>
            <a:ext cx="87678" cy="1143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43" name="Grupla"/>
          <p:cNvGrpSpPr/>
          <p:nvPr/>
        </p:nvGrpSpPr>
        <p:grpSpPr>
          <a:xfrm>
            <a:off x="10001250" y="4505324"/>
            <a:ext cx="552450" cy="171451"/>
            <a:chOff x="0" y="0"/>
            <a:chExt cx="552450" cy="171450"/>
          </a:xfrm>
        </p:grpSpPr>
        <p:sp>
          <p:nvSpPr>
            <p:cNvPr id="1441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2" name="3.9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3.9%</a:t>
              </a:r>
            </a:p>
          </p:txBody>
        </p:sp>
      </p:grpSp>
      <p:grpSp>
        <p:nvGrpSpPr>
          <p:cNvPr id="1446" name="Grupla"/>
          <p:cNvGrpSpPr/>
          <p:nvPr/>
        </p:nvGrpSpPr>
        <p:grpSpPr>
          <a:xfrm>
            <a:off x="6477000" y="4810124"/>
            <a:ext cx="1428750" cy="171451"/>
            <a:chOff x="0" y="0"/>
            <a:chExt cx="1428750" cy="171450"/>
          </a:xfrm>
        </p:grpSpPr>
        <p:sp>
          <p:nvSpPr>
            <p:cNvPr id="1444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5" name="recenc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447" name="Dikdörtgen"/>
          <p:cNvSpPr/>
          <p:nvPr/>
        </p:nvSpPr>
        <p:spPr>
          <a:xfrm>
            <a:off x="8096249" y="4838700"/>
            <a:ext cx="56206" cy="1143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0" name="Grupla"/>
          <p:cNvGrpSpPr/>
          <p:nvPr/>
        </p:nvGrpSpPr>
        <p:grpSpPr>
          <a:xfrm>
            <a:off x="10001250" y="4791074"/>
            <a:ext cx="552450" cy="171451"/>
            <a:chOff x="0" y="0"/>
            <a:chExt cx="552450" cy="171450"/>
          </a:xfrm>
        </p:grpSpPr>
        <p:sp>
          <p:nvSpPr>
            <p:cNvPr id="1448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9" name="2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2.5%</a:t>
              </a:r>
            </a:p>
          </p:txBody>
        </p:sp>
      </p:grpSp>
      <p:grpSp>
        <p:nvGrpSpPr>
          <p:cNvPr id="1453" name="Grupla"/>
          <p:cNvGrpSpPr/>
          <p:nvPr/>
        </p:nvGrpSpPr>
        <p:grpSpPr>
          <a:xfrm>
            <a:off x="6477000" y="5095874"/>
            <a:ext cx="1428750" cy="171451"/>
            <a:chOff x="0" y="0"/>
            <a:chExt cx="1428750" cy="171450"/>
          </a:xfrm>
        </p:grpSpPr>
        <p:sp>
          <p:nvSpPr>
            <p:cNvPr id="1451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2" name="kategori_ilgi_orani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454" name="Dikdörtgen"/>
          <p:cNvSpPr/>
          <p:nvPr/>
        </p:nvSpPr>
        <p:spPr>
          <a:xfrm>
            <a:off x="8096250" y="5124450"/>
            <a:ext cx="53954" cy="1143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7" name="Grupla"/>
          <p:cNvGrpSpPr/>
          <p:nvPr/>
        </p:nvGrpSpPr>
        <p:grpSpPr>
          <a:xfrm>
            <a:off x="10001250" y="5076824"/>
            <a:ext cx="552450" cy="171451"/>
            <a:chOff x="0" y="0"/>
            <a:chExt cx="552450" cy="171450"/>
          </a:xfrm>
        </p:grpSpPr>
        <p:sp>
          <p:nvSpPr>
            <p:cNvPr id="1455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6" name="2.4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2.4%</a:t>
              </a:r>
            </a:p>
          </p:txBody>
        </p:sp>
      </p:grpSp>
      <p:sp>
        <p:nvSpPr>
          <p:cNvPr id="1458" name="Dikdörtgen"/>
          <p:cNvSpPr/>
          <p:nvPr/>
        </p:nvSpPr>
        <p:spPr>
          <a:xfrm>
            <a:off x="895350" y="5715000"/>
            <a:ext cx="8858250" cy="4381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61" name="Grupla"/>
          <p:cNvGrpSpPr/>
          <p:nvPr/>
        </p:nvGrpSpPr>
        <p:grpSpPr>
          <a:xfrm>
            <a:off x="1047750" y="5829299"/>
            <a:ext cx="8553450" cy="266701"/>
            <a:chOff x="0" y="0"/>
            <a:chExt cx="8553450" cy="266700"/>
          </a:xfrm>
        </p:grpSpPr>
        <p:sp>
          <p:nvSpPr>
            <p:cNvPr id="1459" name="Dikdörtgen"/>
            <p:cNvSpPr/>
            <p:nvPr/>
          </p:nvSpPr>
          <p:spPr>
            <a:xfrm>
              <a:off x="0" y="0"/>
              <a:ext cx="85534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0" name="En baskın sinyal sepete eklemedir; bu gerçek hayatta da satın alma niyetinin en güçlü göstergelerinden biridir."/>
            <p:cNvSpPr txBox="1"/>
            <p:nvPr/>
          </p:nvSpPr>
          <p:spPr>
            <a:xfrm>
              <a:off x="0" y="-1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baskın sinyal sepete eklemedir; bu gerçek hayatta da satın alma niyetinin en güçlü göstergelerinden biridir.</a:t>
              </a:r>
            </a:p>
          </p:txBody>
        </p:sp>
      </p:grpSp>
      <p:grpSp>
        <p:nvGrpSpPr>
          <p:cNvPr id="146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46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46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46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6" name="1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7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47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47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47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5" name="Dashboard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</a:t>
              </a:r>
            </a:p>
          </p:txBody>
        </p:sp>
      </p:grpSp>
      <p:grpSp>
        <p:nvGrpSpPr>
          <p:cNvPr id="147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47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478" name="Dashboard proje çıktısını tek ekranda okunabilir hale getiri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Dashboard proje çıktısını tek ekranda okunabilir hale getirir</a:t>
              </a:r>
            </a:p>
          </p:txBody>
        </p:sp>
      </p:grpSp>
      <p:grpSp>
        <p:nvGrpSpPr>
          <p:cNvPr id="1482" name="Grupla"/>
          <p:cNvGrpSpPr/>
          <p:nvPr/>
        </p:nvGrpSpPr>
        <p:grpSpPr>
          <a:xfrm>
            <a:off x="622681" y="1383781"/>
            <a:ext cx="9429751" cy="457203"/>
            <a:chOff x="0" y="0"/>
            <a:chExt cx="9429750" cy="457201"/>
          </a:xfrm>
        </p:grpSpPr>
        <p:sp>
          <p:nvSpPr>
            <p:cNvPr id="1480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1" name="Özet, EDA, model, duygu, müşteri ve istatistik sayfaları aynı pipeline çıktılarından beslen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Özet, EDA, model, duygu, müşteri ve istatistik sayfaları aynı pipeline çıktılarından beslenir.</a:t>
              </a:r>
            </a:p>
          </p:txBody>
        </p:sp>
      </p:grpSp>
      <p:pic>
        <p:nvPicPr>
          <p:cNvPr id="1483" name="image12.png" descr="image12.png"/>
          <p:cNvPicPr>
            <a:picLocks noChangeAspect="1"/>
          </p:cNvPicPr>
          <p:nvPr/>
        </p:nvPicPr>
        <p:blipFill>
          <a:blip r:embed="rId2">
            <a:extLst/>
          </a:blip>
          <a:srcRect l="0" t="2000" r="0" b="2000"/>
          <a:stretch>
            <a:fillRect/>
          </a:stretch>
        </p:blipFill>
        <p:spPr>
          <a:xfrm>
            <a:off x="68580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4" name="image13.png" descr="image13.png"/>
          <p:cNvPicPr>
            <a:picLocks noChangeAspect="1"/>
          </p:cNvPicPr>
          <p:nvPr/>
        </p:nvPicPr>
        <p:blipFill>
          <a:blip r:embed="rId3">
            <a:extLst/>
          </a:blip>
          <a:srcRect l="0" t="2000" r="0" b="2000"/>
          <a:stretch>
            <a:fillRect/>
          </a:stretch>
        </p:blipFill>
        <p:spPr>
          <a:xfrm>
            <a:off x="581025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sp>
        <p:nvSpPr>
          <p:cNvPr id="1485" name="Dikdörtgen"/>
          <p:cNvSpPr/>
          <p:nvPr/>
        </p:nvSpPr>
        <p:spPr>
          <a:xfrm>
            <a:off x="7429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6" name="Dikdörtgen"/>
          <p:cNvSpPr/>
          <p:nvPr/>
        </p:nvSpPr>
        <p:spPr>
          <a:xfrm>
            <a:off x="7048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7" name="Dikdörtgen"/>
          <p:cNvSpPr/>
          <p:nvPr/>
        </p:nvSpPr>
        <p:spPr>
          <a:xfrm>
            <a:off x="704850" y="4953000"/>
            <a:ext cx="57150" cy="6858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0" name="Grupla"/>
          <p:cNvGrpSpPr/>
          <p:nvPr/>
        </p:nvGrpSpPr>
        <p:grpSpPr>
          <a:xfrm>
            <a:off x="971550" y="5124449"/>
            <a:ext cx="1619250" cy="209551"/>
            <a:chOff x="0" y="0"/>
            <a:chExt cx="1619250" cy="209550"/>
          </a:xfrm>
        </p:grpSpPr>
        <p:sp>
          <p:nvSpPr>
            <p:cNvPr id="1488" name="Dikdörtgen"/>
            <p:cNvSpPr/>
            <p:nvPr/>
          </p:nvSpPr>
          <p:spPr>
            <a:xfrm>
              <a:off x="0" y="0"/>
              <a:ext cx="16192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9" name="Özet sayfası"/>
            <p:cNvSpPr txBox="1"/>
            <p:nvPr/>
          </p:nvSpPr>
          <p:spPr>
            <a:xfrm>
              <a:off x="0" y="-1"/>
              <a:ext cx="1619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 sayfası</a:t>
              </a:r>
            </a:p>
          </p:txBody>
        </p:sp>
      </p:grpSp>
      <p:grpSp>
        <p:nvGrpSpPr>
          <p:cNvPr id="1493" name="Grupla"/>
          <p:cNvGrpSpPr/>
          <p:nvPr/>
        </p:nvGrpSpPr>
        <p:grpSpPr>
          <a:xfrm>
            <a:off x="971550" y="5391149"/>
            <a:ext cx="3905250" cy="171451"/>
            <a:chOff x="0" y="0"/>
            <a:chExt cx="3905250" cy="171450"/>
          </a:xfrm>
        </p:grpSpPr>
        <p:sp>
          <p:nvSpPr>
            <p:cNvPr id="1491" name="Dikdörtgen"/>
            <p:cNvSpPr/>
            <p:nvPr/>
          </p:nvSpPr>
          <p:spPr>
            <a:xfrm>
              <a:off x="0" y="0"/>
              <a:ext cx="3905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2" name="KPI, dönüşüm hunisi ve genel ürün sinyalleri izlenir."/>
            <p:cNvSpPr txBox="1"/>
            <p:nvPr/>
          </p:nvSpPr>
          <p:spPr>
            <a:xfrm>
              <a:off x="0" y="-1"/>
              <a:ext cx="39052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KPI, dönüşüm hunisi ve genel ürün sinyalleri izlenir.</a:t>
              </a:r>
            </a:p>
          </p:txBody>
        </p:sp>
      </p:grpSp>
      <p:sp>
        <p:nvSpPr>
          <p:cNvPr id="1494" name="Dikdörtgen"/>
          <p:cNvSpPr/>
          <p:nvPr/>
        </p:nvSpPr>
        <p:spPr>
          <a:xfrm>
            <a:off x="58483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5" name="Dikdörtgen"/>
          <p:cNvSpPr/>
          <p:nvPr/>
        </p:nvSpPr>
        <p:spPr>
          <a:xfrm>
            <a:off x="58102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6" name="Dikdörtgen"/>
          <p:cNvSpPr/>
          <p:nvPr/>
        </p:nvSpPr>
        <p:spPr>
          <a:xfrm>
            <a:off x="5810250" y="4953000"/>
            <a:ext cx="57150" cy="6858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9" name="Grupla"/>
          <p:cNvGrpSpPr/>
          <p:nvPr/>
        </p:nvGrpSpPr>
        <p:grpSpPr>
          <a:xfrm>
            <a:off x="6076950" y="5124449"/>
            <a:ext cx="1905000" cy="209551"/>
            <a:chOff x="0" y="0"/>
            <a:chExt cx="1905000" cy="209550"/>
          </a:xfrm>
        </p:grpSpPr>
        <p:sp>
          <p:nvSpPr>
            <p:cNvPr id="1497" name="Dikdörtgen"/>
            <p:cNvSpPr/>
            <p:nvPr/>
          </p:nvSpPr>
          <p:spPr>
            <a:xfrm>
              <a:off x="0" y="0"/>
              <a:ext cx="1905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8" name="Müşteri sayfası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sayfası</a:t>
              </a:r>
            </a:p>
          </p:txBody>
        </p:sp>
      </p:grpSp>
      <p:grpSp>
        <p:nvGrpSpPr>
          <p:cNvPr id="1502" name="Grupla"/>
          <p:cNvGrpSpPr/>
          <p:nvPr/>
        </p:nvGrpSpPr>
        <p:grpSpPr>
          <a:xfrm>
            <a:off x="6076950" y="5391149"/>
            <a:ext cx="4000500" cy="171451"/>
            <a:chOff x="0" y="0"/>
            <a:chExt cx="4000500" cy="171450"/>
          </a:xfrm>
        </p:grpSpPr>
        <p:sp>
          <p:nvSpPr>
            <p:cNvPr id="1500" name="Dikdörtgen"/>
            <p:cNvSpPr/>
            <p:nvPr/>
          </p:nvSpPr>
          <p:spPr>
            <a:xfrm>
              <a:off x="0" y="0"/>
              <a:ext cx="4000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1" name="Seçilen müşteri için satın alma olasılığı yüksek ürünler listelenir."/>
            <p:cNvSpPr txBox="1"/>
            <p:nvPr/>
          </p:nvSpPr>
          <p:spPr>
            <a:xfrm>
              <a:off x="0" y="-1"/>
              <a:ext cx="40005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Seçilen müşteri için satın alma olasılığı yüksek ürünler listelenir.</a:t>
              </a:r>
            </a:p>
          </p:txBody>
        </p:sp>
      </p:grpSp>
      <p:sp>
        <p:nvSpPr>
          <p:cNvPr id="1503" name="Dikdörtgen"/>
          <p:cNvSpPr/>
          <p:nvPr/>
        </p:nvSpPr>
        <p:spPr>
          <a:xfrm>
            <a:off x="2971800" y="5981700"/>
            <a:ext cx="5715000" cy="3810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06" name="Grupla"/>
          <p:cNvGrpSpPr/>
          <p:nvPr/>
        </p:nvGrpSpPr>
        <p:grpSpPr>
          <a:xfrm>
            <a:off x="3124200" y="6095999"/>
            <a:ext cx="5410200" cy="209551"/>
            <a:chOff x="0" y="0"/>
            <a:chExt cx="5410200" cy="209550"/>
          </a:xfrm>
        </p:grpSpPr>
        <p:sp>
          <p:nvSpPr>
            <p:cNvPr id="1504" name="Dikdörtgen"/>
            <p:cNvSpPr/>
            <p:nvPr/>
          </p:nvSpPr>
          <p:spPr>
            <a:xfrm>
              <a:off x="0" y="0"/>
              <a:ext cx="54102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5" name="Canlı dashboard linki: https://shoplens.streamlit.app/"/>
            <p:cNvSpPr txBox="1"/>
            <p:nvPr/>
          </p:nvSpPr>
          <p:spPr>
            <a:xfrm>
              <a:off x="0" y="-1"/>
              <a:ext cx="5410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 linki: https://shoplens.streamlit.app/</a:t>
              </a:r>
            </a:p>
          </p:txBody>
        </p:sp>
      </p:grpSp>
      <p:grpSp>
        <p:nvGrpSpPr>
          <p:cNvPr id="150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0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1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1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1" name="1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1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1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2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1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0" name="Kod Bloklar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Blokları</a:t>
              </a:r>
            </a:p>
          </p:txBody>
        </p:sp>
      </p:grpSp>
      <p:grpSp>
        <p:nvGrpSpPr>
          <p:cNvPr id="152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2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23" name="Kod Akışı ve Önemli Python Bloklar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Kod Akışı ve Önemli Python Blokları</a:t>
              </a:r>
            </a:p>
          </p:txBody>
        </p:sp>
      </p:grpSp>
      <p:grpSp>
        <p:nvGrpSpPr>
          <p:cNvPr id="1527" name="Grupla"/>
          <p:cNvGrpSpPr/>
          <p:nvPr/>
        </p:nvGrpSpPr>
        <p:grpSpPr>
          <a:xfrm>
            <a:off x="622681" y="1550987"/>
            <a:ext cx="9429751" cy="457202"/>
            <a:chOff x="0" y="0"/>
            <a:chExt cx="9429750" cy="457201"/>
          </a:xfrm>
        </p:grpSpPr>
        <p:sp>
          <p:nvSpPr>
            <p:cNvPr id="1525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6" name="Bu sayfada veri hazırlama, hedef değişken oluşturma, RFM ve model değerlendirme adımlarının temel kodları yer alıyo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sayfada veri hazırlama, hedef değişken oluşturma, RFM ve model değerlendirme adımlarının temel kodları yer alıyor.</a:t>
              </a:r>
            </a:p>
          </p:txBody>
        </p:sp>
      </p:grpSp>
      <p:sp>
        <p:nvSpPr>
          <p:cNvPr id="1528" name="Dikdörtgen"/>
          <p:cNvSpPr/>
          <p:nvPr/>
        </p:nvSpPr>
        <p:spPr>
          <a:xfrm>
            <a:off x="704850" y="2009775"/>
            <a:ext cx="4953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9" name="Dikdörtgen"/>
          <p:cNvSpPr/>
          <p:nvPr/>
        </p:nvSpPr>
        <p:spPr>
          <a:xfrm>
            <a:off x="666750" y="1952625"/>
            <a:ext cx="4953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32" name="Grupla"/>
          <p:cNvGrpSpPr/>
          <p:nvPr/>
        </p:nvGrpSpPr>
        <p:grpSpPr>
          <a:xfrm>
            <a:off x="838200" y="2085974"/>
            <a:ext cx="4610100" cy="190501"/>
            <a:chOff x="0" y="0"/>
            <a:chExt cx="4610100" cy="190500"/>
          </a:xfrm>
        </p:grpSpPr>
        <p:sp>
          <p:nvSpPr>
            <p:cNvPr id="1530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1" name="Train / test ayrımı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 / test ayrımı</a:t>
              </a:r>
            </a:p>
          </p:txBody>
        </p:sp>
      </p:grpSp>
      <p:grpSp>
        <p:nvGrpSpPr>
          <p:cNvPr id="1535" name="Grupla"/>
          <p:cNvGrpSpPr/>
          <p:nvPr/>
        </p:nvGrpSpPr>
        <p:grpSpPr>
          <a:xfrm>
            <a:off x="838200" y="2352674"/>
            <a:ext cx="4610100" cy="914401"/>
            <a:chOff x="0" y="0"/>
            <a:chExt cx="4610100" cy="914400"/>
          </a:xfrm>
        </p:grpSpPr>
        <p:sp>
          <p:nvSpPr>
            <p:cNvPr id="1533" name="Dikdörtgen"/>
            <p:cNvSpPr/>
            <p:nvPr/>
          </p:nvSpPr>
          <p:spPr>
            <a:xfrm>
              <a:off x="0" y="-1"/>
              <a:ext cx="4610100" cy="895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34" name="X_tr, X_te, y_tr, y_te = train_test_split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X_tr, X_te, y_tr, y_te = train_test_split(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X, y,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test_size=0.25,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stratify=y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536" name="Dikdörtgen"/>
          <p:cNvSpPr/>
          <p:nvPr/>
        </p:nvSpPr>
        <p:spPr>
          <a:xfrm>
            <a:off x="6610350" y="2009775"/>
            <a:ext cx="4572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7" name="Dikdörtgen"/>
          <p:cNvSpPr/>
          <p:nvPr/>
        </p:nvSpPr>
        <p:spPr>
          <a:xfrm>
            <a:off x="6572250" y="1952625"/>
            <a:ext cx="4572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0" name="Grupla"/>
          <p:cNvGrpSpPr/>
          <p:nvPr/>
        </p:nvGrpSpPr>
        <p:grpSpPr>
          <a:xfrm>
            <a:off x="6743700" y="2085974"/>
            <a:ext cx="4229100" cy="190501"/>
            <a:chOff x="0" y="0"/>
            <a:chExt cx="4229100" cy="190500"/>
          </a:xfrm>
        </p:grpSpPr>
        <p:sp>
          <p:nvSpPr>
            <p:cNvPr id="1538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9" name="RFM skorları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skorları</a:t>
              </a:r>
            </a:p>
          </p:txBody>
        </p:sp>
      </p:grpSp>
      <p:grpSp>
        <p:nvGrpSpPr>
          <p:cNvPr id="1543" name="Grupla"/>
          <p:cNvGrpSpPr/>
          <p:nvPr/>
        </p:nvGrpSpPr>
        <p:grpSpPr>
          <a:xfrm>
            <a:off x="6743700" y="2352674"/>
            <a:ext cx="4229100" cy="895351"/>
            <a:chOff x="0" y="0"/>
            <a:chExt cx="4229100" cy="895350"/>
          </a:xfrm>
        </p:grpSpPr>
        <p:sp>
          <p:nvSpPr>
            <p:cNvPr id="1541" name="Dikdörtgen"/>
            <p:cNvSpPr/>
            <p:nvPr/>
          </p:nvSpPr>
          <p:spPr>
            <a:xfrm>
              <a:off x="0" y="0"/>
              <a:ext cx="4229100" cy="895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42" name="rfm[&quot;R&quot;] = rfm_skoru(rfm[&quot;recency&quot;], artan=True)…"/>
            <p:cNvSpPr txBox="1"/>
            <p:nvPr/>
          </p:nvSpPr>
          <p:spPr>
            <a:xfrm>
              <a:off x="0" y="-1"/>
              <a:ext cx="42291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rfm["R"] = rfm_skoru(rfm["recency"], artan=True)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rfm["F"] = rfm_skoru(rfm["frequency"], artan=False)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rfm["M"] = rfm_skoru(rfm["monetary"], artan=False)</a:t>
              </a:r>
            </a:p>
          </p:txBody>
        </p:sp>
      </p:grpSp>
      <p:sp>
        <p:nvSpPr>
          <p:cNvPr id="1544" name="Dikdörtgen"/>
          <p:cNvSpPr/>
          <p:nvPr/>
        </p:nvSpPr>
        <p:spPr>
          <a:xfrm>
            <a:off x="704850" y="3962400"/>
            <a:ext cx="4953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5" name="Dikdörtgen"/>
          <p:cNvSpPr/>
          <p:nvPr/>
        </p:nvSpPr>
        <p:spPr>
          <a:xfrm>
            <a:off x="666750" y="3905250"/>
            <a:ext cx="4953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8" name="Grupla"/>
          <p:cNvGrpSpPr/>
          <p:nvPr/>
        </p:nvGrpSpPr>
        <p:grpSpPr>
          <a:xfrm>
            <a:off x="838200" y="4038599"/>
            <a:ext cx="4610100" cy="190501"/>
            <a:chOff x="0" y="0"/>
            <a:chExt cx="4610100" cy="190500"/>
          </a:xfrm>
        </p:grpSpPr>
        <p:sp>
          <p:nvSpPr>
            <p:cNvPr id="1546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7" name="Hedef değişken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değişken</a:t>
              </a:r>
            </a:p>
          </p:txBody>
        </p:sp>
      </p:grpSp>
      <p:grpSp>
        <p:nvGrpSpPr>
          <p:cNvPr id="1551" name="Grupla"/>
          <p:cNvGrpSpPr/>
          <p:nvPr/>
        </p:nvGrpSpPr>
        <p:grpSpPr>
          <a:xfrm>
            <a:off x="838200" y="4305299"/>
            <a:ext cx="4610100" cy="1104901"/>
            <a:chOff x="0" y="0"/>
            <a:chExt cx="4610100" cy="1104900"/>
          </a:xfrm>
        </p:grpSpPr>
        <p:sp>
          <p:nvSpPr>
            <p:cNvPr id="1549" name="Dikdörtgen"/>
            <p:cNvSpPr/>
            <p:nvPr/>
          </p:nvSpPr>
          <p:spPr>
            <a:xfrm>
              <a:off x="0" y="0"/>
              <a:ext cx="4610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0" name="veri = davranis.merge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 = davranis.merge(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satin_almalar,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on=["customer_id",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how="outer"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veri["satin_aldi"] = veri["satin_aldi"].fillna(0)</a:t>
              </a:r>
            </a:p>
          </p:txBody>
        </p:sp>
      </p:grpSp>
      <p:sp>
        <p:nvSpPr>
          <p:cNvPr id="1552" name="Dikdörtgen"/>
          <p:cNvSpPr/>
          <p:nvPr/>
        </p:nvSpPr>
        <p:spPr>
          <a:xfrm>
            <a:off x="6610350" y="3962400"/>
            <a:ext cx="4572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3" name="Dikdörtgen"/>
          <p:cNvSpPr/>
          <p:nvPr/>
        </p:nvSpPr>
        <p:spPr>
          <a:xfrm>
            <a:off x="6572250" y="3905250"/>
            <a:ext cx="4572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56" name="Grupla"/>
          <p:cNvGrpSpPr/>
          <p:nvPr/>
        </p:nvGrpSpPr>
        <p:grpSpPr>
          <a:xfrm>
            <a:off x="6743700" y="4038599"/>
            <a:ext cx="4229100" cy="190501"/>
            <a:chOff x="0" y="0"/>
            <a:chExt cx="4229100" cy="190500"/>
          </a:xfrm>
        </p:grpSpPr>
        <p:sp>
          <p:nvSpPr>
            <p:cNvPr id="1554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5" name="Model metrikleri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metrikleri</a:t>
              </a:r>
            </a:p>
          </p:txBody>
        </p:sp>
      </p:grpSp>
      <p:grpSp>
        <p:nvGrpSpPr>
          <p:cNvPr id="1559" name="Grupla"/>
          <p:cNvGrpSpPr/>
          <p:nvPr/>
        </p:nvGrpSpPr>
        <p:grpSpPr>
          <a:xfrm>
            <a:off x="6743700" y="4305299"/>
            <a:ext cx="4229100" cy="1104901"/>
            <a:chOff x="0" y="0"/>
            <a:chExt cx="4229100" cy="1104900"/>
          </a:xfrm>
        </p:grpSpPr>
        <p:sp>
          <p:nvSpPr>
            <p:cNvPr id="1557" name="Dikdörtgen"/>
            <p:cNvSpPr/>
            <p:nvPr/>
          </p:nvSpPr>
          <p:spPr>
            <a:xfrm>
              <a:off x="0" y="0"/>
              <a:ext cx="4229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8" name="olasilik = model.predict_proba(X_te)[:, 1]…"/>
            <p:cNvSpPr txBox="1"/>
            <p:nvPr/>
          </p:nvSpPr>
          <p:spPr>
            <a:xfrm>
              <a:off x="0" y="-1"/>
              <a:ext cx="42291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olasilik = model.predict_proba(X_te)[:, 1]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cm = confusion_matrix(y_te, tahmin)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fpr, tpr, _ = roc_curve(y_te, olasilik)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auc_val = auc(fpr, tpr)</a:t>
              </a:r>
            </a:p>
          </p:txBody>
        </p:sp>
      </p:grpSp>
      <p:grpSp>
        <p:nvGrpSpPr>
          <p:cNvPr id="1562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60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1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65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3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4" name="1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8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71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69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0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74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72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3" name="Değerlendirme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</a:t>
              </a:r>
            </a:p>
          </p:txBody>
        </p:sp>
      </p:grpSp>
      <p:grpSp>
        <p:nvGrpSpPr>
          <p:cNvPr id="1577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75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76" name="Proje değerlendirme kriterlerini teknik ve görsel olarak karşıla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 değerlendirme kriterlerini teknik ve görsel olarak karşılar</a:t>
              </a:r>
            </a:p>
          </p:txBody>
        </p:sp>
      </p:grpSp>
      <p:grpSp>
        <p:nvGrpSpPr>
          <p:cNvPr id="1580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578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9" name="Değerlendirme başlıkları, projedeki veri hazırlama, analiz, modelleme ve raporlama çıktılarıyla eşleştir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 başlıkları, projedeki veri hazırlama, analiz, modelleme ve raporlama çıktılarıyla eşleştirildi.</a:t>
              </a:r>
            </a:p>
          </p:txBody>
        </p:sp>
      </p:grpSp>
      <p:sp>
        <p:nvSpPr>
          <p:cNvPr id="1581" name="Dikdörtgen"/>
          <p:cNvSpPr/>
          <p:nvPr/>
        </p:nvSpPr>
        <p:spPr>
          <a:xfrm>
            <a:off x="704850" y="1847850"/>
            <a:ext cx="10382250" cy="3505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2" name="Dikdörtgen"/>
          <p:cNvSpPr/>
          <p:nvPr/>
        </p:nvSpPr>
        <p:spPr>
          <a:xfrm>
            <a:off x="666750" y="1790700"/>
            <a:ext cx="10382250" cy="35052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3" name="Dikdörtgen"/>
          <p:cNvSpPr/>
          <p:nvPr/>
        </p:nvSpPr>
        <p:spPr>
          <a:xfrm>
            <a:off x="666750" y="1790700"/>
            <a:ext cx="10382250" cy="4381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86" name="Grupla"/>
          <p:cNvGrpSpPr/>
          <p:nvPr/>
        </p:nvGrpSpPr>
        <p:grpSpPr>
          <a:xfrm>
            <a:off x="762000" y="1876424"/>
            <a:ext cx="2781300" cy="361951"/>
            <a:chOff x="0" y="0"/>
            <a:chExt cx="2781300" cy="361950"/>
          </a:xfrm>
        </p:grpSpPr>
        <p:sp>
          <p:nvSpPr>
            <p:cNvPr id="1584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5" name="Kriter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Kriter</a:t>
              </a:r>
            </a:p>
          </p:txBody>
        </p:sp>
      </p:grpSp>
      <p:sp>
        <p:nvSpPr>
          <p:cNvPr id="1587" name="Dikdörtgen"/>
          <p:cNvSpPr/>
          <p:nvPr/>
        </p:nvSpPr>
        <p:spPr>
          <a:xfrm>
            <a:off x="3617912" y="17907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0" name="Grupla"/>
          <p:cNvGrpSpPr/>
          <p:nvPr/>
        </p:nvGrpSpPr>
        <p:grpSpPr>
          <a:xfrm>
            <a:off x="3714750" y="1876424"/>
            <a:ext cx="7258050" cy="361951"/>
            <a:chOff x="0" y="0"/>
            <a:chExt cx="7258050" cy="361950"/>
          </a:xfrm>
        </p:grpSpPr>
        <p:sp>
          <p:nvSpPr>
            <p:cNvPr id="1588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9" name="Projede karşılı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karşılığı</a:t>
              </a:r>
            </a:p>
          </p:txBody>
        </p:sp>
      </p:grpSp>
      <p:grpSp>
        <p:nvGrpSpPr>
          <p:cNvPr id="1593" name="Grupla"/>
          <p:cNvGrpSpPr/>
          <p:nvPr/>
        </p:nvGrpSpPr>
        <p:grpSpPr>
          <a:xfrm>
            <a:off x="762000" y="2314574"/>
            <a:ext cx="2781300" cy="361951"/>
            <a:chOff x="0" y="0"/>
            <a:chExt cx="2781300" cy="361950"/>
          </a:xfrm>
        </p:grpSpPr>
        <p:sp>
          <p:nvSpPr>
            <p:cNvPr id="159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2" name="Veri temini ve ön işle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temini ve ön işleme</a:t>
              </a:r>
            </a:p>
          </p:txBody>
        </p:sp>
      </p:grpSp>
      <p:sp>
        <p:nvSpPr>
          <p:cNvPr id="1594" name="Dikdörtgen"/>
          <p:cNvSpPr/>
          <p:nvPr/>
        </p:nvSpPr>
        <p:spPr>
          <a:xfrm>
            <a:off x="3617912" y="22288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7" name="Grupla"/>
          <p:cNvGrpSpPr/>
          <p:nvPr/>
        </p:nvGrpSpPr>
        <p:grpSpPr>
          <a:xfrm>
            <a:off x="3714750" y="2314574"/>
            <a:ext cx="7258050" cy="361951"/>
            <a:chOff x="0" y="0"/>
            <a:chExt cx="7258050" cy="361950"/>
          </a:xfrm>
        </p:grpSpPr>
        <p:sp>
          <p:nvSpPr>
            <p:cNvPr id="159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6" name="Kaggle kaynağı, yedi tablo, eksik değer kararlar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Kaggle kaynağı, yedi tablo, eksik değer kararları</a:t>
              </a:r>
            </a:p>
          </p:txBody>
        </p:sp>
      </p:grpSp>
      <p:sp>
        <p:nvSpPr>
          <p:cNvPr id="1598" name="Dikdörtgen"/>
          <p:cNvSpPr/>
          <p:nvPr/>
        </p:nvSpPr>
        <p:spPr>
          <a:xfrm>
            <a:off x="666750" y="22272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1" name="Grupla"/>
          <p:cNvGrpSpPr/>
          <p:nvPr/>
        </p:nvGrpSpPr>
        <p:grpSpPr>
          <a:xfrm>
            <a:off x="762000" y="2752724"/>
            <a:ext cx="2781300" cy="361951"/>
            <a:chOff x="0" y="0"/>
            <a:chExt cx="2781300" cy="361950"/>
          </a:xfrm>
        </p:grpSpPr>
        <p:sp>
          <p:nvSpPr>
            <p:cNvPr id="159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0" name="Keşifsel veri analiz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Keşifsel veri analizi</a:t>
              </a:r>
            </a:p>
          </p:txBody>
        </p:sp>
      </p:grpSp>
      <p:sp>
        <p:nvSpPr>
          <p:cNvPr id="1602" name="Dikdörtgen"/>
          <p:cNvSpPr/>
          <p:nvPr/>
        </p:nvSpPr>
        <p:spPr>
          <a:xfrm>
            <a:off x="3617912" y="26670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5" name="Grupla"/>
          <p:cNvGrpSpPr/>
          <p:nvPr/>
        </p:nvGrpSpPr>
        <p:grpSpPr>
          <a:xfrm>
            <a:off x="3714750" y="2752724"/>
            <a:ext cx="7258050" cy="361951"/>
            <a:chOff x="0" y="0"/>
            <a:chExt cx="7258050" cy="361950"/>
          </a:xfrm>
        </p:grpSpPr>
        <p:sp>
          <p:nvSpPr>
            <p:cNvPr id="160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4" name="Funnel, kategori, duygu, satış ve RF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Funnel, kategori, duygu, satış ve RFM grafikleri</a:t>
              </a:r>
            </a:p>
          </p:txBody>
        </p:sp>
      </p:grpSp>
      <p:sp>
        <p:nvSpPr>
          <p:cNvPr id="1606" name="Dikdörtgen"/>
          <p:cNvSpPr/>
          <p:nvPr/>
        </p:nvSpPr>
        <p:spPr>
          <a:xfrm>
            <a:off x="666750" y="266541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9" name="Grupla"/>
          <p:cNvGrpSpPr/>
          <p:nvPr/>
        </p:nvGrpSpPr>
        <p:grpSpPr>
          <a:xfrm>
            <a:off x="762000" y="3190874"/>
            <a:ext cx="2781300" cy="361951"/>
            <a:chOff x="0" y="0"/>
            <a:chExt cx="2781300" cy="361950"/>
          </a:xfrm>
        </p:grpSpPr>
        <p:sp>
          <p:nvSpPr>
            <p:cNvPr id="1607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8" name="Modelleme / analiz yöntem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Modelleme / analiz yöntemi</a:t>
              </a:r>
            </a:p>
          </p:txBody>
        </p:sp>
      </p:grpSp>
      <p:sp>
        <p:nvSpPr>
          <p:cNvPr id="1610" name="Dikdörtgen"/>
          <p:cNvSpPr/>
          <p:nvPr/>
        </p:nvSpPr>
        <p:spPr>
          <a:xfrm>
            <a:off x="3617912" y="31051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3" name="Grupla"/>
          <p:cNvGrpSpPr/>
          <p:nvPr/>
        </p:nvGrpSpPr>
        <p:grpSpPr>
          <a:xfrm>
            <a:off x="3714750" y="3190874"/>
            <a:ext cx="7258050" cy="361951"/>
            <a:chOff x="0" y="0"/>
            <a:chExt cx="7258050" cy="361950"/>
          </a:xfrm>
        </p:grpSpPr>
        <p:sp>
          <p:nvSpPr>
            <p:cNvPr id="1611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2" name="Random Forest sınıflandırma ve kişisel tahmin model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 sınıflandırma ve kişisel tahmin modeli</a:t>
              </a:r>
            </a:p>
          </p:txBody>
        </p:sp>
      </p:grpSp>
      <p:sp>
        <p:nvSpPr>
          <p:cNvPr id="1614" name="Dikdörtgen"/>
          <p:cNvSpPr/>
          <p:nvPr/>
        </p:nvSpPr>
        <p:spPr>
          <a:xfrm>
            <a:off x="666750" y="31035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7" name="Grupla"/>
          <p:cNvGrpSpPr/>
          <p:nvPr/>
        </p:nvGrpSpPr>
        <p:grpSpPr>
          <a:xfrm>
            <a:off x="762000" y="3629024"/>
            <a:ext cx="2781300" cy="361951"/>
            <a:chOff x="0" y="0"/>
            <a:chExt cx="2781300" cy="361950"/>
          </a:xfrm>
        </p:grpSpPr>
        <p:sp>
          <p:nvSpPr>
            <p:cNvPr id="1615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6" name="Görselleştir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Görselleştirme</a:t>
              </a:r>
            </a:p>
          </p:txBody>
        </p:sp>
      </p:grpSp>
      <p:sp>
        <p:nvSpPr>
          <p:cNvPr id="1618" name="Dikdörtgen"/>
          <p:cNvSpPr/>
          <p:nvPr/>
        </p:nvSpPr>
        <p:spPr>
          <a:xfrm>
            <a:off x="3617912" y="35433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1" name="Grupla"/>
          <p:cNvGrpSpPr/>
          <p:nvPr/>
        </p:nvGrpSpPr>
        <p:grpSpPr>
          <a:xfrm>
            <a:off x="3714750" y="3629024"/>
            <a:ext cx="7258050" cy="361951"/>
            <a:chOff x="0" y="0"/>
            <a:chExt cx="7258050" cy="361950"/>
          </a:xfrm>
        </p:grpSpPr>
        <p:sp>
          <p:nvSpPr>
            <p:cNvPr id="1619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0" name="Streamlit dashboard ve sunu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Streamlit dashboard ve sunum grafikleri</a:t>
              </a:r>
            </a:p>
          </p:txBody>
        </p:sp>
      </p:grpSp>
      <p:sp>
        <p:nvSpPr>
          <p:cNvPr id="1622" name="Dikdörtgen"/>
          <p:cNvSpPr/>
          <p:nvPr/>
        </p:nvSpPr>
        <p:spPr>
          <a:xfrm>
            <a:off x="666750" y="35417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5" name="Grupla"/>
          <p:cNvGrpSpPr/>
          <p:nvPr/>
        </p:nvGrpSpPr>
        <p:grpSpPr>
          <a:xfrm>
            <a:off x="762000" y="4067174"/>
            <a:ext cx="2781300" cy="361951"/>
            <a:chOff x="0" y="0"/>
            <a:chExt cx="2781300" cy="361950"/>
          </a:xfrm>
        </p:grpSpPr>
        <p:sp>
          <p:nvSpPr>
            <p:cNvPr id="1623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4" name="Özgünlük ve derinlik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Özgünlük ve derinlik</a:t>
              </a:r>
            </a:p>
          </p:txBody>
        </p:sp>
      </p:grpSp>
      <p:sp>
        <p:nvSpPr>
          <p:cNvPr id="1626" name="Dikdörtgen"/>
          <p:cNvSpPr/>
          <p:nvPr/>
        </p:nvSpPr>
        <p:spPr>
          <a:xfrm>
            <a:off x="3617912" y="39814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9" name="Grupla"/>
          <p:cNvGrpSpPr/>
          <p:nvPr/>
        </p:nvGrpSpPr>
        <p:grpSpPr>
          <a:xfrm>
            <a:off x="3714750" y="4067174"/>
            <a:ext cx="7258050" cy="361951"/>
            <a:chOff x="0" y="0"/>
            <a:chExt cx="7258050" cy="361950"/>
          </a:xfrm>
        </p:grpSpPr>
        <p:sp>
          <p:nvSpPr>
            <p:cNvPr id="1627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8" name="Genel skor + kişisel satın alma tahmini + duygu analiz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skor + kişisel satın alma tahmini + duygu analizi</a:t>
              </a:r>
            </a:p>
          </p:txBody>
        </p:sp>
      </p:grpSp>
      <p:sp>
        <p:nvSpPr>
          <p:cNvPr id="1630" name="Dikdörtgen"/>
          <p:cNvSpPr/>
          <p:nvPr/>
        </p:nvSpPr>
        <p:spPr>
          <a:xfrm>
            <a:off x="666750" y="39798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3" name="Grupla"/>
          <p:cNvGrpSpPr/>
          <p:nvPr/>
        </p:nvGrpSpPr>
        <p:grpSpPr>
          <a:xfrm>
            <a:off x="762000" y="4505324"/>
            <a:ext cx="2781300" cy="361951"/>
            <a:chOff x="0" y="0"/>
            <a:chExt cx="2781300" cy="361950"/>
          </a:xfrm>
        </p:grpSpPr>
        <p:sp>
          <p:nvSpPr>
            <p:cNvPr id="163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2" name="Kod kalites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kalitesi</a:t>
              </a:r>
            </a:p>
          </p:txBody>
        </p:sp>
      </p:grpSp>
      <p:sp>
        <p:nvSpPr>
          <p:cNvPr id="1634" name="Dikdörtgen"/>
          <p:cNvSpPr/>
          <p:nvPr/>
        </p:nvSpPr>
        <p:spPr>
          <a:xfrm>
            <a:off x="3617912" y="44196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7" name="Grupla"/>
          <p:cNvGrpSpPr/>
          <p:nvPr/>
        </p:nvGrpSpPr>
        <p:grpSpPr>
          <a:xfrm>
            <a:off x="3714750" y="4505324"/>
            <a:ext cx="7258050" cy="361951"/>
            <a:chOff x="0" y="0"/>
            <a:chExt cx="7258050" cy="361950"/>
          </a:xfrm>
        </p:grpSpPr>
        <p:sp>
          <p:nvSpPr>
            <p:cNvPr id="163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6" name="pipeline.py ile veri hazırlama ve modelleme akı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pipeline.py ile veri hazırlama ve modelleme akışı</a:t>
              </a:r>
            </a:p>
          </p:txBody>
        </p:sp>
      </p:grpSp>
      <p:sp>
        <p:nvSpPr>
          <p:cNvPr id="1638" name="Dikdörtgen"/>
          <p:cNvSpPr/>
          <p:nvPr/>
        </p:nvSpPr>
        <p:spPr>
          <a:xfrm>
            <a:off x="666750" y="44180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1" name="Grupla"/>
          <p:cNvGrpSpPr/>
          <p:nvPr/>
        </p:nvGrpSpPr>
        <p:grpSpPr>
          <a:xfrm>
            <a:off x="762000" y="4943474"/>
            <a:ext cx="2781300" cy="361951"/>
            <a:chOff x="0" y="0"/>
            <a:chExt cx="2781300" cy="361950"/>
          </a:xfrm>
        </p:grpSpPr>
        <p:sp>
          <p:nvSpPr>
            <p:cNvPr id="163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0" name="Raporlama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Raporlama</a:t>
              </a:r>
            </a:p>
          </p:txBody>
        </p:sp>
      </p:grpSp>
      <p:sp>
        <p:nvSpPr>
          <p:cNvPr id="1642" name="Dikdörtgen"/>
          <p:cNvSpPr/>
          <p:nvPr/>
        </p:nvSpPr>
        <p:spPr>
          <a:xfrm>
            <a:off x="3617912" y="48577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5" name="Grupla"/>
          <p:cNvGrpSpPr/>
          <p:nvPr/>
        </p:nvGrpSpPr>
        <p:grpSpPr>
          <a:xfrm>
            <a:off x="3714750" y="4943474"/>
            <a:ext cx="7258050" cy="361951"/>
            <a:chOff x="0" y="0"/>
            <a:chExt cx="7258050" cy="361950"/>
          </a:xfrm>
        </p:grpSpPr>
        <p:sp>
          <p:nvSpPr>
            <p:cNvPr id="164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4" name="Bu PPTX + canlı dashboard link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PPTX + canlı dashboard linki</a:t>
              </a:r>
            </a:p>
          </p:txBody>
        </p:sp>
      </p:grpSp>
      <p:sp>
        <p:nvSpPr>
          <p:cNvPr id="1646" name="Dikdörtgen"/>
          <p:cNvSpPr/>
          <p:nvPr/>
        </p:nvSpPr>
        <p:spPr>
          <a:xfrm>
            <a:off x="666750" y="48561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7" name="Dikdörtgen"/>
          <p:cNvSpPr/>
          <p:nvPr/>
        </p:nvSpPr>
        <p:spPr>
          <a:xfrm>
            <a:off x="762000" y="5676900"/>
            <a:ext cx="9334500" cy="4953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50" name="Grupla"/>
          <p:cNvGrpSpPr/>
          <p:nvPr/>
        </p:nvGrpSpPr>
        <p:grpSpPr>
          <a:xfrm>
            <a:off x="914400" y="5791199"/>
            <a:ext cx="9029700" cy="323851"/>
            <a:chOff x="0" y="0"/>
            <a:chExt cx="9029700" cy="323850"/>
          </a:xfrm>
        </p:grpSpPr>
        <p:sp>
          <p:nvSpPr>
            <p:cNvPr id="1648" name="Dikdörtgen"/>
            <p:cNvSpPr/>
            <p:nvPr/>
          </p:nvSpPr>
          <p:spPr>
            <a:xfrm>
              <a:off x="0" y="0"/>
              <a:ext cx="90297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9" name="Geliştirme önerisi: Gerçek mağaza verisiyle zaman bazlı test, A/B test sonuçları ve model izleme paneli eklenebil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Geliştirme önerisi: Gerçek mağaza verisiyle zaman bazlı test, A/B test sonuçları ve model izleme paneli eklenebilir.</a:t>
              </a:r>
            </a:p>
          </p:txBody>
        </p:sp>
      </p:grpSp>
      <p:grpSp>
        <p:nvGrpSpPr>
          <p:cNvPr id="165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65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65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65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5" name="1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61" name="Grupla"/>
          <p:cNvGrpSpPr/>
          <p:nvPr/>
        </p:nvGrpSpPr>
        <p:grpSpPr>
          <a:xfrm>
            <a:off x="762000" y="876299"/>
            <a:ext cx="1524000" cy="514351"/>
            <a:chOff x="0" y="0"/>
            <a:chExt cx="1524000" cy="514350"/>
          </a:xfrm>
        </p:grpSpPr>
        <p:sp>
          <p:nvSpPr>
            <p:cNvPr id="1659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0" name="Shop"/>
            <p:cNvSpPr txBox="1"/>
            <p:nvPr/>
          </p:nvSpPr>
          <p:spPr>
            <a:xfrm>
              <a:off x="0" y="-1"/>
              <a:ext cx="1524000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1664" name="Grupla"/>
          <p:cNvGrpSpPr/>
          <p:nvPr/>
        </p:nvGrpSpPr>
        <p:grpSpPr>
          <a:xfrm>
            <a:off x="1835011" y="876300"/>
            <a:ext cx="1746389" cy="514350"/>
            <a:chOff x="-1" y="0"/>
            <a:chExt cx="1746387" cy="514350"/>
          </a:xfrm>
        </p:grpSpPr>
        <p:sp>
          <p:nvSpPr>
            <p:cNvPr id="1662" name="Dikdörtgen"/>
            <p:cNvSpPr/>
            <p:nvPr/>
          </p:nvSpPr>
          <p:spPr>
            <a:xfrm>
              <a:off x="222386" y="0"/>
              <a:ext cx="1524001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3" name="Lens"/>
            <p:cNvSpPr txBox="1"/>
            <p:nvPr/>
          </p:nvSpPr>
          <p:spPr>
            <a:xfrm>
              <a:off x="-2" y="3173"/>
              <a:ext cx="1524003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1667" name="Grupla"/>
          <p:cNvGrpSpPr/>
          <p:nvPr/>
        </p:nvGrpSpPr>
        <p:grpSpPr>
          <a:xfrm>
            <a:off x="781050" y="1809749"/>
            <a:ext cx="7334250" cy="876301"/>
            <a:chOff x="0" y="0"/>
            <a:chExt cx="7334250" cy="876300"/>
          </a:xfrm>
        </p:grpSpPr>
        <p:sp>
          <p:nvSpPr>
            <p:cNvPr id="1665" name="Dikdörtgen"/>
            <p:cNvSpPr/>
            <p:nvPr/>
          </p:nvSpPr>
          <p:spPr>
            <a:xfrm>
              <a:off x="0" y="0"/>
              <a:ext cx="7334250" cy="8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6" name="Doğru ürünü doğru müşteriye önermek, veriyi davranışla birlikte okumaktan geçer."/>
            <p:cNvSpPr txBox="1"/>
            <p:nvPr/>
          </p:nvSpPr>
          <p:spPr>
            <a:xfrm>
              <a:off x="0" y="-1"/>
              <a:ext cx="733425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Doğru ürünü doğru müşteriye önermek, veriyi davranışla birlikte okumaktan geçer.</a:t>
              </a:r>
            </a:p>
          </p:txBody>
        </p:sp>
      </p:grpSp>
      <p:sp>
        <p:nvSpPr>
          <p:cNvPr id="1668" name="Dikdörtgen"/>
          <p:cNvSpPr/>
          <p:nvPr/>
        </p:nvSpPr>
        <p:spPr>
          <a:xfrm>
            <a:off x="838200" y="3371850"/>
            <a:ext cx="49530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9" name="Dikdörtgen"/>
          <p:cNvSpPr/>
          <p:nvPr/>
        </p:nvSpPr>
        <p:spPr>
          <a:xfrm>
            <a:off x="800100" y="3314700"/>
            <a:ext cx="49530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0" name="Dikdörtgen"/>
          <p:cNvSpPr/>
          <p:nvPr/>
        </p:nvSpPr>
        <p:spPr>
          <a:xfrm>
            <a:off x="800100" y="3314700"/>
            <a:ext cx="57150" cy="157162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73" name="Grupla"/>
          <p:cNvGrpSpPr/>
          <p:nvPr/>
        </p:nvGrpSpPr>
        <p:grpSpPr>
          <a:xfrm>
            <a:off x="1123950" y="3581399"/>
            <a:ext cx="1905000" cy="247651"/>
            <a:chOff x="0" y="0"/>
            <a:chExt cx="1905000" cy="247650"/>
          </a:xfrm>
        </p:grpSpPr>
        <p:sp>
          <p:nvSpPr>
            <p:cNvPr id="1671" name="Dikdörtgen"/>
            <p:cNvSpPr/>
            <p:nvPr/>
          </p:nvSpPr>
          <p:spPr>
            <a:xfrm>
              <a:off x="0" y="0"/>
              <a:ext cx="1905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2" name="Kaynakça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Kaynakça</a:t>
              </a:r>
            </a:p>
          </p:txBody>
        </p:sp>
      </p:grpSp>
      <p:grpSp>
        <p:nvGrpSpPr>
          <p:cNvPr id="1676" name="Grupla"/>
          <p:cNvGrpSpPr/>
          <p:nvPr/>
        </p:nvGrpSpPr>
        <p:grpSpPr>
          <a:xfrm>
            <a:off x="1123950" y="4000499"/>
            <a:ext cx="4191000" cy="666751"/>
            <a:chOff x="0" y="0"/>
            <a:chExt cx="4191000" cy="666750"/>
          </a:xfrm>
        </p:grpSpPr>
        <p:sp>
          <p:nvSpPr>
            <p:cNvPr id="1674" name="Dikdörtgen"/>
            <p:cNvSpPr/>
            <p:nvPr/>
          </p:nvSpPr>
          <p:spPr>
            <a:xfrm>
              <a:off x="0" y="0"/>
              <a:ext cx="41910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5" name="Kaggle: E-commerce Transactions + Clickstream…"/>
            <p:cNvSpPr txBox="1"/>
            <p:nvPr/>
          </p:nvSpPr>
          <p:spPr>
            <a:xfrm>
              <a:off x="0" y="-1"/>
              <a:ext cx="4191000" cy="533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Kaggle: E-commerce Transactions + Clickstream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Python, Pandas, scikit-learn, Plotly, Streamlit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vaderSentiment: VADER duygu analizi</a:t>
              </a:r>
            </a:p>
          </p:txBody>
        </p:sp>
      </p:grpSp>
      <p:sp>
        <p:nvSpPr>
          <p:cNvPr id="1677" name="Dikdörtgen"/>
          <p:cNvSpPr/>
          <p:nvPr/>
        </p:nvSpPr>
        <p:spPr>
          <a:xfrm>
            <a:off x="6610350" y="3371850"/>
            <a:ext cx="40005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8" name="Dikdörtgen"/>
          <p:cNvSpPr/>
          <p:nvPr/>
        </p:nvSpPr>
        <p:spPr>
          <a:xfrm>
            <a:off x="6572250" y="3314700"/>
            <a:ext cx="40005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9" name="Dikdörtgen"/>
          <p:cNvSpPr/>
          <p:nvPr/>
        </p:nvSpPr>
        <p:spPr>
          <a:xfrm>
            <a:off x="6572250" y="3314700"/>
            <a:ext cx="57150" cy="1571625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82" name="Grupla"/>
          <p:cNvGrpSpPr/>
          <p:nvPr/>
        </p:nvGrpSpPr>
        <p:grpSpPr>
          <a:xfrm>
            <a:off x="6896100" y="3581399"/>
            <a:ext cx="2286000" cy="247651"/>
            <a:chOff x="0" y="0"/>
            <a:chExt cx="2286000" cy="247650"/>
          </a:xfrm>
        </p:grpSpPr>
        <p:sp>
          <p:nvSpPr>
            <p:cNvPr id="1680" name="Dikdörtgen"/>
            <p:cNvSpPr/>
            <p:nvPr/>
          </p:nvSpPr>
          <p:spPr>
            <a:xfrm>
              <a:off x="0" y="0"/>
              <a:ext cx="2286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1" name="Canlı Dashboard"/>
            <p:cNvSpPr txBox="1"/>
            <p:nvPr/>
          </p:nvSpPr>
          <p:spPr>
            <a:xfrm>
              <a:off x="0" y="-1"/>
              <a:ext cx="2286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</a:t>
              </a:r>
            </a:p>
          </p:txBody>
        </p:sp>
      </p:grpSp>
      <p:grpSp>
        <p:nvGrpSpPr>
          <p:cNvPr id="1685" name="Grupla"/>
          <p:cNvGrpSpPr/>
          <p:nvPr/>
        </p:nvGrpSpPr>
        <p:grpSpPr>
          <a:xfrm>
            <a:off x="6896100" y="4038599"/>
            <a:ext cx="3048000" cy="609601"/>
            <a:chOff x="0" y="0"/>
            <a:chExt cx="3048000" cy="609600"/>
          </a:xfrm>
        </p:grpSpPr>
        <p:sp>
          <p:nvSpPr>
            <p:cNvPr id="1683" name="Dikdörtgen"/>
            <p:cNvSpPr/>
            <p:nvPr/>
          </p:nvSpPr>
          <p:spPr>
            <a:xfrm>
              <a:off x="0" y="0"/>
              <a:ext cx="3048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4" name="Streamlit linki:…"/>
            <p:cNvSpPr txBox="1"/>
            <p:nvPr/>
          </p:nvSpPr>
          <p:spPr>
            <a:xfrm>
              <a:off x="0" y="-1"/>
              <a:ext cx="30480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Streamlit linki:</a:t>
              </a:r>
            </a:p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https://shoplens.streamlit.app/</a:t>
              </a:r>
            </a:p>
          </p:txBody>
        </p:sp>
      </p:grpSp>
      <p:grpSp>
        <p:nvGrpSpPr>
          <p:cNvPr id="1688" name="Grupla"/>
          <p:cNvGrpSpPr/>
          <p:nvPr/>
        </p:nvGrpSpPr>
        <p:grpSpPr>
          <a:xfrm>
            <a:off x="781050" y="5581649"/>
            <a:ext cx="3048000" cy="381001"/>
            <a:chOff x="0" y="0"/>
            <a:chExt cx="3048000" cy="381000"/>
          </a:xfrm>
        </p:grpSpPr>
        <p:sp>
          <p:nvSpPr>
            <p:cNvPr id="1686" name="Dikdörtgen"/>
            <p:cNvSpPr/>
            <p:nvPr/>
          </p:nvSpPr>
          <p:spPr>
            <a:xfrm>
              <a:off x="0" y="-1"/>
              <a:ext cx="304800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87" name="Teşekkürler"/>
            <p:cNvSpPr txBox="1"/>
            <p:nvPr/>
          </p:nvSpPr>
          <p:spPr>
            <a:xfrm>
              <a:off x="0" y="0"/>
              <a:ext cx="3048000" cy="381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Teşekkürler</a:t>
              </a:r>
            </a:p>
          </p:txBody>
        </p:sp>
      </p:grpSp>
      <p:grpSp>
        <p:nvGrpSpPr>
          <p:cNvPr id="1691" name="Grupla"/>
          <p:cNvGrpSpPr/>
          <p:nvPr/>
        </p:nvGrpSpPr>
        <p:grpSpPr>
          <a:xfrm>
            <a:off x="781050" y="6038849"/>
            <a:ext cx="3048000" cy="228601"/>
            <a:chOff x="0" y="0"/>
            <a:chExt cx="3048000" cy="228600"/>
          </a:xfrm>
        </p:grpSpPr>
        <p:sp>
          <p:nvSpPr>
            <p:cNvPr id="1689" name="Dikdörtgen"/>
            <p:cNvSpPr/>
            <p:nvPr/>
          </p:nvSpPr>
          <p:spPr>
            <a:xfrm>
              <a:off x="0" y="0"/>
              <a:ext cx="3048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90" name="Özge Güneş | Mayıs 2026"/>
            <p:cNvSpPr txBox="1"/>
            <p:nvPr/>
          </p:nvSpPr>
          <p:spPr>
            <a:xfrm>
              <a:off x="0" y="-1"/>
              <a:ext cx="3048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Keşifsel Veri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Verinin yapısını, event dağılımını ve temel kalite kontrollerini özetleyen çıktı.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10835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0_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274" y="1783080"/>
            <a:ext cx="6114692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1832" y="5596127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Arial"/>
              </a:rPr>
              <a:t>Veri büyüklüğü, event dağılımı, rating yapısı ve ilk EDA kontrolleri.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Dönüşüm Hunisi ve Duygu Dağılımı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Kullanıcı davranışı ile yorumlardan gelen duygu sinyali birlikte okunur.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436527"/>
            <a:ext cx="5111496" cy="22958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Page view, sepete ekleme, ödeme başlatma ve satın alma adımlarındaki geçişler.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449541"/>
            <a:ext cx="5111496" cy="2269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823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VADER + rating hibrit kuralıyla pozitif, nötr ve negatif yorum dağılımı.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Ürün Performansı ve Öneri Eşiği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Genel öneri listesini oluşturan ürün skorları ve eşik mantığı.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top_urun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200912"/>
            <a:ext cx="5111496" cy="27670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Genel öneri listesinde öne çıkan ürünlerin skor sıralaması.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521482"/>
            <a:ext cx="5111496" cy="21259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823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Öneri skoru dağılımı ve önerilir ürünleri ayıran eşik çizgisi.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Gelir ve Segment-Kategori Tercihleri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Satış etkisi ve müşteri segmentlerinin kategori tercihleri birlikte değerlendirilir.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gel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79560"/>
            <a:ext cx="5111496" cy="2809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Ürünlerin gelir katkısı ve ticari performans görünümü.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4_segment_katego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82" y="1828800"/>
            <a:ext cx="4427116" cy="35112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823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Her segmentin alışveriş yaptığı kategorilerin yüzdesel satış payları.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Genel Ürün Modeli: Değerlendirme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Bu model ürünleri genel performansa göre önerilir / önerilmez olarak ayırır.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455" y="1828800"/>
            <a:ext cx="4318490" cy="35112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Genel ürün modelinin doğru ve yanlış sınıflandırma sayıları.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174" y="1828800"/>
            <a:ext cx="4946731" cy="35112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823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Genel ürün modelinin sınıfları ayırma gücünü gösteren ROC eğrisi.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Genel Ürün Modeli: Özellik Önemi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Ürün modelinin kararında hangi sinyallerin daha etkili olduğunu gösterir.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10835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527" y="1783080"/>
            <a:ext cx="6820185" cy="37490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1832" y="5596127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Arial"/>
              </a:rPr>
              <a:t>Genel ürün skorunda sepete ekleme, rating ve fiyat gibi değişkenlerin katkısı.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Müşteri Segmentasyonu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RFM ile müşterilerin alışveriş yakınlığı, sıklığı ve harcama düzeyi analiz edilir.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78344"/>
            <a:ext cx="5111496" cy="281220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RFM segmentlerinin müşteri sayısına göre dağılımı.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7" y="1828800"/>
            <a:ext cx="5028426" cy="35112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823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Segmentlerin recency ve harcama eksenindeki konumları.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Kişiye Özel Model: Değerlendirme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Bu model belirli müşteri + ürün çifti için satın alma olasılığı üretir.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1_kisisel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034" y="1828800"/>
            <a:ext cx="4605332" cy="35112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Kişiye özel modelin müşteri-ürün çiftleri üzerindeki confusion matrix çıktısı.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54406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2_kisisel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088221"/>
            <a:ext cx="5111496" cy="2992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8232" y="5431536"/>
            <a:ext cx="4928616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Arial"/>
              </a:rPr>
              <a:t>Kişiye özel modelin satın alan / almayan çiftleri ayırma performansı.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475488"/>
          </a:xfrm>
          <a:prstGeom prst="rect">
            <a:avLst/>
          </a:prstGeom>
          <a:solidFill>
            <a:srgbClr val="122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1828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ShopLens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28016"/>
            <a:ext cx="2286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B4E2CD"/>
                </a:solidFill>
                <a:latin typeface="Arial"/>
              </a:rPr>
              <a:t>Grafik Çıktıları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743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>
                <a:solidFill>
                  <a:srgbClr val="667085"/>
                </a:solidFill>
                <a:latin typeface="Arial"/>
              </a:rPr>
              <a:t>Özge Güneş | Mayıs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 b="0">
                <a:solidFill>
                  <a:srgbClr val="667085"/>
                </a:solidFill>
                <a:latin typeface="Arial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74980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1F2A3D"/>
                </a:solidFill>
                <a:latin typeface="Arial"/>
              </a:rPr>
              <a:t>Kişiye Özel Model: Özellik Önemi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Arial"/>
              </a:rPr>
              <a:t>Kişisel öneri tarafında hangi müşteri ve ürün sinyallerinin öne çıktığını gösterir.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10835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3_kisisel_o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104" y="1783080"/>
            <a:ext cx="6425031" cy="37490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1832" y="5596127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667085"/>
                </a:solidFill>
                <a:latin typeface="Arial"/>
              </a:rPr>
              <a:t>Kişisel modelde sepete ekleme davranışı en güçlü sinyal olarak görünür.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