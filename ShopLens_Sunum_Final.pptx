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9144000" cy="51435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457200" y="69056"/>
            <a:ext cx="8229600" cy="113109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4419600" y="4627562"/>
            <a:ext cx="2133600" cy="2794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shoplens.streamlit.app" TargetMode="External"/><Relationship Id="rId3" Type="http://schemas.openxmlformats.org/officeDocument/2006/relationships/hyperlink" Target="https://github.com/ozgunes91/ShopLens" TargetMode="Externa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-1"/>
            <a:ext cx="9144000" cy="7315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" name="Text 1"/>
          <p:cNvSpPr txBox="1"/>
          <p:nvPr/>
        </p:nvSpPr>
        <p:spPr>
          <a:xfrm>
            <a:off x="548640" y="1002253"/>
            <a:ext cx="4572001" cy="6472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50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548640" y="1952823"/>
            <a:ext cx="6400801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600">
                <a:solidFill>
                  <a:srgbClr val="374151"/>
                </a:solidFill>
              </a:defRPr>
            </a:lvl1pPr>
          </a:lstStyle>
          <a:p>
            <a:pPr/>
            <a:r>
              <a:t>E-Ticaret Davranış Analizi ve Akıllı Ürün Öneri Sistemi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548640" y="2502076"/>
            <a:ext cx="6400801" cy="2993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Müşteri davranışı, sipariş geçmişi ve yorum verisini birleştirerek</a:t>
            </a:r>
          </a:p>
          <a:p>
            <a:pPr>
              <a:defRPr sz="1100">
                <a:solidFill>
                  <a:srgbClr val="6B7280"/>
                </a:solidFill>
              </a:defRPr>
            </a:pPr>
            <a:r>
              <a:t>kişiye özel ürün önerisi üreten bitirme projesi</a:t>
            </a:r>
          </a:p>
        </p:txBody>
      </p:sp>
      <p:sp>
        <p:nvSpPr>
          <p:cNvPr id="24" name="Shape 4"/>
          <p:cNvSpPr/>
          <p:nvPr/>
        </p:nvSpPr>
        <p:spPr>
          <a:xfrm>
            <a:off x="548640" y="3931920"/>
            <a:ext cx="8046720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" name="Text 5"/>
          <p:cNvSpPr txBox="1"/>
          <p:nvPr/>
        </p:nvSpPr>
        <p:spPr>
          <a:xfrm>
            <a:off x="548640" y="415188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Hazırlayan</a:t>
            </a:r>
          </a:p>
        </p:txBody>
      </p:sp>
      <p:sp>
        <p:nvSpPr>
          <p:cNvPr id="26" name="Text 6"/>
          <p:cNvSpPr txBox="1"/>
          <p:nvPr/>
        </p:nvSpPr>
        <p:spPr>
          <a:xfrm>
            <a:off x="548640" y="4369746"/>
            <a:ext cx="228600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F2937"/>
                </a:solidFill>
              </a:defRPr>
            </a:lvl1pPr>
          </a:lstStyle>
          <a:p>
            <a:pPr/>
            <a:r>
              <a:t>Özge Güneş</a:t>
            </a:r>
          </a:p>
        </p:txBody>
      </p:sp>
      <p:sp>
        <p:nvSpPr>
          <p:cNvPr id="27" name="Text 7"/>
          <p:cNvSpPr txBox="1"/>
          <p:nvPr/>
        </p:nvSpPr>
        <p:spPr>
          <a:xfrm>
            <a:off x="3017520" y="4151883"/>
            <a:ext cx="2743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Ders</a:t>
            </a:r>
          </a:p>
        </p:txBody>
      </p:sp>
      <p:sp>
        <p:nvSpPr>
          <p:cNvPr id="28" name="Text 8"/>
          <p:cNvSpPr txBox="1"/>
          <p:nvPr/>
        </p:nvSpPr>
        <p:spPr>
          <a:xfrm>
            <a:off x="3017520" y="4385994"/>
            <a:ext cx="36576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1F2937"/>
                </a:solidFill>
              </a:defRPr>
            </a:lvl1pPr>
          </a:lstStyle>
          <a:p>
            <a:pPr/>
            <a:r>
              <a:t>İSMEK · Yapay Zekâ ve Veri Bilimi</a:t>
            </a:r>
          </a:p>
        </p:txBody>
      </p:sp>
      <p:sp>
        <p:nvSpPr>
          <p:cNvPr id="29" name="Text 9"/>
          <p:cNvSpPr txBox="1"/>
          <p:nvPr/>
        </p:nvSpPr>
        <p:spPr>
          <a:xfrm>
            <a:off x="6583680" y="415188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Tarih</a:t>
            </a:r>
          </a:p>
        </p:txBody>
      </p:sp>
      <p:sp>
        <p:nvSpPr>
          <p:cNvPr id="30" name="Text 10"/>
          <p:cNvSpPr txBox="1"/>
          <p:nvPr/>
        </p:nvSpPr>
        <p:spPr>
          <a:xfrm>
            <a:off x="6583680" y="4385994"/>
            <a:ext cx="1828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100">
                <a:solidFill>
                  <a:srgbClr val="1F2937"/>
                </a:solidFill>
              </a:defRPr>
            </a:lvl1pPr>
          </a:lstStyle>
          <a:p>
            <a:pPr/>
            <a:r>
              <a:t>Mayıs 2026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33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01 · Problem</a:t>
            </a:r>
          </a:p>
        </p:txBody>
      </p:sp>
      <p:sp>
        <p:nvSpPr>
          <p:cNvPr id="34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Problem ve Hedef</a:t>
            </a:r>
          </a:p>
        </p:txBody>
      </p:sp>
      <p:sp>
        <p:nvSpPr>
          <p:cNvPr id="36" name="Text 4"/>
          <p:cNvSpPr txBox="1"/>
          <p:nvPr/>
        </p:nvSpPr>
        <p:spPr>
          <a:xfrm>
            <a:off x="365759" y="1325880"/>
            <a:ext cx="8412482" cy="347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374151"/>
                </a:solidFill>
              </a:defRPr>
            </a:lvl1pPr>
          </a:lstStyle>
          <a:p>
            <a:pPr/>
            <a:r>
              <a:t>Çok ürünlü e-ticaret sitelerinde "herkese aynı vitrin" yaklaşımı dönüşümü düşürür. Müşterinin geçmiş davranışı ve ürün kalitesi birlikte değerlendirilmeli.</a:t>
            </a:r>
          </a:p>
        </p:txBody>
      </p:sp>
      <p:sp>
        <p:nvSpPr>
          <p:cNvPr id="37" name="Shape 5"/>
          <p:cNvSpPr/>
          <p:nvPr/>
        </p:nvSpPr>
        <p:spPr>
          <a:xfrm>
            <a:off x="365760" y="2148839"/>
            <a:ext cx="2688336" cy="228600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8" name="Text 6"/>
          <p:cNvSpPr txBox="1"/>
          <p:nvPr/>
        </p:nvSpPr>
        <p:spPr>
          <a:xfrm>
            <a:off x="548640" y="2354624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C2410C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9" name="Text 7"/>
          <p:cNvSpPr txBox="1"/>
          <p:nvPr/>
        </p:nvSpPr>
        <p:spPr>
          <a:xfrm>
            <a:off x="548640" y="2618671"/>
            <a:ext cx="2377440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F2937"/>
                </a:solidFill>
              </a:defRPr>
            </a:lvl1pPr>
          </a:lstStyle>
          <a:p>
            <a:pPr/>
            <a:r>
              <a:t>İş Problemi</a:t>
            </a:r>
          </a:p>
        </p:txBody>
      </p:sp>
      <p:sp>
        <p:nvSpPr>
          <p:cNvPr id="40" name="Text 8"/>
          <p:cNvSpPr txBox="1"/>
          <p:nvPr/>
        </p:nvSpPr>
        <p:spPr>
          <a:xfrm>
            <a:off x="548640" y="2907792"/>
            <a:ext cx="2377440" cy="467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Görüntülemeden satın almaya geçişte büyük kayıp var. Ürünleri yalnızca "en çok satan" listesiyle göstermek yetersiz.</a:t>
            </a:r>
          </a:p>
        </p:txBody>
      </p:sp>
      <p:sp>
        <p:nvSpPr>
          <p:cNvPr id="41" name="Shape 9"/>
          <p:cNvSpPr/>
          <p:nvPr/>
        </p:nvSpPr>
        <p:spPr>
          <a:xfrm>
            <a:off x="3227832" y="2148839"/>
            <a:ext cx="2688336" cy="228600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2" name="Text 10"/>
          <p:cNvSpPr txBox="1"/>
          <p:nvPr/>
        </p:nvSpPr>
        <p:spPr>
          <a:xfrm>
            <a:off x="3410711" y="2354624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C2410C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3" name="Text 11"/>
          <p:cNvSpPr txBox="1"/>
          <p:nvPr/>
        </p:nvSpPr>
        <p:spPr>
          <a:xfrm>
            <a:off x="3410711" y="2618671"/>
            <a:ext cx="237744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F2937"/>
                </a:solidFill>
              </a:defRPr>
            </a:lvl1pPr>
          </a:lstStyle>
          <a:p>
            <a:pPr/>
            <a:r>
              <a:t>Yaklaşım</a:t>
            </a:r>
          </a:p>
        </p:txBody>
      </p:sp>
      <p:sp>
        <p:nvSpPr>
          <p:cNvPr id="44" name="Text 12"/>
          <p:cNvSpPr txBox="1"/>
          <p:nvPr/>
        </p:nvSpPr>
        <p:spPr>
          <a:xfrm>
            <a:off x="3410711" y="2907792"/>
            <a:ext cx="2377441" cy="467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Davranış, satış, yorum ve müşteri verisi tek analitik tabloda birleştirildi. Ürün ve müşteri seviyeli iki ayrı model kuruldu.</a:t>
            </a:r>
          </a:p>
        </p:txBody>
      </p:sp>
      <p:sp>
        <p:nvSpPr>
          <p:cNvPr id="45" name="Shape 13"/>
          <p:cNvSpPr/>
          <p:nvPr/>
        </p:nvSpPr>
        <p:spPr>
          <a:xfrm>
            <a:off x="6089904" y="2148839"/>
            <a:ext cx="2688336" cy="228600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46" name="Text 14"/>
          <p:cNvSpPr txBox="1"/>
          <p:nvPr/>
        </p:nvSpPr>
        <p:spPr>
          <a:xfrm>
            <a:off x="6272784" y="2354624"/>
            <a:ext cx="4572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C2410C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7" name="Text 15"/>
          <p:cNvSpPr txBox="1"/>
          <p:nvPr/>
        </p:nvSpPr>
        <p:spPr>
          <a:xfrm>
            <a:off x="6272784" y="2618671"/>
            <a:ext cx="2377441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300">
                <a:solidFill>
                  <a:srgbClr val="1F2937"/>
                </a:solidFill>
              </a:defRPr>
            </a:lvl1pPr>
          </a:lstStyle>
          <a:p>
            <a:pPr/>
            <a:r>
              <a:t>Çıktı</a:t>
            </a:r>
          </a:p>
        </p:txBody>
      </p:sp>
      <p:sp>
        <p:nvSpPr>
          <p:cNvPr id="48" name="Text 16"/>
          <p:cNvSpPr txBox="1"/>
          <p:nvPr/>
        </p:nvSpPr>
        <p:spPr>
          <a:xfrm>
            <a:off x="6272784" y="2907792"/>
            <a:ext cx="2377441" cy="467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Streamlit dashboard; seçilen müşteri için satın alma olasılığı yüksek ürünleri sıralar ve model sonuçlarını açıklar.</a:t>
            </a:r>
          </a:p>
        </p:txBody>
      </p:sp>
      <p:sp>
        <p:nvSpPr>
          <p:cNvPr id="49" name="Text 17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50" name="Text 18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53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02 · Veri</a:t>
            </a:r>
          </a:p>
        </p:txBody>
      </p:sp>
      <p:sp>
        <p:nvSpPr>
          <p:cNvPr id="54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55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Veri Kaynağı</a:t>
            </a:r>
          </a:p>
        </p:txBody>
      </p:sp>
      <p:sp>
        <p:nvSpPr>
          <p:cNvPr id="56" name="Text 4"/>
          <p:cNvSpPr txBox="1"/>
          <p:nvPr/>
        </p:nvSpPr>
        <p:spPr>
          <a:xfrm>
            <a:off x="365759" y="141876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Kaggle · E-commerce Transactions + Clickstream (sentetik). 7 ilişkili tablo, toplam ~1M satır.</a:t>
            </a:r>
          </a:p>
        </p:txBody>
      </p:sp>
      <p:graphicFrame>
        <p:nvGraphicFramePr>
          <p:cNvPr id="57" name="Table 0"/>
          <p:cNvGraphicFramePr/>
          <p:nvPr/>
        </p:nvGraphicFramePr>
        <p:xfrm>
          <a:off x="365759" y="1783079"/>
          <a:ext cx="8412482" cy="2779777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371600"/>
                <a:gridCol w="1005839"/>
                <a:gridCol w="1920240"/>
                <a:gridCol w="4114800"/>
              </a:tblGrid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1F2937"/>
                          </a:solidFill>
                        </a:rPr>
                        <a:t>Tablo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b="1" sz="1000">
                          <a:solidFill>
                            <a:srgbClr val="1F2937"/>
                          </a:solidFill>
                        </a:rPr>
                        <a:t>Satır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1F2937"/>
                          </a:solidFill>
                        </a:rPr>
                        <a:t>Anahtar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1F2937"/>
                          </a:solidFill>
                        </a:rPr>
                        <a:t>Kullanım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events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760.958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session_id, product_id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Görüntüleme ve sepete ekleme davranışı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sessions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120.000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session_id, customer_id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Eventleri müşteriye bağlama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customers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20.000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customer_id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Müşteri profili ve RFM kaynağı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orders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33.580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order_id, customer_id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Sipariş başlığı, müşteri eşleşmesi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order_items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59.163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order_id, product_id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Gerçek satış adedi ve gelir kaynağı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products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1.197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product_id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Ürün bilgisi, fiyat, marj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000">
                          <a:solidFill>
                            <a:srgbClr val="C2410C"/>
                          </a:solidFill>
                        </a:rPr>
                        <a:t>reviews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1000">
                          <a:solidFill>
                            <a:srgbClr val="1F2937"/>
                          </a:solidFill>
                        </a:rPr>
                        <a:t>10.780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6B7280"/>
                          </a:solidFill>
                        </a:rPr>
                        <a:t>product_id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Rating ve VADER duygu kaynağı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8" name="Text 5"/>
          <p:cNvSpPr txBox="1"/>
          <p:nvPr/>
        </p:nvSpPr>
        <p:spPr>
          <a:xfrm>
            <a:off x="365759" y="4609083"/>
            <a:ext cx="84124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B7280"/>
                </a:solidFill>
              </a:defRPr>
            </a:lvl1pPr>
          </a:lstStyle>
          <a:p>
            <a:pPr/>
            <a:r>
              <a:t>Bağlantı: events → sessions → customers (davranış)  ·  orders → order_items → products (satış)  ·  reviews → products (memnuniyet)</a:t>
            </a:r>
          </a:p>
        </p:txBody>
      </p:sp>
      <p:sp>
        <p:nvSpPr>
          <p:cNvPr id="59" name="Text 6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60" name="Text 7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3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63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03 · Metodoloji</a:t>
            </a:r>
          </a:p>
        </p:txBody>
      </p:sp>
      <p:sp>
        <p:nvSpPr>
          <p:cNvPr id="64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5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Veri Hazırlama ve Eksik Değerler</a:t>
            </a:r>
          </a:p>
        </p:txBody>
      </p:sp>
      <p:sp>
        <p:nvSpPr>
          <p:cNvPr id="66" name="Text 4"/>
          <p:cNvSpPr txBox="1"/>
          <p:nvPr/>
        </p:nvSpPr>
        <p:spPr>
          <a:xfrm>
            <a:off x="365759" y="141876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Eksik değerler doğrudan silinmedi. Önce eksikliğin yapısal mı yoksa gerçek bilgi eksikliği mi olduğu kontrol edildi.</a:t>
            </a:r>
          </a:p>
        </p:txBody>
      </p:sp>
      <p:sp>
        <p:nvSpPr>
          <p:cNvPr id="67" name="Shape 5"/>
          <p:cNvSpPr/>
          <p:nvPr/>
        </p:nvSpPr>
        <p:spPr>
          <a:xfrm>
            <a:off x="365759" y="1901951"/>
            <a:ext cx="45721" cy="2743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68" name="Text 6"/>
          <p:cNvSpPr txBox="1"/>
          <p:nvPr/>
        </p:nvSpPr>
        <p:spPr>
          <a:xfrm>
            <a:off x="502920" y="1966004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events.product_id boş (checkout &amp; purchase)</a:t>
            </a:r>
          </a:p>
        </p:txBody>
      </p:sp>
      <p:sp>
        <p:nvSpPr>
          <p:cNvPr id="69" name="Text 7"/>
          <p:cNvSpPr txBox="1"/>
          <p:nvPr/>
        </p:nvSpPr>
        <p:spPr>
          <a:xfrm>
            <a:off x="4434840" y="1966004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Yapısal eksik — ürün bazlı satış order_items.quantity'den alındı</a:t>
            </a:r>
          </a:p>
        </p:txBody>
      </p:sp>
      <p:sp>
        <p:nvSpPr>
          <p:cNvPr id="70" name="Shape 8"/>
          <p:cNvSpPr/>
          <p:nvPr/>
        </p:nvSpPr>
        <p:spPr>
          <a:xfrm>
            <a:off x="365759" y="2267711"/>
            <a:ext cx="8412481" cy="1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1" name="Shape 9"/>
          <p:cNvSpPr/>
          <p:nvPr/>
        </p:nvSpPr>
        <p:spPr>
          <a:xfrm>
            <a:off x="365759" y="2404872"/>
            <a:ext cx="45721" cy="2743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2" name="Text 10"/>
          <p:cNvSpPr txBox="1"/>
          <p:nvPr/>
        </p:nvSpPr>
        <p:spPr>
          <a:xfrm>
            <a:off x="502920" y="2468924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Üründe yorum yok</a:t>
            </a:r>
          </a:p>
        </p:txBody>
      </p:sp>
      <p:sp>
        <p:nvSpPr>
          <p:cNvPr id="73" name="Text 11"/>
          <p:cNvSpPr txBox="1"/>
          <p:nvPr/>
        </p:nvSpPr>
        <p:spPr>
          <a:xfrm>
            <a:off x="4434840" y="2468924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yorum_sayisi=0, pozitif_oran=0 atandı</a:t>
            </a:r>
          </a:p>
        </p:txBody>
      </p:sp>
      <p:sp>
        <p:nvSpPr>
          <p:cNvPr id="74" name="Shape 12"/>
          <p:cNvSpPr/>
          <p:nvPr/>
        </p:nvSpPr>
        <p:spPr>
          <a:xfrm>
            <a:off x="365759" y="2770632"/>
            <a:ext cx="8412481" cy="1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5" name="Shape 13"/>
          <p:cNvSpPr/>
          <p:nvPr/>
        </p:nvSpPr>
        <p:spPr>
          <a:xfrm>
            <a:off x="365759" y="2907792"/>
            <a:ext cx="45721" cy="2743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6" name="Text 14"/>
          <p:cNvSpPr txBox="1"/>
          <p:nvPr/>
        </p:nvSpPr>
        <p:spPr>
          <a:xfrm>
            <a:off x="502920" y="2971844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Üründe page_view = 0</a:t>
            </a:r>
          </a:p>
        </p:txBody>
      </p:sp>
      <p:sp>
        <p:nvSpPr>
          <p:cNvPr id="77" name="Text 15"/>
          <p:cNvSpPr txBox="1"/>
          <p:nvPr/>
        </p:nvSpPr>
        <p:spPr>
          <a:xfrm>
            <a:off x="4434840" y="2971844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np.where ile sıfıra bölme engellendi</a:t>
            </a:r>
          </a:p>
        </p:txBody>
      </p:sp>
      <p:sp>
        <p:nvSpPr>
          <p:cNvPr id="78" name="Shape 16"/>
          <p:cNvSpPr/>
          <p:nvPr/>
        </p:nvSpPr>
        <p:spPr>
          <a:xfrm>
            <a:off x="365759" y="3273552"/>
            <a:ext cx="8412481" cy="1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79" name="Shape 17"/>
          <p:cNvSpPr/>
          <p:nvPr/>
        </p:nvSpPr>
        <p:spPr>
          <a:xfrm>
            <a:off x="365759" y="3410711"/>
            <a:ext cx="45721" cy="2743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0" name="Text 18"/>
          <p:cNvSpPr txBox="1"/>
          <p:nvPr/>
        </p:nvSpPr>
        <p:spPr>
          <a:xfrm>
            <a:off x="502920" y="3474764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Müşterinin siparişi yok</a:t>
            </a:r>
          </a:p>
        </p:txBody>
      </p:sp>
      <p:sp>
        <p:nvSpPr>
          <p:cNvPr id="81" name="Text 19"/>
          <p:cNvSpPr txBox="1"/>
          <p:nvPr/>
        </p:nvSpPr>
        <p:spPr>
          <a:xfrm>
            <a:off x="4434840" y="3474764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RFM segmentasyonuna dahil edilmedi (16.268 müşteri segmentlendi)</a:t>
            </a:r>
          </a:p>
        </p:txBody>
      </p:sp>
      <p:sp>
        <p:nvSpPr>
          <p:cNvPr id="82" name="Shape 20"/>
          <p:cNvSpPr/>
          <p:nvPr/>
        </p:nvSpPr>
        <p:spPr>
          <a:xfrm>
            <a:off x="365759" y="3776471"/>
            <a:ext cx="8412481" cy="1"/>
          </a:xfrm>
          <a:prstGeom prst="line">
            <a:avLst/>
          </a:prstGeom>
          <a:ln w="635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3" name="Shape 21"/>
          <p:cNvSpPr/>
          <p:nvPr/>
        </p:nvSpPr>
        <p:spPr>
          <a:xfrm>
            <a:off x="365759" y="3913632"/>
            <a:ext cx="45721" cy="2743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84" name="Text 22"/>
          <p:cNvSpPr txBox="1"/>
          <p:nvPr/>
        </p:nvSpPr>
        <p:spPr>
          <a:xfrm>
            <a:off x="502920" y="3977684"/>
            <a:ext cx="38404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events'te customer_id alanı yok</a:t>
            </a:r>
          </a:p>
        </p:txBody>
      </p:sp>
      <p:sp>
        <p:nvSpPr>
          <p:cNvPr id="85" name="Text 23"/>
          <p:cNvSpPr txBox="1"/>
          <p:nvPr/>
        </p:nvSpPr>
        <p:spPr>
          <a:xfrm>
            <a:off x="4434840" y="3977684"/>
            <a:ext cx="42976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session_id üzerinden sessions tablosuyla join</a:t>
            </a:r>
          </a:p>
        </p:txBody>
      </p:sp>
      <p:sp>
        <p:nvSpPr>
          <p:cNvPr id="86" name="Text 24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87" name="Text 25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4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90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04 · Keşifsel Analiz</a:t>
            </a:r>
          </a:p>
        </p:txBody>
      </p:sp>
      <p:sp>
        <p:nvSpPr>
          <p:cNvPr id="91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2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Dönüşüm Hunisi</a:t>
            </a:r>
          </a:p>
        </p:txBody>
      </p:sp>
      <p:sp>
        <p:nvSpPr>
          <p:cNvPr id="93" name="Text 4"/>
          <p:cNvSpPr txBox="1"/>
          <p:nvPr/>
        </p:nvSpPr>
        <p:spPr>
          <a:xfrm>
            <a:off x="365759" y="144162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En büyük kayıp görüntülemeden sepete eklemeye geçişte. Ödeme başlatan müşterilerin %74.8'i siparişi tamamlıyor.</a:t>
            </a:r>
          </a:p>
        </p:txBody>
      </p:sp>
      <p:sp>
        <p:nvSpPr>
          <p:cNvPr id="94" name="Text 5"/>
          <p:cNvSpPr txBox="1"/>
          <p:nvPr/>
        </p:nvSpPr>
        <p:spPr>
          <a:xfrm>
            <a:off x="365759" y="1920748"/>
            <a:ext cx="2560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1F2937"/>
                </a:solidFill>
              </a:defRPr>
            </a:lvl1pPr>
          </a:lstStyle>
          <a:p>
            <a:pPr/>
            <a:r>
              <a:t>Sayfa Görüntüleme</a:t>
            </a:r>
          </a:p>
        </p:txBody>
      </p:sp>
      <p:sp>
        <p:nvSpPr>
          <p:cNvPr id="95" name="Shape 6"/>
          <p:cNvSpPr/>
          <p:nvPr/>
        </p:nvSpPr>
        <p:spPr>
          <a:xfrm>
            <a:off x="365759" y="2130551"/>
            <a:ext cx="4206242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6" name="Shape 7"/>
          <p:cNvSpPr/>
          <p:nvPr/>
        </p:nvSpPr>
        <p:spPr>
          <a:xfrm>
            <a:off x="365759" y="2130551"/>
            <a:ext cx="4206242" cy="237744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97" name="Text 8"/>
          <p:cNvSpPr txBox="1"/>
          <p:nvPr/>
        </p:nvSpPr>
        <p:spPr>
          <a:xfrm>
            <a:off x="4709159" y="21859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100%   539.343</a:t>
            </a:r>
          </a:p>
        </p:txBody>
      </p:sp>
      <p:sp>
        <p:nvSpPr>
          <p:cNvPr id="98" name="Text 9"/>
          <p:cNvSpPr txBox="1"/>
          <p:nvPr/>
        </p:nvSpPr>
        <p:spPr>
          <a:xfrm>
            <a:off x="365759" y="2633979"/>
            <a:ext cx="2560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1F2937"/>
                </a:solidFill>
              </a:defRPr>
            </a:lvl1pPr>
          </a:lstStyle>
          <a:p>
            <a:pPr/>
            <a:r>
              <a:t>Sepete Ekleme</a:t>
            </a:r>
          </a:p>
        </p:txBody>
      </p:sp>
      <p:sp>
        <p:nvSpPr>
          <p:cNvPr id="99" name="Shape 10"/>
          <p:cNvSpPr/>
          <p:nvPr/>
        </p:nvSpPr>
        <p:spPr>
          <a:xfrm>
            <a:off x="365759" y="2843783"/>
            <a:ext cx="4206242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0" name="Shape 11"/>
          <p:cNvSpPr/>
          <p:nvPr/>
        </p:nvSpPr>
        <p:spPr>
          <a:xfrm>
            <a:off x="365760" y="2843783"/>
            <a:ext cx="1114654" cy="237744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1" name="Text 12"/>
          <p:cNvSpPr txBox="1"/>
          <p:nvPr/>
        </p:nvSpPr>
        <p:spPr>
          <a:xfrm>
            <a:off x="4709159" y="2899155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26.5%   143.126</a:t>
            </a:r>
          </a:p>
        </p:txBody>
      </p:sp>
      <p:sp>
        <p:nvSpPr>
          <p:cNvPr id="102" name="Text 13"/>
          <p:cNvSpPr txBox="1"/>
          <p:nvPr/>
        </p:nvSpPr>
        <p:spPr>
          <a:xfrm>
            <a:off x="365759" y="3347212"/>
            <a:ext cx="2560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1F2937"/>
                </a:solidFill>
              </a:defRPr>
            </a:lvl1pPr>
          </a:lstStyle>
          <a:p>
            <a:pPr/>
            <a:r>
              <a:t>Ödeme Başlatma</a:t>
            </a:r>
          </a:p>
        </p:txBody>
      </p:sp>
      <p:sp>
        <p:nvSpPr>
          <p:cNvPr id="103" name="Shape 14"/>
          <p:cNvSpPr/>
          <p:nvPr/>
        </p:nvSpPr>
        <p:spPr>
          <a:xfrm>
            <a:off x="365759" y="3557015"/>
            <a:ext cx="4206242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4" name="Shape 15"/>
          <p:cNvSpPr/>
          <p:nvPr/>
        </p:nvSpPr>
        <p:spPr>
          <a:xfrm>
            <a:off x="365759" y="3557015"/>
            <a:ext cx="349119" cy="237744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5" name="Text 16"/>
          <p:cNvSpPr txBox="1"/>
          <p:nvPr/>
        </p:nvSpPr>
        <p:spPr>
          <a:xfrm>
            <a:off x="4709159" y="361238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8.3%   44.909</a:t>
            </a:r>
          </a:p>
        </p:txBody>
      </p:sp>
      <p:sp>
        <p:nvSpPr>
          <p:cNvPr id="106" name="Text 17"/>
          <p:cNvSpPr txBox="1"/>
          <p:nvPr/>
        </p:nvSpPr>
        <p:spPr>
          <a:xfrm>
            <a:off x="365759" y="4060443"/>
            <a:ext cx="256032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900">
                <a:solidFill>
                  <a:srgbClr val="1F2937"/>
                </a:solidFill>
              </a:defRPr>
            </a:lvl1pPr>
          </a:lstStyle>
          <a:p>
            <a:pPr/>
            <a:r>
              <a:t>Satın Alma</a:t>
            </a:r>
          </a:p>
        </p:txBody>
      </p:sp>
      <p:sp>
        <p:nvSpPr>
          <p:cNvPr id="107" name="Shape 18"/>
          <p:cNvSpPr/>
          <p:nvPr/>
        </p:nvSpPr>
        <p:spPr>
          <a:xfrm>
            <a:off x="365759" y="4270247"/>
            <a:ext cx="4206242" cy="237744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8" name="Shape 19"/>
          <p:cNvSpPr/>
          <p:nvPr/>
        </p:nvSpPr>
        <p:spPr>
          <a:xfrm>
            <a:off x="365759" y="4270247"/>
            <a:ext cx="262050" cy="237744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09" name="Text 20"/>
          <p:cNvSpPr txBox="1"/>
          <p:nvPr/>
        </p:nvSpPr>
        <p:spPr>
          <a:xfrm>
            <a:off x="4709159" y="4325619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6.23%   33.580</a:t>
            </a:r>
          </a:p>
        </p:txBody>
      </p:sp>
      <p:sp>
        <p:nvSpPr>
          <p:cNvPr id="110" name="Shape 21"/>
          <p:cNvSpPr/>
          <p:nvPr/>
        </p:nvSpPr>
        <p:spPr>
          <a:xfrm>
            <a:off x="6766559" y="1783079"/>
            <a:ext cx="2011680" cy="54864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1" name="Text 22"/>
          <p:cNvSpPr txBox="1"/>
          <p:nvPr/>
        </p:nvSpPr>
        <p:spPr>
          <a:xfrm>
            <a:off x="6903719" y="1854280"/>
            <a:ext cx="18288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C2410C"/>
                </a:solidFill>
              </a:defRPr>
            </a:lvl1pPr>
          </a:lstStyle>
          <a:p>
            <a:pPr/>
            <a:r>
              <a:t>26.5%</a:t>
            </a:r>
          </a:p>
        </p:txBody>
      </p:sp>
      <p:sp>
        <p:nvSpPr>
          <p:cNvPr id="112" name="Text 23"/>
          <p:cNvSpPr txBox="1"/>
          <p:nvPr/>
        </p:nvSpPr>
        <p:spPr>
          <a:xfrm>
            <a:off x="6903719" y="2149348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Sepete ekleme oranı</a:t>
            </a:r>
          </a:p>
        </p:txBody>
      </p:sp>
      <p:sp>
        <p:nvSpPr>
          <p:cNvPr id="113" name="Shape 24"/>
          <p:cNvSpPr/>
          <p:nvPr/>
        </p:nvSpPr>
        <p:spPr>
          <a:xfrm>
            <a:off x="6766559" y="2468879"/>
            <a:ext cx="2011680" cy="54864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4" name="Text 25"/>
          <p:cNvSpPr txBox="1"/>
          <p:nvPr/>
        </p:nvSpPr>
        <p:spPr>
          <a:xfrm>
            <a:off x="6903719" y="2540080"/>
            <a:ext cx="18288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8B5CF6"/>
                </a:solidFill>
              </a:defRPr>
            </a:lvl1pPr>
          </a:lstStyle>
          <a:p>
            <a:pPr/>
            <a:r>
              <a:t>8.3%</a:t>
            </a:r>
          </a:p>
        </p:txBody>
      </p:sp>
      <p:sp>
        <p:nvSpPr>
          <p:cNvPr id="115" name="Text 26"/>
          <p:cNvSpPr txBox="1"/>
          <p:nvPr/>
        </p:nvSpPr>
        <p:spPr>
          <a:xfrm>
            <a:off x="6903719" y="2835148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Ödeme başlatma oranı</a:t>
            </a:r>
          </a:p>
        </p:txBody>
      </p:sp>
      <p:sp>
        <p:nvSpPr>
          <p:cNvPr id="116" name="Shape 27"/>
          <p:cNvSpPr/>
          <p:nvPr/>
        </p:nvSpPr>
        <p:spPr>
          <a:xfrm>
            <a:off x="6766559" y="3154679"/>
            <a:ext cx="2011680" cy="54864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17" name="Text 28"/>
          <p:cNvSpPr txBox="1"/>
          <p:nvPr/>
        </p:nvSpPr>
        <p:spPr>
          <a:xfrm>
            <a:off x="6903719" y="3225880"/>
            <a:ext cx="18288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166534"/>
                </a:solidFill>
              </a:defRPr>
            </a:lvl1pPr>
          </a:lstStyle>
          <a:p>
            <a:pPr/>
            <a:r>
              <a:t>6.23%</a:t>
            </a:r>
          </a:p>
        </p:txBody>
      </p:sp>
      <p:sp>
        <p:nvSpPr>
          <p:cNvPr id="118" name="Text 29"/>
          <p:cNvSpPr txBox="1"/>
          <p:nvPr/>
        </p:nvSpPr>
        <p:spPr>
          <a:xfrm>
            <a:off x="6903719" y="3520948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Genel dönüşüm oranı</a:t>
            </a:r>
          </a:p>
        </p:txBody>
      </p:sp>
      <p:sp>
        <p:nvSpPr>
          <p:cNvPr id="119" name="Shape 30"/>
          <p:cNvSpPr/>
          <p:nvPr/>
        </p:nvSpPr>
        <p:spPr>
          <a:xfrm>
            <a:off x="6766559" y="3840479"/>
            <a:ext cx="2011680" cy="54864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0" name="Text 31"/>
          <p:cNvSpPr txBox="1"/>
          <p:nvPr/>
        </p:nvSpPr>
        <p:spPr>
          <a:xfrm>
            <a:off x="6903719" y="3911680"/>
            <a:ext cx="18288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1E40AF"/>
                </a:solidFill>
              </a:defRPr>
            </a:lvl1pPr>
          </a:lstStyle>
          <a:p>
            <a:pPr/>
            <a:r>
              <a:t>74.8%</a:t>
            </a:r>
          </a:p>
        </p:txBody>
      </p:sp>
      <p:sp>
        <p:nvSpPr>
          <p:cNvPr id="121" name="Text 32"/>
          <p:cNvSpPr txBox="1"/>
          <p:nvPr/>
        </p:nvSpPr>
        <p:spPr>
          <a:xfrm>
            <a:off x="6903719" y="4206748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Ödeme → satın alma</a:t>
            </a:r>
          </a:p>
        </p:txBody>
      </p:sp>
      <p:sp>
        <p:nvSpPr>
          <p:cNvPr id="122" name="Text 33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123" name="Text 34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5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126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05 · Ürün Analitiği</a:t>
            </a:r>
          </a:p>
        </p:txBody>
      </p:sp>
      <p:sp>
        <p:nvSpPr>
          <p:cNvPr id="127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28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Duygu Analizi ve Öneri Skoru</a:t>
            </a:r>
          </a:p>
        </p:txBody>
      </p:sp>
      <p:sp>
        <p:nvSpPr>
          <p:cNvPr id="129" name="Text 4"/>
          <p:cNvSpPr txBox="1"/>
          <p:nvPr/>
        </p:nvSpPr>
        <p:spPr>
          <a:xfrm>
            <a:off x="365759" y="141876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Yorumlar VADER + rating hibrit yöntemiyle etiketlendi. Ürünler ağırlıklı formülle skorlandı.</a:t>
            </a:r>
          </a:p>
        </p:txBody>
      </p:sp>
      <p:sp>
        <p:nvSpPr>
          <p:cNvPr id="130" name="Text 5"/>
          <p:cNvSpPr txBox="1"/>
          <p:nvPr/>
        </p:nvSpPr>
        <p:spPr>
          <a:xfrm>
            <a:off x="365759" y="1853106"/>
            <a:ext cx="402336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F2937"/>
                </a:solidFill>
              </a:defRPr>
            </a:lvl1pPr>
          </a:lstStyle>
          <a:p>
            <a:pPr/>
            <a:r>
              <a:t>Duygu Dağılımı (10.780 yorum)</a:t>
            </a:r>
          </a:p>
        </p:txBody>
      </p:sp>
      <p:sp>
        <p:nvSpPr>
          <p:cNvPr id="131" name="Text 6"/>
          <p:cNvSpPr txBox="1"/>
          <p:nvPr/>
        </p:nvSpPr>
        <p:spPr>
          <a:xfrm>
            <a:off x="365759" y="2180888"/>
            <a:ext cx="9144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Pozitif</a:t>
            </a:r>
          </a:p>
        </p:txBody>
      </p:sp>
      <p:sp>
        <p:nvSpPr>
          <p:cNvPr id="132" name="Text 7"/>
          <p:cNvSpPr txBox="1"/>
          <p:nvPr/>
        </p:nvSpPr>
        <p:spPr>
          <a:xfrm>
            <a:off x="1280160" y="2180888"/>
            <a:ext cx="9144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7.620</a:t>
            </a:r>
          </a:p>
        </p:txBody>
      </p:sp>
      <p:sp>
        <p:nvSpPr>
          <p:cNvPr id="133" name="Text 8"/>
          <p:cNvSpPr txBox="1"/>
          <p:nvPr/>
        </p:nvSpPr>
        <p:spPr>
          <a:xfrm>
            <a:off x="3566159" y="2180888"/>
            <a:ext cx="6400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6B7280"/>
                </a:solidFill>
              </a:defRPr>
            </a:lvl1pPr>
          </a:lstStyle>
          <a:p>
            <a:pPr/>
            <a:r>
              <a:t>%70.7</a:t>
            </a:r>
          </a:p>
        </p:txBody>
      </p:sp>
      <p:sp>
        <p:nvSpPr>
          <p:cNvPr id="134" name="Shape 9"/>
          <p:cNvSpPr/>
          <p:nvPr/>
        </p:nvSpPr>
        <p:spPr>
          <a:xfrm>
            <a:off x="365760" y="2386583"/>
            <a:ext cx="3840480" cy="1097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5" name="Shape 10"/>
          <p:cNvSpPr/>
          <p:nvPr/>
        </p:nvSpPr>
        <p:spPr>
          <a:xfrm>
            <a:off x="365760" y="2386583"/>
            <a:ext cx="2715219" cy="109729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36" name="Text 11"/>
          <p:cNvSpPr txBox="1"/>
          <p:nvPr/>
        </p:nvSpPr>
        <p:spPr>
          <a:xfrm>
            <a:off x="365759" y="2729528"/>
            <a:ext cx="9144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Nötr</a:t>
            </a:r>
          </a:p>
        </p:txBody>
      </p:sp>
      <p:sp>
        <p:nvSpPr>
          <p:cNvPr id="137" name="Text 12"/>
          <p:cNvSpPr txBox="1"/>
          <p:nvPr/>
        </p:nvSpPr>
        <p:spPr>
          <a:xfrm>
            <a:off x="1280160" y="2729528"/>
            <a:ext cx="9144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1.980</a:t>
            </a:r>
          </a:p>
        </p:txBody>
      </p:sp>
      <p:sp>
        <p:nvSpPr>
          <p:cNvPr id="138" name="Text 13"/>
          <p:cNvSpPr txBox="1"/>
          <p:nvPr/>
        </p:nvSpPr>
        <p:spPr>
          <a:xfrm>
            <a:off x="3566159" y="2729528"/>
            <a:ext cx="6400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6B7280"/>
                </a:solidFill>
              </a:defRPr>
            </a:lvl1pPr>
          </a:lstStyle>
          <a:p>
            <a:pPr/>
            <a:r>
              <a:t>%18.4</a:t>
            </a:r>
          </a:p>
        </p:txBody>
      </p:sp>
      <p:sp>
        <p:nvSpPr>
          <p:cNvPr id="139" name="Shape 14"/>
          <p:cNvSpPr/>
          <p:nvPr/>
        </p:nvSpPr>
        <p:spPr>
          <a:xfrm>
            <a:off x="365760" y="2935223"/>
            <a:ext cx="3840480" cy="1097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0" name="Shape 15"/>
          <p:cNvSpPr/>
          <p:nvPr/>
        </p:nvSpPr>
        <p:spPr>
          <a:xfrm>
            <a:off x="365759" y="2935223"/>
            <a:ext cx="706649" cy="109729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1" name="Text 16"/>
          <p:cNvSpPr txBox="1"/>
          <p:nvPr/>
        </p:nvSpPr>
        <p:spPr>
          <a:xfrm>
            <a:off x="365759" y="3278168"/>
            <a:ext cx="9144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Negatif</a:t>
            </a:r>
          </a:p>
        </p:txBody>
      </p:sp>
      <p:sp>
        <p:nvSpPr>
          <p:cNvPr id="142" name="Text 17"/>
          <p:cNvSpPr txBox="1"/>
          <p:nvPr/>
        </p:nvSpPr>
        <p:spPr>
          <a:xfrm>
            <a:off x="1280160" y="3278168"/>
            <a:ext cx="9144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1.180</a:t>
            </a:r>
          </a:p>
        </p:txBody>
      </p:sp>
      <p:sp>
        <p:nvSpPr>
          <p:cNvPr id="143" name="Text 18"/>
          <p:cNvSpPr txBox="1"/>
          <p:nvPr/>
        </p:nvSpPr>
        <p:spPr>
          <a:xfrm>
            <a:off x="3566159" y="3278168"/>
            <a:ext cx="64008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6B7280"/>
                </a:solidFill>
              </a:defRPr>
            </a:lvl1pPr>
          </a:lstStyle>
          <a:p>
            <a:pPr/>
            <a:r>
              <a:t>%10.9</a:t>
            </a:r>
          </a:p>
        </p:txBody>
      </p:sp>
      <p:sp>
        <p:nvSpPr>
          <p:cNvPr id="144" name="Shape 19"/>
          <p:cNvSpPr/>
          <p:nvPr/>
        </p:nvSpPr>
        <p:spPr>
          <a:xfrm>
            <a:off x="365760" y="3483864"/>
            <a:ext cx="3840480" cy="109729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5" name="Shape 20"/>
          <p:cNvSpPr/>
          <p:nvPr/>
        </p:nvSpPr>
        <p:spPr>
          <a:xfrm>
            <a:off x="365759" y="3483864"/>
            <a:ext cx="418613" cy="109729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46" name="Text 21"/>
          <p:cNvSpPr txBox="1"/>
          <p:nvPr/>
        </p:nvSpPr>
        <p:spPr>
          <a:xfrm>
            <a:off x="365759" y="4023359"/>
            <a:ext cx="4114801" cy="2315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800">
                <a:solidFill>
                  <a:srgbClr val="6B7280"/>
                </a:solidFill>
              </a:defRPr>
            </a:lvl1pPr>
          </a:lstStyle>
          <a:p>
            <a:pPr/>
            <a:r>
              <a:t>Karar kuralı: compound &gt; 0.3 ve rating ≥ 4 → pozitif | compound &lt; -0.1 veya rating ≤ 2 → negatif | diğeri → nötr</a:t>
            </a:r>
          </a:p>
        </p:txBody>
      </p:sp>
      <p:sp>
        <p:nvSpPr>
          <p:cNvPr id="147" name="Text 22"/>
          <p:cNvSpPr txBox="1"/>
          <p:nvPr/>
        </p:nvSpPr>
        <p:spPr>
          <a:xfrm>
            <a:off x="4663440" y="1853106"/>
            <a:ext cx="4114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F2937"/>
                </a:solidFill>
              </a:defRPr>
            </a:lvl1pPr>
          </a:lstStyle>
          <a:p>
            <a:pPr/>
            <a:r>
              <a:t>Öneri Skoru — Ağırlıklı Formül</a:t>
            </a:r>
          </a:p>
        </p:txBody>
      </p:sp>
      <p:sp>
        <p:nvSpPr>
          <p:cNvPr id="148" name="Text 23"/>
          <p:cNvSpPr txBox="1"/>
          <p:nvPr/>
        </p:nvSpPr>
        <p:spPr>
          <a:xfrm>
            <a:off x="4663440" y="2195067"/>
            <a:ext cx="21945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Satış oranı</a:t>
            </a:r>
          </a:p>
        </p:txBody>
      </p:sp>
      <p:sp>
        <p:nvSpPr>
          <p:cNvPr id="149" name="Shape 24"/>
          <p:cNvSpPr/>
          <p:nvPr/>
        </p:nvSpPr>
        <p:spPr>
          <a:xfrm>
            <a:off x="6857999" y="2203704"/>
            <a:ext cx="146304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0" name="Shape 25"/>
          <p:cNvSpPr/>
          <p:nvPr/>
        </p:nvSpPr>
        <p:spPr>
          <a:xfrm>
            <a:off x="6857999" y="2203704"/>
            <a:ext cx="1463042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1" name="Text 26"/>
          <p:cNvSpPr txBox="1"/>
          <p:nvPr/>
        </p:nvSpPr>
        <p:spPr>
          <a:xfrm>
            <a:off x="8366759" y="2195067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%28</a:t>
            </a:r>
          </a:p>
        </p:txBody>
      </p:sp>
      <p:sp>
        <p:nvSpPr>
          <p:cNvPr id="152" name="Text 27"/>
          <p:cNvSpPr txBox="1"/>
          <p:nvPr/>
        </p:nvSpPr>
        <p:spPr>
          <a:xfrm>
            <a:off x="4663440" y="2487676"/>
            <a:ext cx="21945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Ortalama rating</a:t>
            </a:r>
          </a:p>
        </p:txBody>
      </p:sp>
      <p:sp>
        <p:nvSpPr>
          <p:cNvPr id="153" name="Shape 28"/>
          <p:cNvSpPr/>
          <p:nvPr/>
        </p:nvSpPr>
        <p:spPr>
          <a:xfrm>
            <a:off x="6857999" y="2496311"/>
            <a:ext cx="146304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4" name="Shape 29"/>
          <p:cNvSpPr/>
          <p:nvPr/>
        </p:nvSpPr>
        <p:spPr>
          <a:xfrm>
            <a:off x="6857999" y="2496311"/>
            <a:ext cx="1045031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5" name="Text 30"/>
          <p:cNvSpPr txBox="1"/>
          <p:nvPr/>
        </p:nvSpPr>
        <p:spPr>
          <a:xfrm>
            <a:off x="8366759" y="2487676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%20</a:t>
            </a:r>
          </a:p>
        </p:txBody>
      </p:sp>
      <p:sp>
        <p:nvSpPr>
          <p:cNvPr id="156" name="Text 31"/>
          <p:cNvSpPr txBox="1"/>
          <p:nvPr/>
        </p:nvSpPr>
        <p:spPr>
          <a:xfrm>
            <a:off x="4663440" y="2780283"/>
            <a:ext cx="21945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Sepete ekleme oranı</a:t>
            </a:r>
          </a:p>
        </p:txBody>
      </p:sp>
      <p:sp>
        <p:nvSpPr>
          <p:cNvPr id="157" name="Shape 32"/>
          <p:cNvSpPr/>
          <p:nvPr/>
        </p:nvSpPr>
        <p:spPr>
          <a:xfrm>
            <a:off x="6857999" y="2788920"/>
            <a:ext cx="146304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8" name="Shape 33"/>
          <p:cNvSpPr/>
          <p:nvPr/>
        </p:nvSpPr>
        <p:spPr>
          <a:xfrm>
            <a:off x="6857999" y="2788920"/>
            <a:ext cx="940528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59" name="Text 34"/>
          <p:cNvSpPr txBox="1"/>
          <p:nvPr/>
        </p:nvSpPr>
        <p:spPr>
          <a:xfrm>
            <a:off x="8366759" y="2780283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%18</a:t>
            </a:r>
          </a:p>
        </p:txBody>
      </p:sp>
      <p:sp>
        <p:nvSpPr>
          <p:cNvPr id="160" name="Text 35"/>
          <p:cNvSpPr txBox="1"/>
          <p:nvPr/>
        </p:nvSpPr>
        <p:spPr>
          <a:xfrm>
            <a:off x="4663440" y="3072892"/>
            <a:ext cx="21945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Pozitif yorum oranı</a:t>
            </a:r>
          </a:p>
        </p:txBody>
      </p:sp>
      <p:sp>
        <p:nvSpPr>
          <p:cNvPr id="161" name="Shape 36"/>
          <p:cNvSpPr/>
          <p:nvPr/>
        </p:nvSpPr>
        <p:spPr>
          <a:xfrm>
            <a:off x="6857999" y="3081527"/>
            <a:ext cx="146304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2" name="Shape 37"/>
          <p:cNvSpPr/>
          <p:nvPr/>
        </p:nvSpPr>
        <p:spPr>
          <a:xfrm>
            <a:off x="6857999" y="3081527"/>
            <a:ext cx="940528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3" name="Text 38"/>
          <p:cNvSpPr txBox="1"/>
          <p:nvPr/>
        </p:nvSpPr>
        <p:spPr>
          <a:xfrm>
            <a:off x="8366759" y="3072892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%18</a:t>
            </a:r>
          </a:p>
        </p:txBody>
      </p:sp>
      <p:sp>
        <p:nvSpPr>
          <p:cNvPr id="164" name="Text 39"/>
          <p:cNvSpPr txBox="1"/>
          <p:nvPr/>
        </p:nvSpPr>
        <p:spPr>
          <a:xfrm>
            <a:off x="4663440" y="3365499"/>
            <a:ext cx="21945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Gelir</a:t>
            </a:r>
          </a:p>
        </p:txBody>
      </p:sp>
      <p:sp>
        <p:nvSpPr>
          <p:cNvPr id="165" name="Shape 40"/>
          <p:cNvSpPr/>
          <p:nvPr/>
        </p:nvSpPr>
        <p:spPr>
          <a:xfrm>
            <a:off x="6857999" y="3374135"/>
            <a:ext cx="146304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6" name="Shape 41"/>
          <p:cNvSpPr/>
          <p:nvPr/>
        </p:nvSpPr>
        <p:spPr>
          <a:xfrm>
            <a:off x="6858000" y="3374135"/>
            <a:ext cx="418011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67" name="Text 42"/>
          <p:cNvSpPr txBox="1"/>
          <p:nvPr/>
        </p:nvSpPr>
        <p:spPr>
          <a:xfrm>
            <a:off x="8366759" y="3365499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%8</a:t>
            </a:r>
          </a:p>
        </p:txBody>
      </p:sp>
      <p:sp>
        <p:nvSpPr>
          <p:cNvPr id="168" name="Text 43"/>
          <p:cNvSpPr txBox="1"/>
          <p:nvPr/>
        </p:nvSpPr>
        <p:spPr>
          <a:xfrm>
            <a:off x="4663440" y="3658107"/>
            <a:ext cx="21945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Marj</a:t>
            </a:r>
          </a:p>
        </p:txBody>
      </p:sp>
      <p:sp>
        <p:nvSpPr>
          <p:cNvPr id="169" name="Shape 44"/>
          <p:cNvSpPr/>
          <p:nvPr/>
        </p:nvSpPr>
        <p:spPr>
          <a:xfrm>
            <a:off x="6857999" y="3666744"/>
            <a:ext cx="1463042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0" name="Shape 45"/>
          <p:cNvSpPr/>
          <p:nvPr/>
        </p:nvSpPr>
        <p:spPr>
          <a:xfrm>
            <a:off x="6858000" y="3666744"/>
            <a:ext cx="418011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1" name="Text 46"/>
          <p:cNvSpPr txBox="1"/>
          <p:nvPr/>
        </p:nvSpPr>
        <p:spPr>
          <a:xfrm>
            <a:off x="8366759" y="3658107"/>
            <a:ext cx="4114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%8</a:t>
            </a:r>
          </a:p>
        </p:txBody>
      </p:sp>
      <p:sp>
        <p:nvSpPr>
          <p:cNvPr id="172" name="Text 47"/>
          <p:cNvSpPr txBox="1"/>
          <p:nvPr/>
        </p:nvSpPr>
        <p:spPr>
          <a:xfrm>
            <a:off x="4663440" y="4023359"/>
            <a:ext cx="4114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800">
                <a:solidFill>
                  <a:srgbClr val="6B7280"/>
                </a:solidFill>
              </a:defRPr>
            </a:lvl1pPr>
          </a:lstStyle>
          <a:p>
            <a:pPr/>
            <a:r>
              <a:t>Eşik: skorun üst %30 dilimi → onerilir = 1 (359 ürün, ort. skor 0.569)</a:t>
            </a:r>
          </a:p>
        </p:txBody>
      </p:sp>
      <p:sp>
        <p:nvSpPr>
          <p:cNvPr id="173" name="Text 48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174" name="Text 49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177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06 · Müşteri</a:t>
            </a:r>
          </a:p>
        </p:txBody>
      </p:sp>
      <p:sp>
        <p:nvSpPr>
          <p:cNvPr id="178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79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RFM Müşteri Segmentasyonu</a:t>
            </a:r>
          </a:p>
        </p:txBody>
      </p:sp>
      <p:sp>
        <p:nvSpPr>
          <p:cNvPr id="180" name="Text 4"/>
          <p:cNvSpPr txBox="1"/>
          <p:nvPr/>
        </p:nvSpPr>
        <p:spPr>
          <a:xfrm>
            <a:off x="365759" y="1325880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Recency, Frequency ve Monetary skorlarına dayalı iş kuralı tabanlı segmentleme (kümeleme değil). Sipariş geçmişi olan 16.268 müşteri segmentlendi.</a:t>
            </a:r>
          </a:p>
        </p:txBody>
      </p:sp>
      <p:sp>
        <p:nvSpPr>
          <p:cNvPr id="181" name="Shape 5"/>
          <p:cNvSpPr/>
          <p:nvPr/>
        </p:nvSpPr>
        <p:spPr>
          <a:xfrm>
            <a:off x="365760" y="1920239"/>
            <a:ext cx="2688336" cy="118872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2" name="Shape 6"/>
          <p:cNvSpPr/>
          <p:nvPr/>
        </p:nvSpPr>
        <p:spPr>
          <a:xfrm>
            <a:off x="365759" y="1920239"/>
            <a:ext cx="64009" cy="1188721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3" name="Text 7"/>
          <p:cNvSpPr txBox="1"/>
          <p:nvPr/>
        </p:nvSpPr>
        <p:spPr>
          <a:xfrm>
            <a:off x="548639" y="2088695"/>
            <a:ext cx="173736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Şampiyon</a:t>
            </a:r>
          </a:p>
        </p:txBody>
      </p:sp>
      <p:sp>
        <p:nvSpPr>
          <p:cNvPr id="184" name="Text 8"/>
          <p:cNvSpPr txBox="1"/>
          <p:nvPr/>
        </p:nvSpPr>
        <p:spPr>
          <a:xfrm>
            <a:off x="548639" y="2323083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R≥4 ve F≥4</a:t>
            </a:r>
          </a:p>
        </p:txBody>
      </p:sp>
      <p:sp>
        <p:nvSpPr>
          <p:cNvPr id="185" name="Text 9"/>
          <p:cNvSpPr txBox="1"/>
          <p:nvPr/>
        </p:nvSpPr>
        <p:spPr>
          <a:xfrm>
            <a:off x="2148839" y="2139145"/>
            <a:ext cx="82296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900">
                <a:solidFill>
                  <a:srgbClr val="166534"/>
                </a:solidFill>
              </a:defRPr>
            </a:lvl1pPr>
          </a:lstStyle>
          <a:p>
            <a:pPr/>
            <a:r>
              <a:t>2.923</a:t>
            </a:r>
          </a:p>
        </p:txBody>
      </p:sp>
      <p:sp>
        <p:nvSpPr>
          <p:cNvPr id="186" name="Text 10"/>
          <p:cNvSpPr txBox="1"/>
          <p:nvPr/>
        </p:nvSpPr>
        <p:spPr>
          <a:xfrm>
            <a:off x="548640" y="2560320"/>
            <a:ext cx="237744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Yakın tarihte sık alışveriş</a:t>
            </a:r>
          </a:p>
        </p:txBody>
      </p:sp>
      <p:sp>
        <p:nvSpPr>
          <p:cNvPr id="187" name="Shape 11"/>
          <p:cNvSpPr/>
          <p:nvPr/>
        </p:nvSpPr>
        <p:spPr>
          <a:xfrm>
            <a:off x="3227832" y="1920239"/>
            <a:ext cx="2688336" cy="118872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8" name="Shape 12"/>
          <p:cNvSpPr/>
          <p:nvPr/>
        </p:nvSpPr>
        <p:spPr>
          <a:xfrm>
            <a:off x="3227832" y="1920239"/>
            <a:ext cx="64009" cy="1188721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89" name="Text 13"/>
          <p:cNvSpPr txBox="1"/>
          <p:nvPr/>
        </p:nvSpPr>
        <p:spPr>
          <a:xfrm>
            <a:off x="3410711" y="2088695"/>
            <a:ext cx="173736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Sadık</a:t>
            </a:r>
          </a:p>
        </p:txBody>
      </p:sp>
      <p:sp>
        <p:nvSpPr>
          <p:cNvPr id="190" name="Text 14"/>
          <p:cNvSpPr txBox="1"/>
          <p:nvPr/>
        </p:nvSpPr>
        <p:spPr>
          <a:xfrm>
            <a:off x="3410711" y="2323083"/>
            <a:ext cx="1737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R≥3 ve F≥3</a:t>
            </a:r>
          </a:p>
        </p:txBody>
      </p:sp>
      <p:sp>
        <p:nvSpPr>
          <p:cNvPr id="191" name="Text 15"/>
          <p:cNvSpPr txBox="1"/>
          <p:nvPr/>
        </p:nvSpPr>
        <p:spPr>
          <a:xfrm>
            <a:off x="5010911" y="2139145"/>
            <a:ext cx="82296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900">
                <a:solidFill>
                  <a:srgbClr val="1E40AF"/>
                </a:solidFill>
              </a:defRPr>
            </a:lvl1pPr>
          </a:lstStyle>
          <a:p>
            <a:pPr/>
            <a:r>
              <a:t>4.388</a:t>
            </a:r>
          </a:p>
        </p:txBody>
      </p:sp>
      <p:sp>
        <p:nvSpPr>
          <p:cNvPr id="192" name="Text 16"/>
          <p:cNvSpPr txBox="1"/>
          <p:nvPr/>
        </p:nvSpPr>
        <p:spPr>
          <a:xfrm>
            <a:off x="3410711" y="2560320"/>
            <a:ext cx="23774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Düzenli, tutarlı müşteri</a:t>
            </a:r>
          </a:p>
        </p:txBody>
      </p:sp>
      <p:sp>
        <p:nvSpPr>
          <p:cNvPr id="193" name="Shape 17"/>
          <p:cNvSpPr/>
          <p:nvPr/>
        </p:nvSpPr>
        <p:spPr>
          <a:xfrm>
            <a:off x="6089904" y="1920239"/>
            <a:ext cx="2688336" cy="118872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4" name="Shape 18"/>
          <p:cNvSpPr/>
          <p:nvPr/>
        </p:nvSpPr>
        <p:spPr>
          <a:xfrm>
            <a:off x="6089903" y="1920239"/>
            <a:ext cx="64009" cy="1188721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195" name="Text 19"/>
          <p:cNvSpPr txBox="1"/>
          <p:nvPr/>
        </p:nvSpPr>
        <p:spPr>
          <a:xfrm>
            <a:off x="6272784" y="2088695"/>
            <a:ext cx="173736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Yeni</a:t>
            </a:r>
          </a:p>
        </p:txBody>
      </p:sp>
      <p:sp>
        <p:nvSpPr>
          <p:cNvPr id="196" name="Text 20"/>
          <p:cNvSpPr txBox="1"/>
          <p:nvPr/>
        </p:nvSpPr>
        <p:spPr>
          <a:xfrm>
            <a:off x="6272784" y="2323083"/>
            <a:ext cx="1737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R≥4 ve F≤2</a:t>
            </a:r>
          </a:p>
        </p:txBody>
      </p:sp>
      <p:sp>
        <p:nvSpPr>
          <p:cNvPr id="197" name="Text 21"/>
          <p:cNvSpPr txBox="1"/>
          <p:nvPr/>
        </p:nvSpPr>
        <p:spPr>
          <a:xfrm>
            <a:off x="7872983" y="2139145"/>
            <a:ext cx="82296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900">
                <a:solidFill>
                  <a:srgbClr val="0E7490"/>
                </a:solidFill>
              </a:defRPr>
            </a:lvl1pPr>
          </a:lstStyle>
          <a:p>
            <a:pPr/>
            <a:r>
              <a:t>1.442</a:t>
            </a:r>
          </a:p>
        </p:txBody>
      </p:sp>
      <p:sp>
        <p:nvSpPr>
          <p:cNvPr id="198" name="Text 22"/>
          <p:cNvSpPr txBox="1"/>
          <p:nvPr/>
        </p:nvSpPr>
        <p:spPr>
          <a:xfrm>
            <a:off x="6272784" y="2560320"/>
            <a:ext cx="237744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Yeni başladı, potansiyeli yüksek</a:t>
            </a:r>
          </a:p>
        </p:txBody>
      </p:sp>
      <p:sp>
        <p:nvSpPr>
          <p:cNvPr id="199" name="Shape 23"/>
          <p:cNvSpPr/>
          <p:nvPr/>
        </p:nvSpPr>
        <p:spPr>
          <a:xfrm>
            <a:off x="365760" y="3246120"/>
            <a:ext cx="2688336" cy="118872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0" name="Shape 24"/>
          <p:cNvSpPr/>
          <p:nvPr/>
        </p:nvSpPr>
        <p:spPr>
          <a:xfrm>
            <a:off x="365759" y="3246120"/>
            <a:ext cx="64009" cy="1188721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1" name="Text 25"/>
          <p:cNvSpPr txBox="1"/>
          <p:nvPr/>
        </p:nvSpPr>
        <p:spPr>
          <a:xfrm>
            <a:off x="548639" y="3414575"/>
            <a:ext cx="1737362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Potansiyel</a:t>
            </a:r>
          </a:p>
        </p:txBody>
      </p:sp>
      <p:sp>
        <p:nvSpPr>
          <p:cNvPr id="202" name="Text 26"/>
          <p:cNvSpPr txBox="1"/>
          <p:nvPr/>
        </p:nvSpPr>
        <p:spPr>
          <a:xfrm>
            <a:off x="548639" y="3648963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Orta R/F</a:t>
            </a:r>
          </a:p>
        </p:txBody>
      </p:sp>
      <p:sp>
        <p:nvSpPr>
          <p:cNvPr id="203" name="Text 27"/>
          <p:cNvSpPr txBox="1"/>
          <p:nvPr/>
        </p:nvSpPr>
        <p:spPr>
          <a:xfrm>
            <a:off x="2148839" y="3465025"/>
            <a:ext cx="82296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900">
                <a:solidFill>
                  <a:srgbClr val="7C3AED"/>
                </a:solidFill>
              </a:defRPr>
            </a:lvl1pPr>
          </a:lstStyle>
          <a:p>
            <a:pPr/>
            <a:r>
              <a:t>1.014</a:t>
            </a:r>
          </a:p>
        </p:txBody>
      </p:sp>
      <p:sp>
        <p:nvSpPr>
          <p:cNvPr id="204" name="Text 28"/>
          <p:cNvSpPr txBox="1"/>
          <p:nvPr/>
        </p:nvSpPr>
        <p:spPr>
          <a:xfrm>
            <a:off x="548640" y="3886200"/>
            <a:ext cx="2377440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Geliştirilebilir segment</a:t>
            </a:r>
          </a:p>
        </p:txBody>
      </p:sp>
      <p:sp>
        <p:nvSpPr>
          <p:cNvPr id="205" name="Shape 29"/>
          <p:cNvSpPr/>
          <p:nvPr/>
        </p:nvSpPr>
        <p:spPr>
          <a:xfrm>
            <a:off x="3227832" y="3246120"/>
            <a:ext cx="2688336" cy="118872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6" name="Shape 30"/>
          <p:cNvSpPr/>
          <p:nvPr/>
        </p:nvSpPr>
        <p:spPr>
          <a:xfrm>
            <a:off x="3227832" y="3246120"/>
            <a:ext cx="64009" cy="11887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07" name="Text 31"/>
          <p:cNvSpPr txBox="1"/>
          <p:nvPr/>
        </p:nvSpPr>
        <p:spPr>
          <a:xfrm>
            <a:off x="3410711" y="3414575"/>
            <a:ext cx="173736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Risk Altında</a:t>
            </a:r>
          </a:p>
        </p:txBody>
      </p:sp>
      <p:sp>
        <p:nvSpPr>
          <p:cNvPr id="208" name="Text 32"/>
          <p:cNvSpPr txBox="1"/>
          <p:nvPr/>
        </p:nvSpPr>
        <p:spPr>
          <a:xfrm>
            <a:off x="3410711" y="3648963"/>
            <a:ext cx="1737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R≤2 ve F≥3</a:t>
            </a:r>
          </a:p>
        </p:txBody>
      </p:sp>
      <p:sp>
        <p:nvSpPr>
          <p:cNvPr id="209" name="Text 33"/>
          <p:cNvSpPr txBox="1"/>
          <p:nvPr/>
        </p:nvSpPr>
        <p:spPr>
          <a:xfrm>
            <a:off x="5010911" y="3465025"/>
            <a:ext cx="82296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900">
                <a:solidFill>
                  <a:srgbClr val="C2410C"/>
                </a:solidFill>
              </a:defRPr>
            </a:lvl1pPr>
          </a:lstStyle>
          <a:p>
            <a:pPr/>
            <a:r>
              <a:t>2.734</a:t>
            </a:r>
          </a:p>
        </p:txBody>
      </p:sp>
      <p:sp>
        <p:nvSpPr>
          <p:cNvPr id="210" name="Text 34"/>
          <p:cNvSpPr txBox="1"/>
          <p:nvPr/>
        </p:nvSpPr>
        <p:spPr>
          <a:xfrm>
            <a:off x="3410711" y="3886200"/>
            <a:ext cx="2377441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Eski aktifler, geri kazanılabilir</a:t>
            </a:r>
          </a:p>
        </p:txBody>
      </p:sp>
      <p:sp>
        <p:nvSpPr>
          <p:cNvPr id="211" name="Shape 35"/>
          <p:cNvSpPr/>
          <p:nvPr/>
        </p:nvSpPr>
        <p:spPr>
          <a:xfrm>
            <a:off x="6089904" y="3246120"/>
            <a:ext cx="2688336" cy="118872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2" name="Shape 36"/>
          <p:cNvSpPr/>
          <p:nvPr/>
        </p:nvSpPr>
        <p:spPr>
          <a:xfrm>
            <a:off x="6089903" y="3246120"/>
            <a:ext cx="64009" cy="1188721"/>
          </a:xfrm>
          <a:prstGeom prst="rect">
            <a:avLst/>
          </a:prstGeom>
          <a:solidFill>
            <a:srgbClr val="991B1B"/>
          </a:solidFill>
          <a:ln w="12700">
            <a:solidFill>
              <a:srgbClr val="991B1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13" name="Text 37"/>
          <p:cNvSpPr txBox="1"/>
          <p:nvPr/>
        </p:nvSpPr>
        <p:spPr>
          <a:xfrm>
            <a:off x="6272784" y="3414575"/>
            <a:ext cx="173736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Kayıp</a:t>
            </a:r>
          </a:p>
        </p:txBody>
      </p:sp>
      <p:sp>
        <p:nvSpPr>
          <p:cNvPr id="214" name="Text 38"/>
          <p:cNvSpPr txBox="1"/>
          <p:nvPr/>
        </p:nvSpPr>
        <p:spPr>
          <a:xfrm>
            <a:off x="6272784" y="3648963"/>
            <a:ext cx="173736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R≤2 ve F≤2</a:t>
            </a:r>
          </a:p>
        </p:txBody>
      </p:sp>
      <p:sp>
        <p:nvSpPr>
          <p:cNvPr id="215" name="Text 39"/>
          <p:cNvSpPr txBox="1"/>
          <p:nvPr/>
        </p:nvSpPr>
        <p:spPr>
          <a:xfrm>
            <a:off x="7872983" y="3465025"/>
            <a:ext cx="822961" cy="23884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b="1" sz="1900">
                <a:solidFill>
                  <a:srgbClr val="991B1B"/>
                </a:solidFill>
              </a:defRPr>
            </a:lvl1pPr>
          </a:lstStyle>
          <a:p>
            <a:pPr/>
            <a:r>
              <a:t>3.767</a:t>
            </a:r>
          </a:p>
        </p:txBody>
      </p:sp>
      <p:sp>
        <p:nvSpPr>
          <p:cNvPr id="216" name="Text 40"/>
          <p:cNvSpPr txBox="1"/>
          <p:nvPr/>
        </p:nvSpPr>
        <p:spPr>
          <a:xfrm>
            <a:off x="6272784" y="3886200"/>
            <a:ext cx="2377441" cy="127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Uzun süredir alışveriş yok</a:t>
            </a:r>
          </a:p>
        </p:txBody>
      </p:sp>
      <p:sp>
        <p:nvSpPr>
          <p:cNvPr id="217" name="Text 41"/>
          <p:cNvSpPr txBox="1"/>
          <p:nvPr/>
        </p:nvSpPr>
        <p:spPr>
          <a:xfrm>
            <a:off x="365759" y="4645660"/>
            <a:ext cx="84124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Toplam müşteri 20.000  ·  Sipariş vermeyen 3.732 müşteri RFM dışında bırakıldı.</a:t>
            </a:r>
          </a:p>
        </p:txBody>
      </p:sp>
      <p:sp>
        <p:nvSpPr>
          <p:cNvPr id="218" name="Text 42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219" name="Text 43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7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222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07 · Modelleme</a:t>
            </a:r>
          </a:p>
        </p:txBody>
      </p:sp>
      <p:sp>
        <p:nvSpPr>
          <p:cNvPr id="223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4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Genel Ürün Modeli</a:t>
            </a:r>
          </a:p>
        </p:txBody>
      </p:sp>
      <p:sp>
        <p:nvSpPr>
          <p:cNvPr id="225" name="Text 4"/>
          <p:cNvSpPr txBox="1"/>
          <p:nvPr/>
        </p:nvSpPr>
        <p:spPr>
          <a:xfrm>
            <a:off x="365759" y="144162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Soru: Bu ürün genel olarak önerilmeli mi?  ·  Algoritma: Random Forest Classifier  ·  Eğitim/test: %75 / %25, stratify</a:t>
            </a:r>
          </a:p>
        </p:txBody>
      </p:sp>
      <p:sp>
        <p:nvSpPr>
          <p:cNvPr id="226" name="Shape 5"/>
          <p:cNvSpPr/>
          <p:nvPr/>
        </p:nvSpPr>
        <p:spPr>
          <a:xfrm>
            <a:off x="365760" y="1828800"/>
            <a:ext cx="2011679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7" name="Shape 6"/>
          <p:cNvSpPr/>
          <p:nvPr/>
        </p:nvSpPr>
        <p:spPr>
          <a:xfrm>
            <a:off x="365759" y="1828799"/>
            <a:ext cx="164593" cy="3657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28" name="Text 7"/>
          <p:cNvSpPr txBox="1"/>
          <p:nvPr/>
        </p:nvSpPr>
        <p:spPr>
          <a:xfrm>
            <a:off x="457200" y="1997300"/>
            <a:ext cx="1828800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84.7%</a:t>
            </a:r>
          </a:p>
        </p:txBody>
      </p:sp>
      <p:sp>
        <p:nvSpPr>
          <p:cNvPr id="229" name="Text 8"/>
          <p:cNvSpPr txBox="1"/>
          <p:nvPr/>
        </p:nvSpPr>
        <p:spPr>
          <a:xfrm>
            <a:off x="457200" y="2414523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Doğruluk</a:t>
            </a:r>
          </a:p>
        </p:txBody>
      </p:sp>
      <p:sp>
        <p:nvSpPr>
          <p:cNvPr id="230" name="Text 9"/>
          <p:cNvSpPr txBox="1"/>
          <p:nvPr/>
        </p:nvSpPr>
        <p:spPr>
          <a:xfrm>
            <a:off x="457200" y="2606547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test seti</a:t>
            </a:r>
          </a:p>
        </p:txBody>
      </p:sp>
      <p:sp>
        <p:nvSpPr>
          <p:cNvPr id="231" name="Shape 10"/>
          <p:cNvSpPr/>
          <p:nvPr/>
        </p:nvSpPr>
        <p:spPr>
          <a:xfrm>
            <a:off x="2468879" y="1828800"/>
            <a:ext cx="2011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2" name="Shape 11"/>
          <p:cNvSpPr/>
          <p:nvPr/>
        </p:nvSpPr>
        <p:spPr>
          <a:xfrm>
            <a:off x="2468879" y="1828799"/>
            <a:ext cx="164593" cy="3657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3" name="Text 12"/>
          <p:cNvSpPr txBox="1"/>
          <p:nvPr/>
        </p:nvSpPr>
        <p:spPr>
          <a:xfrm>
            <a:off x="2560320" y="1997300"/>
            <a:ext cx="182880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0.913</a:t>
            </a:r>
          </a:p>
        </p:txBody>
      </p:sp>
      <p:sp>
        <p:nvSpPr>
          <p:cNvPr id="234" name="Text 13"/>
          <p:cNvSpPr txBox="1"/>
          <p:nvPr/>
        </p:nvSpPr>
        <p:spPr>
          <a:xfrm>
            <a:off x="2560320" y="24145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ROC AUC</a:t>
            </a:r>
          </a:p>
        </p:txBody>
      </p:sp>
      <p:sp>
        <p:nvSpPr>
          <p:cNvPr id="235" name="Text 14"/>
          <p:cNvSpPr txBox="1"/>
          <p:nvPr/>
        </p:nvSpPr>
        <p:spPr>
          <a:xfrm>
            <a:off x="2560320" y="260654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ayrım gücü</a:t>
            </a:r>
          </a:p>
        </p:txBody>
      </p:sp>
      <p:sp>
        <p:nvSpPr>
          <p:cNvPr id="236" name="Shape 15"/>
          <p:cNvSpPr/>
          <p:nvPr/>
        </p:nvSpPr>
        <p:spPr>
          <a:xfrm>
            <a:off x="4572000" y="1828800"/>
            <a:ext cx="2011679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7" name="Shape 16"/>
          <p:cNvSpPr/>
          <p:nvPr/>
        </p:nvSpPr>
        <p:spPr>
          <a:xfrm>
            <a:off x="4571999" y="1828799"/>
            <a:ext cx="164594" cy="3657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38" name="Text 17"/>
          <p:cNvSpPr txBox="1"/>
          <p:nvPr/>
        </p:nvSpPr>
        <p:spPr>
          <a:xfrm>
            <a:off x="4663440" y="1997300"/>
            <a:ext cx="182880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73.4%</a:t>
            </a:r>
          </a:p>
        </p:txBody>
      </p:sp>
      <p:sp>
        <p:nvSpPr>
          <p:cNvPr id="239" name="Text 18"/>
          <p:cNvSpPr txBox="1"/>
          <p:nvPr/>
        </p:nvSpPr>
        <p:spPr>
          <a:xfrm>
            <a:off x="4663440" y="24145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240" name="Text 19"/>
          <p:cNvSpPr txBox="1"/>
          <p:nvPr/>
        </p:nvSpPr>
        <p:spPr>
          <a:xfrm>
            <a:off x="4663440" y="260654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öneri isabeti</a:t>
            </a:r>
          </a:p>
        </p:txBody>
      </p:sp>
      <p:sp>
        <p:nvSpPr>
          <p:cNvPr id="241" name="Shape 20"/>
          <p:cNvSpPr/>
          <p:nvPr/>
        </p:nvSpPr>
        <p:spPr>
          <a:xfrm>
            <a:off x="6675119" y="1828800"/>
            <a:ext cx="2011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2" name="Shape 21"/>
          <p:cNvSpPr/>
          <p:nvPr/>
        </p:nvSpPr>
        <p:spPr>
          <a:xfrm>
            <a:off x="6675119" y="1828799"/>
            <a:ext cx="164593" cy="3657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43" name="Text 22"/>
          <p:cNvSpPr txBox="1"/>
          <p:nvPr/>
        </p:nvSpPr>
        <p:spPr>
          <a:xfrm>
            <a:off x="6766559" y="1997300"/>
            <a:ext cx="182880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0.750</a:t>
            </a:r>
          </a:p>
        </p:txBody>
      </p:sp>
      <p:sp>
        <p:nvSpPr>
          <p:cNvPr id="244" name="Text 23"/>
          <p:cNvSpPr txBox="1"/>
          <p:nvPr/>
        </p:nvSpPr>
        <p:spPr>
          <a:xfrm>
            <a:off x="6766559" y="24145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F1 Skoru</a:t>
            </a:r>
          </a:p>
        </p:txBody>
      </p:sp>
      <p:sp>
        <p:nvSpPr>
          <p:cNvPr id="245" name="Text 24"/>
          <p:cNvSpPr txBox="1"/>
          <p:nvPr/>
        </p:nvSpPr>
        <p:spPr>
          <a:xfrm>
            <a:off x="6766559" y="260654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denge metriği</a:t>
            </a:r>
          </a:p>
        </p:txBody>
      </p:sp>
      <p:sp>
        <p:nvSpPr>
          <p:cNvPr id="246" name="Text 25"/>
          <p:cNvSpPr txBox="1"/>
          <p:nvPr/>
        </p:nvSpPr>
        <p:spPr>
          <a:xfrm>
            <a:off x="365759" y="3041826"/>
            <a:ext cx="4114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F2937"/>
                </a:solidFill>
              </a:defRPr>
            </a:lvl1pPr>
          </a:lstStyle>
          <a:p>
            <a:pPr/>
            <a:r>
              <a:t>Confusion Matrix (test seti)</a:t>
            </a:r>
          </a:p>
        </p:txBody>
      </p:sp>
      <p:graphicFrame>
        <p:nvGraphicFramePr>
          <p:cNvPr id="247" name="Table 0"/>
          <p:cNvGraphicFramePr/>
          <p:nvPr/>
        </p:nvGraphicFramePr>
        <p:xfrm>
          <a:off x="365759" y="3291840"/>
          <a:ext cx="4114801" cy="1152145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55448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374151"/>
                          </a:solidFill>
                        </a:rPr>
                        <a:t>Tahmin: Önerilmez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374151"/>
                          </a:solidFill>
                        </a:rPr>
                        <a:t>Tahmin: Önerilir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AFA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Gerçek: Önerilmez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166534"/>
                          </a:solidFill>
                        </a:rPr>
                        <a:t>TN  182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991B1B"/>
                          </a:solidFill>
                        </a:rPr>
                        <a:t>FP  25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EE2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000">
                          <a:solidFill>
                            <a:srgbClr val="374151"/>
                          </a:solidFill>
                        </a:rPr>
                        <a:t>Gerçek: Önerilir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991B1B"/>
                          </a:solidFill>
                        </a:rPr>
                        <a:t>FN  21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000">
                          <a:solidFill>
                            <a:srgbClr val="166534"/>
                          </a:solidFill>
                        </a:rPr>
                        <a:t>TP  69</a:t>
                      </a:r>
                    </a:p>
                  </a:txBody>
                  <a:tcPr marL="45720" marR="45720" marT="45720" marB="45720" anchor="ctr" anchorCtr="0" horzOverflow="overflow">
                    <a:lnL w="6350">
                      <a:solidFill>
                        <a:srgbClr val="E5E7EB"/>
                      </a:solidFill>
                    </a:lnL>
                    <a:lnR w="6350">
                      <a:solidFill>
                        <a:srgbClr val="E5E7EB"/>
                      </a:solidFill>
                    </a:lnR>
                    <a:lnT w="6350">
                      <a:solidFill>
                        <a:srgbClr val="E5E7EB"/>
                      </a:solidFill>
                    </a:lnT>
                    <a:lnB w="6350">
                      <a:solidFill>
                        <a:srgbClr val="E5E7EB"/>
                      </a:solidFill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48" name="Text 26"/>
          <p:cNvSpPr txBox="1"/>
          <p:nvPr/>
        </p:nvSpPr>
        <p:spPr>
          <a:xfrm>
            <a:off x="4663440" y="3041826"/>
            <a:ext cx="4114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F2937"/>
                </a:solidFill>
              </a:defRPr>
            </a:lvl1pPr>
          </a:lstStyle>
          <a:p>
            <a:pPr/>
            <a:r>
              <a:t>Veri Sızıntısı Önlemi</a:t>
            </a:r>
          </a:p>
        </p:txBody>
      </p:sp>
      <p:sp>
        <p:nvSpPr>
          <p:cNvPr id="249" name="Shape 27"/>
          <p:cNvSpPr/>
          <p:nvPr/>
        </p:nvSpPr>
        <p:spPr>
          <a:xfrm>
            <a:off x="4663440" y="3291840"/>
            <a:ext cx="4114801" cy="118872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0" name="Text 28"/>
          <p:cNvSpPr txBox="1"/>
          <p:nvPr/>
        </p:nvSpPr>
        <p:spPr>
          <a:xfrm>
            <a:off x="4800600" y="3383279"/>
            <a:ext cx="3886200" cy="3938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Hedef değişken (onerilir) öneri skorundan üretildi. Öneri skoru ise satış oranını da içeren ağırlıklı bir formül. Bu nedenle satış oranı modele özellik olarak verilmedi — aksi halde model cevabı kısmen ezberlerdi.</a:t>
            </a:r>
          </a:p>
        </p:txBody>
      </p:sp>
      <p:sp>
        <p:nvSpPr>
          <p:cNvPr id="251" name="Text 29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252" name="Text 30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255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08 · Modelleme</a:t>
            </a:r>
          </a:p>
        </p:txBody>
      </p:sp>
      <p:sp>
        <p:nvSpPr>
          <p:cNvPr id="256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57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Kişiye Özel Öneri Sıralama Modeli</a:t>
            </a:r>
          </a:p>
        </p:txBody>
      </p:sp>
      <p:sp>
        <p:nvSpPr>
          <p:cNvPr id="258" name="Text 4"/>
          <p:cNvSpPr txBox="1"/>
          <p:nvPr/>
        </p:nvSpPr>
        <p:spPr>
          <a:xfrm>
            <a:off x="365759" y="144162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Soru: Bu müşteri için hangi ürünler daha öncelikli önerilmeli?  ·  Veri seviyesi: müşteri × ürün çiftleri (529.593 satır)</a:t>
            </a:r>
          </a:p>
        </p:txBody>
      </p:sp>
      <p:sp>
        <p:nvSpPr>
          <p:cNvPr id="259" name="Shape 5"/>
          <p:cNvSpPr/>
          <p:nvPr/>
        </p:nvSpPr>
        <p:spPr>
          <a:xfrm>
            <a:off x="365760" y="1828800"/>
            <a:ext cx="2011679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0" name="Shape 6"/>
          <p:cNvSpPr/>
          <p:nvPr/>
        </p:nvSpPr>
        <p:spPr>
          <a:xfrm>
            <a:off x="365759" y="1828799"/>
            <a:ext cx="164593" cy="36578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1" name="Text 7"/>
          <p:cNvSpPr txBox="1"/>
          <p:nvPr/>
        </p:nvSpPr>
        <p:spPr>
          <a:xfrm>
            <a:off x="457200" y="1997300"/>
            <a:ext cx="1828800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88.3%</a:t>
            </a:r>
          </a:p>
        </p:txBody>
      </p:sp>
      <p:sp>
        <p:nvSpPr>
          <p:cNvPr id="262" name="Text 8"/>
          <p:cNvSpPr txBox="1"/>
          <p:nvPr/>
        </p:nvSpPr>
        <p:spPr>
          <a:xfrm>
            <a:off x="457200" y="2414523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Doğruluk</a:t>
            </a:r>
          </a:p>
        </p:txBody>
      </p:sp>
      <p:sp>
        <p:nvSpPr>
          <p:cNvPr id="263" name="Text 9"/>
          <p:cNvSpPr txBox="1"/>
          <p:nvPr/>
        </p:nvSpPr>
        <p:spPr>
          <a:xfrm>
            <a:off x="457200" y="2606547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test seti</a:t>
            </a:r>
          </a:p>
        </p:txBody>
      </p:sp>
      <p:sp>
        <p:nvSpPr>
          <p:cNvPr id="264" name="Shape 10"/>
          <p:cNvSpPr/>
          <p:nvPr/>
        </p:nvSpPr>
        <p:spPr>
          <a:xfrm>
            <a:off x="2468879" y="1828800"/>
            <a:ext cx="2011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5" name="Shape 11"/>
          <p:cNvSpPr/>
          <p:nvPr/>
        </p:nvSpPr>
        <p:spPr>
          <a:xfrm>
            <a:off x="2468879" y="1828799"/>
            <a:ext cx="164593" cy="36578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66" name="Text 12"/>
          <p:cNvSpPr txBox="1"/>
          <p:nvPr/>
        </p:nvSpPr>
        <p:spPr>
          <a:xfrm>
            <a:off x="2560320" y="1997300"/>
            <a:ext cx="182880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0.954</a:t>
            </a:r>
          </a:p>
        </p:txBody>
      </p:sp>
      <p:sp>
        <p:nvSpPr>
          <p:cNvPr id="267" name="Text 13"/>
          <p:cNvSpPr txBox="1"/>
          <p:nvPr/>
        </p:nvSpPr>
        <p:spPr>
          <a:xfrm>
            <a:off x="2560320" y="24145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ROC AUC</a:t>
            </a:r>
          </a:p>
        </p:txBody>
      </p:sp>
      <p:sp>
        <p:nvSpPr>
          <p:cNvPr id="268" name="Text 14"/>
          <p:cNvSpPr txBox="1"/>
          <p:nvPr/>
        </p:nvSpPr>
        <p:spPr>
          <a:xfrm>
            <a:off x="2560320" y="260654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ayrım gücü</a:t>
            </a:r>
          </a:p>
        </p:txBody>
      </p:sp>
      <p:sp>
        <p:nvSpPr>
          <p:cNvPr id="269" name="Shape 15"/>
          <p:cNvSpPr/>
          <p:nvPr/>
        </p:nvSpPr>
        <p:spPr>
          <a:xfrm>
            <a:off x="4572000" y="1828800"/>
            <a:ext cx="2011679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0" name="Shape 16"/>
          <p:cNvSpPr/>
          <p:nvPr/>
        </p:nvSpPr>
        <p:spPr>
          <a:xfrm>
            <a:off x="4571999" y="1828799"/>
            <a:ext cx="164594" cy="36578"/>
          </a:xfrm>
          <a:prstGeom prst="rect">
            <a:avLst/>
          </a:prstGeom>
          <a:solidFill>
            <a:srgbClr val="166534"/>
          </a:solidFill>
          <a:ln w="12700">
            <a:solidFill>
              <a:srgbClr val="166534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1" name="Text 17"/>
          <p:cNvSpPr txBox="1"/>
          <p:nvPr/>
        </p:nvSpPr>
        <p:spPr>
          <a:xfrm>
            <a:off x="4663440" y="1997300"/>
            <a:ext cx="182880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99.99%</a:t>
            </a:r>
          </a:p>
        </p:txBody>
      </p:sp>
      <p:sp>
        <p:nvSpPr>
          <p:cNvPr id="272" name="Text 18"/>
          <p:cNvSpPr txBox="1"/>
          <p:nvPr/>
        </p:nvSpPr>
        <p:spPr>
          <a:xfrm>
            <a:off x="4663440" y="24145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Recall</a:t>
            </a:r>
          </a:p>
        </p:txBody>
      </p:sp>
      <p:sp>
        <p:nvSpPr>
          <p:cNvPr id="273" name="Text 19"/>
          <p:cNvSpPr txBox="1"/>
          <p:nvPr/>
        </p:nvSpPr>
        <p:spPr>
          <a:xfrm>
            <a:off x="4663440" y="260654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satın alanları yakalama</a:t>
            </a:r>
          </a:p>
        </p:txBody>
      </p:sp>
      <p:sp>
        <p:nvSpPr>
          <p:cNvPr id="274" name="Shape 20"/>
          <p:cNvSpPr/>
          <p:nvPr/>
        </p:nvSpPr>
        <p:spPr>
          <a:xfrm>
            <a:off x="6675119" y="1828800"/>
            <a:ext cx="2011680" cy="914400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5" name="Shape 21"/>
          <p:cNvSpPr/>
          <p:nvPr/>
        </p:nvSpPr>
        <p:spPr>
          <a:xfrm>
            <a:off x="6675119" y="1828799"/>
            <a:ext cx="164593" cy="3657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76" name="Text 22"/>
          <p:cNvSpPr txBox="1"/>
          <p:nvPr/>
        </p:nvSpPr>
        <p:spPr>
          <a:xfrm>
            <a:off x="6766559" y="1997300"/>
            <a:ext cx="1828801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48.5%</a:t>
            </a:r>
          </a:p>
        </p:txBody>
      </p:sp>
      <p:sp>
        <p:nvSpPr>
          <p:cNvPr id="277" name="Text 23"/>
          <p:cNvSpPr txBox="1"/>
          <p:nvPr/>
        </p:nvSpPr>
        <p:spPr>
          <a:xfrm>
            <a:off x="6766559" y="24145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Precision</a:t>
            </a:r>
          </a:p>
        </p:txBody>
      </p:sp>
      <p:sp>
        <p:nvSpPr>
          <p:cNvPr id="278" name="Text 24"/>
          <p:cNvSpPr txBox="1"/>
          <p:nvPr/>
        </p:nvSpPr>
        <p:spPr>
          <a:xfrm>
            <a:off x="6766559" y="2606547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700">
                <a:solidFill>
                  <a:srgbClr val="6B7280"/>
                </a:solidFill>
              </a:defRPr>
            </a:lvl1pPr>
          </a:lstStyle>
          <a:p>
            <a:pPr/>
            <a:r>
              <a:t>önerinin isabeti</a:t>
            </a:r>
          </a:p>
        </p:txBody>
      </p:sp>
      <p:sp>
        <p:nvSpPr>
          <p:cNvPr id="279" name="Text 25"/>
          <p:cNvSpPr txBox="1"/>
          <p:nvPr/>
        </p:nvSpPr>
        <p:spPr>
          <a:xfrm>
            <a:off x="365759" y="3041826"/>
            <a:ext cx="4114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F2937"/>
                </a:solidFill>
              </a:defRPr>
            </a:lvl1pPr>
          </a:lstStyle>
          <a:p>
            <a:pPr/>
            <a:r>
              <a:t>En güçlü 5 sinyal</a:t>
            </a:r>
          </a:p>
        </p:txBody>
      </p:sp>
      <p:sp>
        <p:nvSpPr>
          <p:cNvPr id="280" name="Text 26"/>
          <p:cNvSpPr txBox="1"/>
          <p:nvPr/>
        </p:nvSpPr>
        <p:spPr>
          <a:xfrm>
            <a:off x="365759" y="3328924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add_to_cart</a:t>
            </a:r>
          </a:p>
        </p:txBody>
      </p:sp>
      <p:sp>
        <p:nvSpPr>
          <p:cNvPr id="281" name="Shape 27"/>
          <p:cNvSpPr/>
          <p:nvPr/>
        </p:nvSpPr>
        <p:spPr>
          <a:xfrm>
            <a:off x="2103120" y="3337559"/>
            <a:ext cx="1828801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2" name="Shape 28"/>
          <p:cNvSpPr/>
          <p:nvPr/>
        </p:nvSpPr>
        <p:spPr>
          <a:xfrm>
            <a:off x="2103120" y="3337559"/>
            <a:ext cx="1828801" cy="118872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3" name="Text 29"/>
          <p:cNvSpPr txBox="1"/>
          <p:nvPr/>
        </p:nvSpPr>
        <p:spPr>
          <a:xfrm>
            <a:off x="3977640" y="332892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%80.7</a:t>
            </a:r>
          </a:p>
        </p:txBody>
      </p:sp>
      <p:sp>
        <p:nvSpPr>
          <p:cNvPr id="284" name="Text 30"/>
          <p:cNvSpPr txBox="1"/>
          <p:nvPr/>
        </p:nvSpPr>
        <p:spPr>
          <a:xfrm>
            <a:off x="365759" y="3557524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monetary (RFM)</a:t>
            </a:r>
          </a:p>
        </p:txBody>
      </p:sp>
      <p:sp>
        <p:nvSpPr>
          <p:cNvPr id="285" name="Shape 31"/>
          <p:cNvSpPr/>
          <p:nvPr/>
        </p:nvSpPr>
        <p:spPr>
          <a:xfrm>
            <a:off x="2103120" y="3566159"/>
            <a:ext cx="1828801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6" name="Shape 32"/>
          <p:cNvSpPr/>
          <p:nvPr/>
        </p:nvSpPr>
        <p:spPr>
          <a:xfrm>
            <a:off x="2103120" y="3566159"/>
            <a:ext cx="72518" cy="1188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87" name="Text 33"/>
          <p:cNvSpPr txBox="1"/>
          <p:nvPr/>
        </p:nvSpPr>
        <p:spPr>
          <a:xfrm>
            <a:off x="3977640" y="355752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%3.2</a:t>
            </a:r>
          </a:p>
        </p:txBody>
      </p:sp>
      <p:sp>
        <p:nvSpPr>
          <p:cNvPr id="288" name="Text 34"/>
          <p:cNvSpPr txBox="1"/>
          <p:nvPr/>
        </p:nvSpPr>
        <p:spPr>
          <a:xfrm>
            <a:off x="365759" y="3786124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kategori_ilgi_orani</a:t>
            </a:r>
          </a:p>
        </p:txBody>
      </p:sp>
      <p:sp>
        <p:nvSpPr>
          <p:cNvPr id="289" name="Shape 35"/>
          <p:cNvSpPr/>
          <p:nvPr/>
        </p:nvSpPr>
        <p:spPr>
          <a:xfrm>
            <a:off x="2103120" y="3794759"/>
            <a:ext cx="1828801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0" name="Shape 36"/>
          <p:cNvSpPr/>
          <p:nvPr/>
        </p:nvSpPr>
        <p:spPr>
          <a:xfrm>
            <a:off x="2103120" y="3794759"/>
            <a:ext cx="56654" cy="1188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1" name="Text 37"/>
          <p:cNvSpPr txBox="1"/>
          <p:nvPr/>
        </p:nvSpPr>
        <p:spPr>
          <a:xfrm>
            <a:off x="3977640" y="378612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%2.5</a:t>
            </a:r>
          </a:p>
        </p:txBody>
      </p:sp>
      <p:sp>
        <p:nvSpPr>
          <p:cNvPr id="292" name="Text 38"/>
          <p:cNvSpPr txBox="1"/>
          <p:nvPr/>
        </p:nvSpPr>
        <p:spPr>
          <a:xfrm>
            <a:off x="365759" y="4014724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frequency (RFM)</a:t>
            </a:r>
          </a:p>
        </p:txBody>
      </p:sp>
      <p:sp>
        <p:nvSpPr>
          <p:cNvPr id="293" name="Shape 39"/>
          <p:cNvSpPr/>
          <p:nvPr/>
        </p:nvSpPr>
        <p:spPr>
          <a:xfrm>
            <a:off x="2103120" y="4023359"/>
            <a:ext cx="1828801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4" name="Shape 40"/>
          <p:cNvSpPr/>
          <p:nvPr/>
        </p:nvSpPr>
        <p:spPr>
          <a:xfrm>
            <a:off x="2103120" y="4023359"/>
            <a:ext cx="56654" cy="1188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5" name="Text 41"/>
          <p:cNvSpPr txBox="1"/>
          <p:nvPr/>
        </p:nvSpPr>
        <p:spPr>
          <a:xfrm>
            <a:off x="3977640" y="401472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%2.5</a:t>
            </a:r>
          </a:p>
        </p:txBody>
      </p:sp>
      <p:sp>
        <p:nvSpPr>
          <p:cNvPr id="296" name="Text 42"/>
          <p:cNvSpPr txBox="1"/>
          <p:nvPr/>
        </p:nvSpPr>
        <p:spPr>
          <a:xfrm>
            <a:off x="365759" y="4243324"/>
            <a:ext cx="173736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374151"/>
                </a:solidFill>
              </a:defRPr>
            </a:lvl1pPr>
          </a:lstStyle>
          <a:p>
            <a:pPr/>
            <a:r>
              <a:t>recency (RFM)</a:t>
            </a:r>
          </a:p>
        </p:txBody>
      </p:sp>
      <p:sp>
        <p:nvSpPr>
          <p:cNvPr id="297" name="Shape 43"/>
          <p:cNvSpPr/>
          <p:nvPr/>
        </p:nvSpPr>
        <p:spPr>
          <a:xfrm>
            <a:off x="2103120" y="4251959"/>
            <a:ext cx="1828801" cy="118872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8" name="Shape 44"/>
          <p:cNvSpPr/>
          <p:nvPr/>
        </p:nvSpPr>
        <p:spPr>
          <a:xfrm>
            <a:off x="2103120" y="4251959"/>
            <a:ext cx="54389" cy="118872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299" name="Text 45"/>
          <p:cNvSpPr txBox="1"/>
          <p:nvPr/>
        </p:nvSpPr>
        <p:spPr>
          <a:xfrm>
            <a:off x="3977640" y="424332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/>
            <a:r>
              <a:t>%2.4</a:t>
            </a:r>
          </a:p>
        </p:txBody>
      </p:sp>
      <p:sp>
        <p:nvSpPr>
          <p:cNvPr id="300" name="Text 46"/>
          <p:cNvSpPr txBox="1"/>
          <p:nvPr/>
        </p:nvSpPr>
        <p:spPr>
          <a:xfrm>
            <a:off x="4663440" y="3041826"/>
            <a:ext cx="4114801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100">
                <a:solidFill>
                  <a:srgbClr val="1F2937"/>
                </a:solidFill>
              </a:defRPr>
            </a:lvl1pPr>
          </a:lstStyle>
          <a:p>
            <a:pPr/>
            <a:r>
              <a:t>Önemli yorum notu</a:t>
            </a:r>
          </a:p>
        </p:txBody>
      </p:sp>
      <p:sp>
        <p:nvSpPr>
          <p:cNvPr id="301" name="Shape 47"/>
          <p:cNvSpPr/>
          <p:nvPr/>
        </p:nvSpPr>
        <p:spPr>
          <a:xfrm>
            <a:off x="4663440" y="3291840"/>
            <a:ext cx="4114801" cy="1325881"/>
          </a:xfrm>
          <a:prstGeom prst="rect">
            <a:avLst/>
          </a:prstGeom>
          <a:solidFill>
            <a:srgbClr val="FEF3C7"/>
          </a:solidFill>
          <a:ln>
            <a:solidFill>
              <a:srgbClr val="F59E0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2" name="Text 48"/>
          <p:cNvSpPr txBox="1"/>
          <p:nvPr/>
        </p:nvSpPr>
        <p:spPr>
          <a:xfrm>
            <a:off x="4800600" y="3383279"/>
            <a:ext cx="3886200" cy="8129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>
              <a:defRPr b="1" sz="900">
                <a:solidFill>
                  <a:srgbClr val="1F2937"/>
                </a:solidFill>
              </a:defRPr>
            </a:pPr>
            <a:r>
              <a:t>Kontrol testi: </a:t>
            </a:r>
            <a:r>
              <a:rPr b="0">
                <a:solidFill>
                  <a:srgbClr val="374151"/>
                </a:solidFill>
              </a:rPr>
              <a:t>add_to_cart özelliği çıkarılınca AUC 0.954 → 0.752 düşüyor. Model satın alma sinyalini büyük ölçüde sepete ekleme davranışından öğreniyor — bu beklenen bir durum, leakage değil.</a:t>
            </a:r>
            <a:endParaRPr b="0">
              <a:solidFill>
                <a:srgbClr val="374151"/>
              </a:solidFill>
            </a:endParaRPr>
          </a:p>
          <a:p>
            <a:pPr>
              <a:defRPr b="1" sz="900">
                <a:solidFill>
                  <a:srgbClr val="1F2937"/>
                </a:solidFill>
              </a:defRPr>
            </a:pPr>
            <a:endParaRPr b="0">
              <a:solidFill>
                <a:srgbClr val="374151"/>
              </a:solidFill>
            </a:endParaRPr>
          </a:p>
          <a:p>
            <a:pPr>
              <a:defRPr b="1" sz="900">
                <a:solidFill>
                  <a:srgbClr val="1F2937"/>
                </a:solidFill>
              </a:defRPr>
            </a:pPr>
            <a:r>
              <a:t>Sonuç: </a:t>
            </a:r>
            <a:r>
              <a:rPr b="0">
                <a:solidFill>
                  <a:srgbClr val="374151"/>
                </a:solidFill>
              </a:rPr>
              <a:t>Model kesin satış tahmini değil, müşteriye gösterilecek ürünleri sıralayan bir öneri önceliği üreticisi olarak kullanılmalıdır.</a:t>
            </a:r>
          </a:p>
        </p:txBody>
      </p:sp>
      <p:sp>
        <p:nvSpPr>
          <p:cNvPr id="303" name="Text 49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304" name="Text 50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9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307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09 · Sistem</a:t>
            </a:r>
          </a:p>
        </p:txBody>
      </p:sp>
      <p:sp>
        <p:nvSpPr>
          <p:cNvPr id="308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09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İki Katmanlı Öneri Mimarisi</a:t>
            </a:r>
          </a:p>
        </p:txBody>
      </p:sp>
      <p:sp>
        <p:nvSpPr>
          <p:cNvPr id="310" name="Text 4"/>
          <p:cNvSpPr txBox="1"/>
          <p:nvPr/>
        </p:nvSpPr>
        <p:spPr>
          <a:xfrm>
            <a:off x="365759" y="144162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Genel ürün kalitesi ile kişisel satın alma tahmini ayrı katmanlarda hesaplanır. Dashboard her ikisini de gösterir.</a:t>
            </a:r>
          </a:p>
        </p:txBody>
      </p:sp>
      <p:sp>
        <p:nvSpPr>
          <p:cNvPr id="311" name="Shape 5"/>
          <p:cNvSpPr/>
          <p:nvPr/>
        </p:nvSpPr>
        <p:spPr>
          <a:xfrm>
            <a:off x="365759" y="1783079"/>
            <a:ext cx="4114801" cy="274320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2" name="Shape 6"/>
          <p:cNvSpPr/>
          <p:nvPr/>
        </p:nvSpPr>
        <p:spPr>
          <a:xfrm>
            <a:off x="365759" y="1783079"/>
            <a:ext cx="4114801" cy="45721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13" name="Text 7"/>
          <p:cNvSpPr txBox="1"/>
          <p:nvPr/>
        </p:nvSpPr>
        <p:spPr>
          <a:xfrm>
            <a:off x="548640" y="19573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Katman 1</a:t>
            </a:r>
          </a:p>
        </p:txBody>
      </p:sp>
      <p:sp>
        <p:nvSpPr>
          <p:cNvPr id="314" name="Text 8"/>
          <p:cNvSpPr txBox="1"/>
          <p:nvPr/>
        </p:nvSpPr>
        <p:spPr>
          <a:xfrm>
            <a:off x="548639" y="2227143"/>
            <a:ext cx="3749042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F2937"/>
                </a:solidFill>
              </a:defRPr>
            </a:lvl1pPr>
          </a:lstStyle>
          <a:p>
            <a:pPr/>
            <a:r>
              <a:t>Genel Ürün Önerisi</a:t>
            </a:r>
          </a:p>
        </p:txBody>
      </p:sp>
      <p:sp>
        <p:nvSpPr>
          <p:cNvPr id="315" name="Text 9"/>
          <p:cNvSpPr txBox="1"/>
          <p:nvPr/>
        </p:nvSpPr>
        <p:spPr>
          <a:xfrm>
            <a:off x="548639" y="2606039"/>
            <a:ext cx="37490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Veri seviyesi: ürün (1.197 satır)</a:t>
            </a:r>
          </a:p>
        </p:txBody>
      </p:sp>
      <p:sp>
        <p:nvSpPr>
          <p:cNvPr id="316" name="Text 10"/>
          <p:cNvSpPr txBox="1"/>
          <p:nvPr/>
        </p:nvSpPr>
        <p:spPr>
          <a:xfrm>
            <a:off x="548639" y="2990088"/>
            <a:ext cx="37490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Skor: satış, rating, sepet, duygu, gelir, marj</a:t>
            </a:r>
          </a:p>
        </p:txBody>
      </p:sp>
      <p:sp>
        <p:nvSpPr>
          <p:cNvPr id="317" name="Text 11"/>
          <p:cNvSpPr txBox="1"/>
          <p:nvPr/>
        </p:nvSpPr>
        <p:spPr>
          <a:xfrm>
            <a:off x="548639" y="3374135"/>
            <a:ext cx="37490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Üst %30 → onerilir = 1  (359 ürün)</a:t>
            </a:r>
          </a:p>
        </p:txBody>
      </p:sp>
      <p:sp>
        <p:nvSpPr>
          <p:cNvPr id="318" name="Text 12"/>
          <p:cNvSpPr txBox="1"/>
          <p:nvPr/>
        </p:nvSpPr>
        <p:spPr>
          <a:xfrm>
            <a:off x="548639" y="3758184"/>
            <a:ext cx="37490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Çıktı: kategori bazlı öneri listesi</a:t>
            </a:r>
          </a:p>
        </p:txBody>
      </p:sp>
      <p:sp>
        <p:nvSpPr>
          <p:cNvPr id="319" name="Shape 13"/>
          <p:cNvSpPr/>
          <p:nvPr/>
        </p:nvSpPr>
        <p:spPr>
          <a:xfrm>
            <a:off x="4663440" y="1783079"/>
            <a:ext cx="4114801" cy="274320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0" name="Shape 14"/>
          <p:cNvSpPr/>
          <p:nvPr/>
        </p:nvSpPr>
        <p:spPr>
          <a:xfrm>
            <a:off x="4663440" y="1783079"/>
            <a:ext cx="4114801" cy="45721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21" name="Text 15"/>
          <p:cNvSpPr txBox="1"/>
          <p:nvPr/>
        </p:nvSpPr>
        <p:spPr>
          <a:xfrm>
            <a:off x="4846320" y="1957323"/>
            <a:ext cx="1828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1E40AF"/>
                </a:solidFill>
              </a:defRPr>
            </a:lvl1pPr>
          </a:lstStyle>
          <a:p>
            <a:pPr/>
            <a:r>
              <a:t>Katman 2</a:t>
            </a:r>
          </a:p>
        </p:txBody>
      </p:sp>
      <p:sp>
        <p:nvSpPr>
          <p:cNvPr id="322" name="Text 16"/>
          <p:cNvSpPr txBox="1"/>
          <p:nvPr/>
        </p:nvSpPr>
        <p:spPr>
          <a:xfrm>
            <a:off x="4846319" y="2227143"/>
            <a:ext cx="3749042" cy="20915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600">
                <a:solidFill>
                  <a:srgbClr val="1F2937"/>
                </a:solidFill>
              </a:defRPr>
            </a:lvl1pPr>
          </a:lstStyle>
          <a:p>
            <a:pPr/>
            <a:r>
              <a:t>Kişiye Özel Tahmin</a:t>
            </a:r>
          </a:p>
        </p:txBody>
      </p:sp>
      <p:sp>
        <p:nvSpPr>
          <p:cNvPr id="323" name="Text 17"/>
          <p:cNvSpPr txBox="1"/>
          <p:nvPr/>
        </p:nvSpPr>
        <p:spPr>
          <a:xfrm>
            <a:off x="4846319" y="2606039"/>
            <a:ext cx="37490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Veri seviyesi: müşteri × ürün çifti</a:t>
            </a:r>
          </a:p>
        </p:txBody>
      </p:sp>
      <p:sp>
        <p:nvSpPr>
          <p:cNvPr id="324" name="Text 18"/>
          <p:cNvSpPr txBox="1"/>
          <p:nvPr/>
        </p:nvSpPr>
        <p:spPr>
          <a:xfrm>
            <a:off x="4846319" y="2990088"/>
            <a:ext cx="37490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Model: Random Forest, hedef satın_aldi</a:t>
            </a:r>
          </a:p>
        </p:txBody>
      </p:sp>
      <p:sp>
        <p:nvSpPr>
          <p:cNvPr id="325" name="Text 19"/>
          <p:cNvSpPr txBox="1"/>
          <p:nvPr/>
        </p:nvSpPr>
        <p:spPr>
          <a:xfrm>
            <a:off x="4846319" y="3374135"/>
            <a:ext cx="374904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Daha önce alınan ürünler listeden çıkarılır</a:t>
            </a:r>
          </a:p>
        </p:txBody>
      </p:sp>
      <p:sp>
        <p:nvSpPr>
          <p:cNvPr id="326" name="Text 20"/>
          <p:cNvSpPr txBox="1"/>
          <p:nvPr/>
        </p:nvSpPr>
        <p:spPr>
          <a:xfrm>
            <a:off x="4846319" y="3758184"/>
            <a:ext cx="374904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·  Çıktı: kişisel olasılığa göre sıralı ürün listesi</a:t>
            </a:r>
          </a:p>
        </p:txBody>
      </p:sp>
      <p:sp>
        <p:nvSpPr>
          <p:cNvPr id="327" name="Text 21"/>
          <p:cNvSpPr txBox="1"/>
          <p:nvPr/>
        </p:nvSpPr>
        <p:spPr>
          <a:xfrm>
            <a:off x="365759" y="4654804"/>
            <a:ext cx="84124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800">
                <a:solidFill>
                  <a:srgbClr val="6B7280"/>
                </a:solidFill>
              </a:defRPr>
            </a:lvl1pPr>
          </a:lstStyle>
          <a:p>
            <a:pPr/>
            <a:r>
              <a:t>Dashboard'da "Genel Öneriler" sekmesi Katman 1 sonuçlarını; "Kişisel Ürün Önerisi" sekmesi Katman 2 tahminlerini gösterir.</a:t>
            </a:r>
          </a:p>
        </p:txBody>
      </p:sp>
      <p:sp>
        <p:nvSpPr>
          <p:cNvPr id="328" name="Text 22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329" name="Text 23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10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332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10 · Sunum Katmanı</a:t>
            </a:r>
          </a:p>
        </p:txBody>
      </p:sp>
      <p:sp>
        <p:nvSpPr>
          <p:cNvPr id="333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4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Dashboard — Streamlit Çıktısı</a:t>
            </a:r>
          </a:p>
        </p:txBody>
      </p:sp>
      <p:sp>
        <p:nvSpPr>
          <p:cNvPr id="335" name="Text 4"/>
          <p:cNvSpPr txBox="1"/>
          <p:nvPr/>
        </p:nvSpPr>
        <p:spPr>
          <a:xfrm>
            <a:off x="365759" y="144162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Tüm analizler, segmentler ve öneriler tek arayüzde toplandı. Hocanın canlı dashboardda test edebileceği şekilde yayında.</a:t>
            </a:r>
          </a:p>
        </p:txBody>
      </p:sp>
      <p:sp>
        <p:nvSpPr>
          <p:cNvPr id="336" name="Shape 5"/>
          <p:cNvSpPr/>
          <p:nvPr/>
        </p:nvSpPr>
        <p:spPr>
          <a:xfrm>
            <a:off x="365759" y="1783079"/>
            <a:ext cx="1993394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37" name="Text 6"/>
          <p:cNvSpPr txBox="1"/>
          <p:nvPr/>
        </p:nvSpPr>
        <p:spPr>
          <a:xfrm>
            <a:off x="502919" y="191160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338" name="Text 7"/>
          <p:cNvSpPr txBox="1"/>
          <p:nvPr/>
        </p:nvSpPr>
        <p:spPr>
          <a:xfrm>
            <a:off x="502920" y="2167172"/>
            <a:ext cx="1783079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Yönetici Özeti</a:t>
            </a:r>
          </a:p>
        </p:txBody>
      </p:sp>
      <p:sp>
        <p:nvSpPr>
          <p:cNvPr id="339" name="Text 8"/>
          <p:cNvSpPr txBox="1"/>
          <p:nvPr/>
        </p:nvSpPr>
        <p:spPr>
          <a:xfrm>
            <a:off x="502920" y="2404872"/>
            <a:ext cx="178307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KPI'lar, dönüşüm hunisi, kategori skor özeti</a:t>
            </a:r>
          </a:p>
        </p:txBody>
      </p:sp>
      <p:sp>
        <p:nvSpPr>
          <p:cNvPr id="340" name="Shape 9"/>
          <p:cNvSpPr/>
          <p:nvPr/>
        </p:nvSpPr>
        <p:spPr>
          <a:xfrm>
            <a:off x="2487167" y="1783079"/>
            <a:ext cx="1993393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1" name="Text 10"/>
          <p:cNvSpPr txBox="1"/>
          <p:nvPr/>
        </p:nvSpPr>
        <p:spPr>
          <a:xfrm>
            <a:off x="2624327" y="191160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342" name="Text 11"/>
          <p:cNvSpPr txBox="1"/>
          <p:nvPr/>
        </p:nvSpPr>
        <p:spPr>
          <a:xfrm>
            <a:off x="2624328" y="2167172"/>
            <a:ext cx="1783079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Veri Keşfi</a:t>
            </a:r>
          </a:p>
        </p:txBody>
      </p:sp>
      <p:sp>
        <p:nvSpPr>
          <p:cNvPr id="343" name="Text 12"/>
          <p:cNvSpPr txBox="1"/>
          <p:nvPr/>
        </p:nvSpPr>
        <p:spPr>
          <a:xfrm>
            <a:off x="2624328" y="2404872"/>
            <a:ext cx="1783079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Tablo boyutları, eksik değer analizi, ana grafikler</a:t>
            </a:r>
          </a:p>
        </p:txBody>
      </p:sp>
      <p:sp>
        <p:nvSpPr>
          <p:cNvPr id="344" name="Shape 13"/>
          <p:cNvSpPr/>
          <p:nvPr/>
        </p:nvSpPr>
        <p:spPr>
          <a:xfrm>
            <a:off x="4608576" y="1783079"/>
            <a:ext cx="1993393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5" name="Text 14"/>
          <p:cNvSpPr txBox="1"/>
          <p:nvPr/>
        </p:nvSpPr>
        <p:spPr>
          <a:xfrm>
            <a:off x="4745735" y="191160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346" name="Text 15"/>
          <p:cNvSpPr txBox="1"/>
          <p:nvPr/>
        </p:nvSpPr>
        <p:spPr>
          <a:xfrm>
            <a:off x="4745735" y="2167172"/>
            <a:ext cx="17830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Ürün Davranışı</a:t>
            </a:r>
          </a:p>
        </p:txBody>
      </p:sp>
      <p:sp>
        <p:nvSpPr>
          <p:cNvPr id="347" name="Text 16"/>
          <p:cNvSpPr txBox="1"/>
          <p:nvPr/>
        </p:nvSpPr>
        <p:spPr>
          <a:xfrm>
            <a:off x="4745735" y="2404872"/>
            <a:ext cx="17830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Fiyat × satış, rating × skor scatter analizleri</a:t>
            </a:r>
          </a:p>
        </p:txBody>
      </p:sp>
      <p:sp>
        <p:nvSpPr>
          <p:cNvPr id="348" name="Shape 17"/>
          <p:cNvSpPr/>
          <p:nvPr/>
        </p:nvSpPr>
        <p:spPr>
          <a:xfrm>
            <a:off x="6729983" y="1783079"/>
            <a:ext cx="1993393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49" name="Text 18"/>
          <p:cNvSpPr txBox="1"/>
          <p:nvPr/>
        </p:nvSpPr>
        <p:spPr>
          <a:xfrm>
            <a:off x="6867143" y="1911604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350" name="Text 19"/>
          <p:cNvSpPr txBox="1"/>
          <p:nvPr/>
        </p:nvSpPr>
        <p:spPr>
          <a:xfrm>
            <a:off x="6867143" y="2167172"/>
            <a:ext cx="17830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Genel Ürün Önerileri</a:t>
            </a:r>
          </a:p>
        </p:txBody>
      </p:sp>
      <p:sp>
        <p:nvSpPr>
          <p:cNvPr id="351" name="Text 20"/>
          <p:cNvSpPr txBox="1"/>
          <p:nvPr/>
        </p:nvSpPr>
        <p:spPr>
          <a:xfrm>
            <a:off x="6867143" y="2404872"/>
            <a:ext cx="1783080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Filtrelenebilir top ürün listesi (kategori, skor, rating)</a:t>
            </a:r>
          </a:p>
        </p:txBody>
      </p:sp>
      <p:sp>
        <p:nvSpPr>
          <p:cNvPr id="352" name="Shape 21"/>
          <p:cNvSpPr/>
          <p:nvPr/>
        </p:nvSpPr>
        <p:spPr>
          <a:xfrm>
            <a:off x="365759" y="3063239"/>
            <a:ext cx="1993394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3" name="Text 22"/>
          <p:cNvSpPr txBox="1"/>
          <p:nvPr/>
        </p:nvSpPr>
        <p:spPr>
          <a:xfrm>
            <a:off x="502919" y="3191763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354" name="Text 23"/>
          <p:cNvSpPr txBox="1"/>
          <p:nvPr/>
        </p:nvSpPr>
        <p:spPr>
          <a:xfrm>
            <a:off x="502920" y="3447332"/>
            <a:ext cx="1783079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Modelleme</a:t>
            </a:r>
          </a:p>
        </p:txBody>
      </p:sp>
      <p:sp>
        <p:nvSpPr>
          <p:cNvPr id="355" name="Text 24"/>
          <p:cNvSpPr txBox="1"/>
          <p:nvPr/>
        </p:nvSpPr>
        <p:spPr>
          <a:xfrm>
            <a:off x="502920" y="3685032"/>
            <a:ext cx="1783079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İki modelin metrik karşılaştırması, CM, ROC, özellik önemi</a:t>
            </a:r>
          </a:p>
        </p:txBody>
      </p:sp>
      <p:sp>
        <p:nvSpPr>
          <p:cNvPr id="356" name="Shape 25"/>
          <p:cNvSpPr/>
          <p:nvPr/>
        </p:nvSpPr>
        <p:spPr>
          <a:xfrm>
            <a:off x="2487167" y="3063239"/>
            <a:ext cx="1993393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57" name="Text 26"/>
          <p:cNvSpPr txBox="1"/>
          <p:nvPr/>
        </p:nvSpPr>
        <p:spPr>
          <a:xfrm>
            <a:off x="2624327" y="3191763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358" name="Text 27"/>
          <p:cNvSpPr txBox="1"/>
          <p:nvPr/>
        </p:nvSpPr>
        <p:spPr>
          <a:xfrm>
            <a:off x="2624328" y="3447332"/>
            <a:ext cx="1783079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Yorum Duygusu</a:t>
            </a:r>
          </a:p>
        </p:txBody>
      </p:sp>
      <p:sp>
        <p:nvSpPr>
          <p:cNvPr id="359" name="Text 28"/>
          <p:cNvSpPr txBox="1"/>
          <p:nvPr/>
        </p:nvSpPr>
        <p:spPr>
          <a:xfrm>
            <a:off x="2624328" y="3685032"/>
            <a:ext cx="1783079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VADER + rating sonuçları, örnek yorumlar</a:t>
            </a:r>
          </a:p>
        </p:txBody>
      </p:sp>
      <p:sp>
        <p:nvSpPr>
          <p:cNvPr id="360" name="Shape 29"/>
          <p:cNvSpPr/>
          <p:nvPr/>
        </p:nvSpPr>
        <p:spPr>
          <a:xfrm>
            <a:off x="4608576" y="3063239"/>
            <a:ext cx="1993393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1" name="Text 30"/>
          <p:cNvSpPr txBox="1"/>
          <p:nvPr/>
        </p:nvSpPr>
        <p:spPr>
          <a:xfrm>
            <a:off x="4745735" y="3191763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362" name="Text 31"/>
          <p:cNvSpPr txBox="1"/>
          <p:nvPr/>
        </p:nvSpPr>
        <p:spPr>
          <a:xfrm>
            <a:off x="4745735" y="3447332"/>
            <a:ext cx="17830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Kişisel Ürün Önerisi</a:t>
            </a:r>
          </a:p>
        </p:txBody>
      </p:sp>
      <p:sp>
        <p:nvSpPr>
          <p:cNvPr id="363" name="Text 32"/>
          <p:cNvSpPr txBox="1"/>
          <p:nvPr/>
        </p:nvSpPr>
        <p:spPr>
          <a:xfrm>
            <a:off x="4745735" y="3685032"/>
            <a:ext cx="1783080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Müşteri seç → kişisel öneri sıralaması ve geçmiş</a:t>
            </a:r>
          </a:p>
        </p:txBody>
      </p:sp>
      <p:sp>
        <p:nvSpPr>
          <p:cNvPr id="364" name="Shape 33"/>
          <p:cNvSpPr/>
          <p:nvPr/>
        </p:nvSpPr>
        <p:spPr>
          <a:xfrm>
            <a:off x="6729983" y="3063239"/>
            <a:ext cx="1993393" cy="1143001"/>
          </a:xfrm>
          <a:prstGeom prst="rect">
            <a:avLst/>
          </a:prstGeom>
          <a:solidFill>
            <a:srgbClr val="FFFFFF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5" name="Text 34"/>
          <p:cNvSpPr txBox="1"/>
          <p:nvPr/>
        </p:nvSpPr>
        <p:spPr>
          <a:xfrm>
            <a:off x="6867143" y="3191763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800">
                <a:solidFill>
                  <a:srgbClr val="C2410C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366" name="Text 35"/>
          <p:cNvSpPr txBox="1"/>
          <p:nvPr/>
        </p:nvSpPr>
        <p:spPr>
          <a:xfrm>
            <a:off x="6867143" y="3447332"/>
            <a:ext cx="1783080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000">
                <a:solidFill>
                  <a:srgbClr val="1F2937"/>
                </a:solidFill>
              </a:defRPr>
            </a:lvl1pPr>
          </a:lstStyle>
          <a:p>
            <a:pPr/>
            <a:r>
              <a:t>Sistem Özeti</a:t>
            </a:r>
          </a:p>
        </p:txBody>
      </p:sp>
      <p:sp>
        <p:nvSpPr>
          <p:cNvPr id="367" name="Text 36"/>
          <p:cNvSpPr txBox="1"/>
          <p:nvPr/>
        </p:nvSpPr>
        <p:spPr>
          <a:xfrm>
            <a:off x="6867143" y="3685032"/>
            <a:ext cx="1783080" cy="2315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800">
                <a:solidFill>
                  <a:srgbClr val="374151"/>
                </a:solidFill>
              </a:defRPr>
            </a:lvl1pPr>
          </a:lstStyle>
          <a:p>
            <a:pPr/>
            <a:r>
              <a:t>Genel KPI dökümü ve kategori karşılaştırma radarı</a:t>
            </a:r>
          </a:p>
        </p:txBody>
      </p:sp>
      <p:sp>
        <p:nvSpPr>
          <p:cNvPr id="368" name="Shape 37"/>
          <p:cNvSpPr/>
          <p:nvPr/>
        </p:nvSpPr>
        <p:spPr>
          <a:xfrm>
            <a:off x="365759" y="4434840"/>
            <a:ext cx="8412482" cy="320041"/>
          </a:xfrm>
          <a:prstGeom prst="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69" name="Text 38"/>
          <p:cNvSpPr txBox="1"/>
          <p:nvPr/>
        </p:nvSpPr>
        <p:spPr>
          <a:xfrm>
            <a:off x="365759" y="4526324"/>
            <a:ext cx="8412482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defRPr sz="1000">
                <a:solidFill>
                  <a:srgbClr val="6B7280"/>
                </a:solidFill>
              </a:defRPr>
            </a:pPr>
            <a:r>
              <a:t>Canlı: </a:t>
            </a:r>
            <a:r>
              <a:rPr b="1"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2" invalidUrl="" action="" tgtFrame="" tooltip="" history="1" highlightClick="0" endSnd="0"/>
              </a:rPr>
              <a:t>shoplens.streamlit.app</a:t>
            </a:r>
            <a:r>
              <a:t>      Kod: </a:t>
            </a:r>
            <a:r>
              <a:rPr b="1" u="sng">
                <a:solidFill>
                  <a:srgbClr val="0563C1"/>
                </a:solidFill>
                <a:uFill>
                  <a:solidFill>
                    <a:srgbClr val="0563C1"/>
                  </a:solidFill>
                </a:uFill>
                <a:hlinkClick r:id="rId3" invalidUrl="" action="" tgtFrame="" tooltip="" history="1" highlightClick="0" endSnd="0"/>
              </a:rPr>
              <a:t>github.com/ozgunes91/ShopLens</a:t>
            </a:r>
          </a:p>
        </p:txBody>
      </p:sp>
      <p:sp>
        <p:nvSpPr>
          <p:cNvPr id="370" name="Text 39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371" name="Text 40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11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 txBox="1"/>
          <p:nvPr/>
        </p:nvSpPr>
        <p:spPr>
          <a:xfrm>
            <a:off x="365759" y="291523"/>
            <a:ext cx="1371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300">
                <a:solidFill>
                  <a:srgbClr val="1F2937"/>
                </a:solidFill>
              </a:defRPr>
            </a:pPr>
            <a:r>
              <a:t>Shop</a:t>
            </a:r>
            <a:r>
              <a:rPr>
                <a:solidFill>
                  <a:srgbClr val="C2410C"/>
                </a:solidFill>
              </a:rPr>
              <a:t>Lens</a:t>
            </a:r>
          </a:p>
        </p:txBody>
      </p:sp>
      <p:sp>
        <p:nvSpPr>
          <p:cNvPr id="374" name="Text 1"/>
          <p:cNvSpPr txBox="1"/>
          <p:nvPr/>
        </p:nvSpPr>
        <p:spPr>
          <a:xfrm>
            <a:off x="6858000" y="306831"/>
            <a:ext cx="182880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11 · Kapanış</a:t>
            </a:r>
          </a:p>
        </p:txBody>
      </p:sp>
      <p:sp>
        <p:nvSpPr>
          <p:cNvPr id="375" name="Shape 2"/>
          <p:cNvSpPr/>
          <p:nvPr/>
        </p:nvSpPr>
        <p:spPr>
          <a:xfrm>
            <a:off x="365759" y="5943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76" name="Text 3"/>
          <p:cNvSpPr txBox="1"/>
          <p:nvPr/>
        </p:nvSpPr>
        <p:spPr>
          <a:xfrm>
            <a:off x="365759" y="858872"/>
            <a:ext cx="8412482" cy="2939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2200">
                <a:solidFill>
                  <a:srgbClr val="1F2937"/>
                </a:solidFill>
              </a:defRPr>
            </a:lvl1pPr>
          </a:lstStyle>
          <a:p>
            <a:pPr/>
            <a:r>
              <a:t>Sonuç ve Geliştirme Önerileri</a:t>
            </a:r>
          </a:p>
        </p:txBody>
      </p:sp>
      <p:sp>
        <p:nvSpPr>
          <p:cNvPr id="377" name="Text 4"/>
          <p:cNvSpPr txBox="1"/>
          <p:nvPr/>
        </p:nvSpPr>
        <p:spPr>
          <a:xfrm>
            <a:off x="365759" y="1395906"/>
            <a:ext cx="8412482" cy="1342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i="1" sz="1100">
                <a:solidFill>
                  <a:srgbClr val="6B7280"/>
                </a:solidFill>
              </a:defRPr>
            </a:lvl1pPr>
          </a:lstStyle>
          <a:p>
            <a:pPr/>
            <a:r>
              <a:t>Proje hedeflerinin karşılanma durumu ve sonraki adımlar.</a:t>
            </a:r>
          </a:p>
        </p:txBody>
      </p:sp>
      <p:sp>
        <p:nvSpPr>
          <p:cNvPr id="378" name="Text 5"/>
          <p:cNvSpPr txBox="1"/>
          <p:nvPr/>
        </p:nvSpPr>
        <p:spPr>
          <a:xfrm>
            <a:off x="365759" y="1796087"/>
            <a:ext cx="4114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Ne yapıldı?</a:t>
            </a:r>
          </a:p>
        </p:txBody>
      </p:sp>
      <p:sp>
        <p:nvSpPr>
          <p:cNvPr id="379" name="Text 6"/>
          <p:cNvSpPr txBox="1"/>
          <p:nvPr/>
        </p:nvSpPr>
        <p:spPr>
          <a:xfrm>
            <a:off x="365759" y="2152455"/>
            <a:ext cx="411480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000">
                <a:solidFill>
                  <a:srgbClr val="374151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t>7 tablo iş mantığına göre birleştirildi</a:t>
            </a:r>
          </a:p>
        </p:txBody>
      </p:sp>
      <p:sp>
        <p:nvSpPr>
          <p:cNvPr id="380" name="Text 7"/>
          <p:cNvSpPr txBox="1"/>
          <p:nvPr/>
        </p:nvSpPr>
        <p:spPr>
          <a:xfrm>
            <a:off x="365759" y="2445063"/>
            <a:ext cx="411480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000">
                <a:solidFill>
                  <a:srgbClr val="374151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t>Eksik değerler yapısal olarak ele alındı</a:t>
            </a:r>
          </a:p>
        </p:txBody>
      </p:sp>
      <p:sp>
        <p:nvSpPr>
          <p:cNvPr id="381" name="Text 8"/>
          <p:cNvSpPr txBox="1"/>
          <p:nvPr/>
        </p:nvSpPr>
        <p:spPr>
          <a:xfrm>
            <a:off x="365759" y="2737671"/>
            <a:ext cx="411480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000">
                <a:solidFill>
                  <a:srgbClr val="374151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t>VADER + rating hibrit duygu analizi yapıldı</a:t>
            </a:r>
          </a:p>
        </p:txBody>
      </p:sp>
      <p:sp>
        <p:nvSpPr>
          <p:cNvPr id="382" name="Text 9"/>
          <p:cNvSpPr txBox="1"/>
          <p:nvPr/>
        </p:nvSpPr>
        <p:spPr>
          <a:xfrm>
            <a:off x="365759" y="3030279"/>
            <a:ext cx="411480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000">
                <a:solidFill>
                  <a:srgbClr val="374151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t>Ürün ve müşteri seviyeli iki ayrı model kuruldu</a:t>
            </a:r>
          </a:p>
        </p:txBody>
      </p:sp>
      <p:sp>
        <p:nvSpPr>
          <p:cNvPr id="383" name="Text 10"/>
          <p:cNvSpPr txBox="1"/>
          <p:nvPr/>
        </p:nvSpPr>
        <p:spPr>
          <a:xfrm>
            <a:off x="365759" y="3322887"/>
            <a:ext cx="411480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000">
                <a:solidFill>
                  <a:srgbClr val="374151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t>RFM ile 6 segmentlik müşteri haritası çıkarıldı</a:t>
            </a:r>
          </a:p>
        </p:txBody>
      </p:sp>
      <p:sp>
        <p:nvSpPr>
          <p:cNvPr id="384" name="Text 11"/>
          <p:cNvSpPr txBox="1"/>
          <p:nvPr/>
        </p:nvSpPr>
        <p:spPr>
          <a:xfrm>
            <a:off x="365759" y="3615495"/>
            <a:ext cx="4114801" cy="1573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sz="1000">
                <a:solidFill>
                  <a:srgbClr val="374151"/>
                </a:solidFill>
              </a:defRPr>
            </a:pPr>
            <a:r>
              <a:rPr>
                <a:latin typeface="+mj-lt"/>
                <a:ea typeface="+mj-ea"/>
                <a:cs typeface="+mj-cs"/>
                <a:sym typeface="Helvetica"/>
              </a:rPr>
              <a:t>✓  </a:t>
            </a:r>
            <a:r>
              <a:t>Sonuçlar Streamlit dashboard'unda yayınlandı</a:t>
            </a:r>
          </a:p>
        </p:txBody>
      </p:sp>
      <p:sp>
        <p:nvSpPr>
          <p:cNvPr id="385" name="Text 12"/>
          <p:cNvSpPr txBox="1"/>
          <p:nvPr/>
        </p:nvSpPr>
        <p:spPr>
          <a:xfrm>
            <a:off x="4663440" y="1796087"/>
            <a:ext cx="4114801" cy="1568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z="1200">
                <a:solidFill>
                  <a:srgbClr val="1F2937"/>
                </a:solidFill>
              </a:defRPr>
            </a:lvl1pPr>
          </a:lstStyle>
          <a:p>
            <a:pPr/>
            <a:r>
              <a:t>Geliştirme önerileri</a:t>
            </a:r>
          </a:p>
        </p:txBody>
      </p:sp>
      <p:sp>
        <p:nvSpPr>
          <p:cNvPr id="386" name="Text 13"/>
          <p:cNvSpPr txBox="1"/>
          <p:nvPr/>
        </p:nvSpPr>
        <p:spPr>
          <a:xfrm>
            <a:off x="4663440" y="2162600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→  Gerçek mağaza verisiyle zaman bazlı doğrulama</a:t>
            </a:r>
          </a:p>
        </p:txBody>
      </p:sp>
      <p:sp>
        <p:nvSpPr>
          <p:cNvPr id="387" name="Text 14"/>
          <p:cNvSpPr txBox="1"/>
          <p:nvPr/>
        </p:nvSpPr>
        <p:spPr>
          <a:xfrm>
            <a:off x="4663440" y="2455208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→  Kişisel modelin canlı A/B testi ile sınanması</a:t>
            </a:r>
          </a:p>
        </p:txBody>
      </p:sp>
      <p:sp>
        <p:nvSpPr>
          <p:cNvPr id="388" name="Text 15"/>
          <p:cNvSpPr txBox="1"/>
          <p:nvPr/>
        </p:nvSpPr>
        <p:spPr>
          <a:xfrm>
            <a:off x="4663440" y="2747816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→  RFM yerine KMeans tabanlı segmentasyon denemesi</a:t>
            </a:r>
          </a:p>
        </p:txBody>
      </p:sp>
      <p:sp>
        <p:nvSpPr>
          <p:cNvPr id="389" name="Text 16"/>
          <p:cNvSpPr txBox="1"/>
          <p:nvPr/>
        </p:nvSpPr>
        <p:spPr>
          <a:xfrm>
            <a:off x="4663440" y="3040424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→  Çok dilli yorum desteği için VADER yerine BERT</a:t>
            </a:r>
          </a:p>
        </p:txBody>
      </p:sp>
      <p:sp>
        <p:nvSpPr>
          <p:cNvPr id="390" name="Text 17"/>
          <p:cNvSpPr txBox="1"/>
          <p:nvPr/>
        </p:nvSpPr>
        <p:spPr>
          <a:xfrm>
            <a:off x="4663440" y="3333032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→  Soğuk başlangıç (yeni müşteri) için içerik bazlı öneri</a:t>
            </a:r>
          </a:p>
        </p:txBody>
      </p:sp>
      <p:sp>
        <p:nvSpPr>
          <p:cNvPr id="391" name="Text 18"/>
          <p:cNvSpPr txBox="1"/>
          <p:nvPr/>
        </p:nvSpPr>
        <p:spPr>
          <a:xfrm>
            <a:off x="4663440" y="3625640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000">
                <a:solidFill>
                  <a:srgbClr val="374151"/>
                </a:solidFill>
              </a:defRPr>
            </a:lvl1pPr>
          </a:lstStyle>
          <a:p>
            <a:pPr/>
            <a:r>
              <a:t>→  Model izleme paneli ve veri kayması kontrolleri</a:t>
            </a:r>
          </a:p>
        </p:txBody>
      </p:sp>
      <p:sp>
        <p:nvSpPr>
          <p:cNvPr id="392" name="Shape 19"/>
          <p:cNvSpPr/>
          <p:nvPr/>
        </p:nvSpPr>
        <p:spPr>
          <a:xfrm>
            <a:off x="365759" y="4251959"/>
            <a:ext cx="8412481" cy="1"/>
          </a:xfrm>
          <a:prstGeom prst="line">
            <a:avLst/>
          </a:prstGeom>
          <a:ln>
            <a:solidFill>
              <a:srgbClr val="E5E7EB"/>
            </a:solidFill>
          </a:ln>
        </p:spPr>
        <p:txBody>
          <a:bodyPr lIns="45719" rIns="45719"/>
          <a:lstStyle/>
          <a:p>
            <a:pPr/>
          </a:p>
        </p:txBody>
      </p:sp>
      <p:sp>
        <p:nvSpPr>
          <p:cNvPr id="393" name="Text 20"/>
          <p:cNvSpPr txBox="1"/>
          <p:nvPr/>
        </p:nvSpPr>
        <p:spPr>
          <a:xfrm>
            <a:off x="365759" y="4432888"/>
            <a:ext cx="4114801" cy="2416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>
                <a:solidFill>
                  <a:srgbClr val="1F2937"/>
                </a:solidFill>
              </a:defRPr>
            </a:lvl1pPr>
          </a:lstStyle>
          <a:p>
            <a:pPr/>
            <a:r>
              <a:t>Teşekkürler</a:t>
            </a:r>
          </a:p>
        </p:txBody>
      </p:sp>
      <p:sp>
        <p:nvSpPr>
          <p:cNvPr id="394" name="Text 21"/>
          <p:cNvSpPr txBox="1"/>
          <p:nvPr/>
        </p:nvSpPr>
        <p:spPr>
          <a:xfrm>
            <a:off x="4663440" y="4503464"/>
            <a:ext cx="4114801" cy="137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1000">
                <a:solidFill>
                  <a:srgbClr val="C2410C"/>
                </a:solidFill>
              </a:defRPr>
            </a:lvl1pPr>
          </a:lstStyle>
          <a:p>
            <a:pPr/>
            <a:r>
              <a:t>shoplens.streamlit.app  ·  github.com/ozgunes91/ShopLens</a:t>
            </a:r>
          </a:p>
        </p:txBody>
      </p:sp>
      <p:sp>
        <p:nvSpPr>
          <p:cNvPr id="395" name="Text 22"/>
          <p:cNvSpPr txBox="1"/>
          <p:nvPr/>
        </p:nvSpPr>
        <p:spPr>
          <a:xfrm>
            <a:off x="365759" y="4892548"/>
            <a:ext cx="64008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Özge Güneş  ·  İSMEK Yapay Zekâ ve Veri Bilimi</a:t>
            </a:r>
          </a:p>
        </p:txBody>
      </p:sp>
      <p:sp>
        <p:nvSpPr>
          <p:cNvPr id="396" name="Text 23"/>
          <p:cNvSpPr txBox="1"/>
          <p:nvPr/>
        </p:nvSpPr>
        <p:spPr>
          <a:xfrm>
            <a:off x="8321040" y="4892548"/>
            <a:ext cx="4572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r">
              <a:defRPr sz="800">
                <a:solidFill>
                  <a:srgbClr val="6B7280"/>
                </a:solidFill>
              </a:defRPr>
            </a:lvl1pPr>
          </a:lstStyle>
          <a:p>
            <a:pPr/>
            <a:r>
              <a:t>12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