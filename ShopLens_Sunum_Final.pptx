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  <Override PartName="/ppt/media/image2.jpeg" ContentType="image/jpeg"/>
  <Override PartName="/ppt/media/image3.jpeg" ContentType="image/jpeg"/>
  <Override PartName="/ppt/media/image4.jpeg" ContentType="image/jpeg"/>
  <Override PartName="/ppt/media/image5.jpeg" ContentType="image/jpeg"/>
  <Override PartName="/ppt/media/image6.jpeg" ContentType="image/jpeg"/>
  <Override PartName="/ppt/media/image7.jpeg" ContentType="image/jpeg"/>
  <Override PartName="/ppt/media/image8.jpeg" ContentType="image/jpeg"/>
  <Override PartName="/ppt/media/image9.jpeg" ContentType="image/jpeg"/>
  <Override PartName="/ppt/media/image10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9144000" cy="51435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ayt Numarası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Metni"/>
          <p:cNvSpPr txBox="1"/>
          <p:nvPr>
            <p:ph type="title"/>
          </p:nvPr>
        </p:nvSpPr>
        <p:spPr>
          <a:xfrm>
            <a:off x="457200" y="69056"/>
            <a:ext cx="8229600" cy="11310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Başlık Metni</a:t>
            </a:r>
          </a:p>
        </p:txBody>
      </p:sp>
      <p:sp>
        <p:nvSpPr>
          <p:cNvPr id="3" name="Gövde Düzeyi Bir…"/>
          <p:cNvSpPr txBox="1"/>
          <p:nvPr>
            <p:ph type="body" idx="1"/>
          </p:nvPr>
        </p:nvSpPr>
        <p:spPr>
          <a:xfrm>
            <a:off x="457200" y="1200150"/>
            <a:ext cx="8229600" cy="39433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Gövde Düzeyi Bir</a:t>
            </a:r>
          </a:p>
          <a:p>
            <a:pPr lvl="1"/>
            <a:r>
              <a:t>Gövde Düzeyi İki</a:t>
            </a:r>
          </a:p>
          <a:p>
            <a:pPr lvl="2"/>
            <a:r>
              <a:t>Gövde Düzeyi Üç</a:t>
            </a:r>
          </a:p>
          <a:p>
            <a:pPr lvl="3"/>
            <a:r>
              <a:t>Gövde Düzeyi Dört</a:t>
            </a:r>
          </a:p>
          <a:p>
            <a:pPr lvl="4"/>
            <a:r>
              <a:t>Gövde Düzeyi Beş</a:t>
            </a:r>
          </a:p>
        </p:txBody>
      </p:sp>
      <p:sp>
        <p:nvSpPr>
          <p:cNvPr id="4" name="Slayt Numarası"/>
          <p:cNvSpPr txBox="1"/>
          <p:nvPr>
            <p:ph type="sldNum" sz="quarter" idx="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e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jpe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jpeg"/><Relationship Id="rId3" Type="http://schemas.openxmlformats.org/officeDocument/2006/relationships/image" Target="../media/image6.jpe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jpeg"/><Relationship Id="rId3" Type="http://schemas.openxmlformats.org/officeDocument/2006/relationships/image" Target="../media/image8.jpe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jpeg"/><Relationship Id="rId3" Type="http://schemas.openxmlformats.org/officeDocument/2006/relationships/image" Target="../media/image10.jpe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0" y="0"/>
            <a:ext cx="429768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1" name="Shape 1"/>
          <p:cNvSpPr/>
          <p:nvPr/>
        </p:nvSpPr>
        <p:spPr>
          <a:xfrm>
            <a:off x="-1" y="0"/>
            <a:ext cx="347474" cy="5143500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2" name="Text 2"/>
          <p:cNvSpPr txBox="1"/>
          <p:nvPr/>
        </p:nvSpPr>
        <p:spPr>
          <a:xfrm>
            <a:off x="530351" y="727888"/>
            <a:ext cx="3474722" cy="5101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4000">
                <a:solidFill>
                  <a:srgbClr val="1B2A4A"/>
                </a:solidFill>
              </a:defRPr>
            </a:pPr>
            <a:r>
              <a:t>Shop</a:t>
            </a:r>
            <a:r>
              <a:rPr>
                <a:solidFill>
                  <a:srgbClr val="D04F18"/>
                </a:solidFill>
              </a:rPr>
              <a:t>Lens</a:t>
            </a:r>
          </a:p>
        </p:txBody>
      </p:sp>
      <p:sp>
        <p:nvSpPr>
          <p:cNvPr id="23" name="Shape 3"/>
          <p:cNvSpPr/>
          <p:nvPr/>
        </p:nvSpPr>
        <p:spPr>
          <a:xfrm>
            <a:off x="530351" y="1371600"/>
            <a:ext cx="3474722" cy="36577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4" name="Text 4"/>
          <p:cNvSpPr txBox="1"/>
          <p:nvPr/>
        </p:nvSpPr>
        <p:spPr>
          <a:xfrm>
            <a:off x="530351" y="1730398"/>
            <a:ext cx="3566161" cy="4711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0000"/>
              </a:lnSpc>
              <a:defRPr sz="1500">
                <a:solidFill>
                  <a:srgbClr val="3D4F66"/>
                </a:solidFill>
              </a:defRPr>
            </a:pPr>
            <a:r>
              <a:t>E-Ticaret Davranış Analizi</a:t>
            </a:r>
          </a:p>
          <a:p>
            <a:pPr>
              <a:lnSpc>
                <a:spcPct val="130000"/>
              </a:lnSpc>
              <a:defRPr sz="1500">
                <a:solidFill>
                  <a:srgbClr val="3D4F66"/>
                </a:solidFill>
              </a:defRPr>
            </a:pPr>
            <a:r>
              <a:t>ve Akıllı Ürün Öneri Sistemi</a:t>
            </a:r>
          </a:p>
        </p:txBody>
      </p:sp>
      <p:sp>
        <p:nvSpPr>
          <p:cNvPr id="25" name="Text 5"/>
          <p:cNvSpPr txBox="1"/>
          <p:nvPr/>
        </p:nvSpPr>
        <p:spPr>
          <a:xfrm>
            <a:off x="530351" y="2731254"/>
            <a:ext cx="3520442" cy="3530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40000"/>
              </a:lnSpc>
              <a:defRPr sz="1100">
                <a:solidFill>
                  <a:srgbClr val="6B7A99"/>
                </a:solidFill>
              </a:defRPr>
            </a:pPr>
            <a:r>
              <a:t>Müşteri davranışı, sipariş geçmişi ve yorum verisini</a:t>
            </a:r>
          </a:p>
          <a:p>
            <a:pPr>
              <a:lnSpc>
                <a:spcPct val="140000"/>
              </a:lnSpc>
              <a:defRPr sz="1100">
                <a:solidFill>
                  <a:srgbClr val="6B7A99"/>
                </a:solidFill>
              </a:defRPr>
            </a:pPr>
            <a:r>
              <a:t>birleştirerek kişiye özel öneri üreten bitirme projesi</a:t>
            </a:r>
          </a:p>
        </p:txBody>
      </p:sp>
      <p:sp>
        <p:nvSpPr>
          <p:cNvPr id="26" name="Text 6"/>
          <p:cNvSpPr txBox="1"/>
          <p:nvPr/>
        </p:nvSpPr>
        <p:spPr>
          <a:xfrm>
            <a:off x="530351" y="3530092"/>
            <a:ext cx="35661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6B7A99"/>
                </a:solidFill>
              </a:defRPr>
            </a:lvl1pPr>
          </a:lstStyle>
          <a:p>
            <a:pPr/>
            <a:r>
              <a:t>Hazırlayan</a:t>
            </a:r>
          </a:p>
        </p:txBody>
      </p:sp>
      <p:sp>
        <p:nvSpPr>
          <p:cNvPr id="27" name="Text 7"/>
          <p:cNvSpPr txBox="1"/>
          <p:nvPr/>
        </p:nvSpPr>
        <p:spPr>
          <a:xfrm>
            <a:off x="530351" y="3750486"/>
            <a:ext cx="356616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1B2A4A"/>
                </a:solidFill>
              </a:defRPr>
            </a:lvl1pPr>
          </a:lstStyle>
          <a:p>
            <a:pPr/>
            <a:r>
              <a:t>Özge Güneş</a:t>
            </a:r>
          </a:p>
        </p:txBody>
      </p:sp>
      <p:sp>
        <p:nvSpPr>
          <p:cNvPr id="28" name="Text 8"/>
          <p:cNvSpPr txBox="1"/>
          <p:nvPr/>
        </p:nvSpPr>
        <p:spPr>
          <a:xfrm>
            <a:off x="530351" y="4005580"/>
            <a:ext cx="35661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6B7A99"/>
                </a:solidFill>
              </a:defRPr>
            </a:lvl1pPr>
          </a:lstStyle>
          <a:p>
            <a:pPr/>
            <a:r>
              <a:t>Ders</a:t>
            </a:r>
          </a:p>
        </p:txBody>
      </p:sp>
      <p:sp>
        <p:nvSpPr>
          <p:cNvPr id="29" name="Text 9"/>
          <p:cNvSpPr txBox="1"/>
          <p:nvPr/>
        </p:nvSpPr>
        <p:spPr>
          <a:xfrm>
            <a:off x="530351" y="4225974"/>
            <a:ext cx="356616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1B2A4A"/>
                </a:solidFill>
              </a:defRPr>
            </a:lvl1pPr>
          </a:lstStyle>
          <a:p>
            <a:pPr/>
            <a:r>
              <a:t>İSMEK · Yapay Zekâ ve Veri Bilimi</a:t>
            </a:r>
          </a:p>
        </p:txBody>
      </p:sp>
      <p:sp>
        <p:nvSpPr>
          <p:cNvPr id="30" name="Text 10"/>
          <p:cNvSpPr txBox="1"/>
          <p:nvPr/>
        </p:nvSpPr>
        <p:spPr>
          <a:xfrm>
            <a:off x="530351" y="4481068"/>
            <a:ext cx="35661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6B7A99"/>
                </a:solidFill>
              </a:defRPr>
            </a:lvl1pPr>
          </a:lstStyle>
          <a:p>
            <a:pPr/>
            <a:r>
              <a:t>Tarih</a:t>
            </a:r>
          </a:p>
        </p:txBody>
      </p:sp>
      <p:sp>
        <p:nvSpPr>
          <p:cNvPr id="31" name="Text 11"/>
          <p:cNvSpPr txBox="1"/>
          <p:nvPr/>
        </p:nvSpPr>
        <p:spPr>
          <a:xfrm>
            <a:off x="530351" y="4701462"/>
            <a:ext cx="3566161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1B2A4A"/>
                </a:solidFill>
              </a:defRPr>
            </a:lvl1pPr>
          </a:lstStyle>
          <a:p>
            <a:pPr/>
            <a:r>
              <a:t>Mayıs 2026</a:t>
            </a:r>
          </a:p>
        </p:txBody>
      </p:sp>
      <p:pic>
        <p:nvPicPr>
          <p:cNvPr id="32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434840" y="201168"/>
            <a:ext cx="4526281" cy="2788921"/>
          </a:xfrm>
          <a:prstGeom prst="rect">
            <a:avLst/>
          </a:prstGeom>
          <a:ln w="12700">
            <a:miter lim="400000"/>
          </a:ln>
        </p:spPr>
      </p:pic>
      <p:sp>
        <p:nvSpPr>
          <p:cNvPr id="33" name="Shape 12"/>
          <p:cNvSpPr/>
          <p:nvPr/>
        </p:nvSpPr>
        <p:spPr>
          <a:xfrm>
            <a:off x="4434840" y="3108960"/>
            <a:ext cx="1097281" cy="822961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  <a:effectLst>
            <a:outerShdw sx="100000" sy="100000" kx="0" ky="0" algn="b" rotWithShape="0" blurRad="76200" dist="25400" dir="8100000">
              <a:srgbClr val="8A9BB0">
                <a:alpha val="1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34" name="Text 13"/>
          <p:cNvSpPr txBox="1"/>
          <p:nvPr/>
        </p:nvSpPr>
        <p:spPr>
          <a:xfrm>
            <a:off x="4434840" y="3225880"/>
            <a:ext cx="1097281" cy="241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>
                <a:solidFill>
                  <a:srgbClr val="D04F18"/>
                </a:solidFill>
              </a:defRPr>
            </a:lvl1pPr>
          </a:lstStyle>
          <a:p>
            <a:pPr/>
            <a:r>
              <a:t>1M+</a:t>
            </a:r>
          </a:p>
        </p:txBody>
      </p:sp>
      <p:sp>
        <p:nvSpPr>
          <p:cNvPr id="35" name="Text 14"/>
          <p:cNvSpPr txBox="1"/>
          <p:nvPr/>
        </p:nvSpPr>
        <p:spPr>
          <a:xfrm>
            <a:off x="4434840" y="3547871"/>
            <a:ext cx="10972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solidFill>
                  <a:srgbClr val="6B7A99"/>
                </a:solidFill>
              </a:defRPr>
            </a:lvl1pPr>
          </a:lstStyle>
          <a:p>
            <a:pPr/>
            <a:r>
              <a:t>Gözlem</a:t>
            </a:r>
          </a:p>
        </p:txBody>
      </p:sp>
      <p:sp>
        <p:nvSpPr>
          <p:cNvPr id="36" name="Shape 15"/>
          <p:cNvSpPr/>
          <p:nvPr/>
        </p:nvSpPr>
        <p:spPr>
          <a:xfrm>
            <a:off x="5586984" y="3108960"/>
            <a:ext cx="1097281" cy="822961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  <a:effectLst>
            <a:outerShdw sx="100000" sy="100000" kx="0" ky="0" algn="b" rotWithShape="0" blurRad="76200" dist="25400" dir="8100000">
              <a:srgbClr val="8A9BB0">
                <a:alpha val="1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37" name="Text 16"/>
          <p:cNvSpPr txBox="1"/>
          <p:nvPr/>
        </p:nvSpPr>
        <p:spPr>
          <a:xfrm>
            <a:off x="5586984" y="3225880"/>
            <a:ext cx="1097281" cy="241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>
                <a:solidFill>
                  <a:srgbClr val="D04F18"/>
                </a:solidFill>
              </a:defRPr>
            </a:lvl1pPr>
          </a:lstStyle>
          <a:p>
            <a:pPr/>
            <a:r>
              <a:t>7</a:t>
            </a:r>
          </a:p>
        </p:txBody>
      </p:sp>
      <p:sp>
        <p:nvSpPr>
          <p:cNvPr id="38" name="Text 17"/>
          <p:cNvSpPr txBox="1"/>
          <p:nvPr/>
        </p:nvSpPr>
        <p:spPr>
          <a:xfrm>
            <a:off x="5586984" y="3547871"/>
            <a:ext cx="10972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solidFill>
                  <a:srgbClr val="6B7A99"/>
                </a:solidFill>
              </a:defRPr>
            </a:lvl1pPr>
          </a:lstStyle>
          <a:p>
            <a:pPr/>
            <a:r>
              <a:t>Tablo</a:t>
            </a:r>
          </a:p>
        </p:txBody>
      </p:sp>
      <p:sp>
        <p:nvSpPr>
          <p:cNvPr id="39" name="Shape 18"/>
          <p:cNvSpPr/>
          <p:nvPr/>
        </p:nvSpPr>
        <p:spPr>
          <a:xfrm>
            <a:off x="6739128" y="3108960"/>
            <a:ext cx="1097281" cy="822961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  <a:effectLst>
            <a:outerShdw sx="100000" sy="100000" kx="0" ky="0" algn="b" rotWithShape="0" blurRad="76200" dist="25400" dir="8100000">
              <a:srgbClr val="8A9BB0">
                <a:alpha val="1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40" name="Text 19"/>
          <p:cNvSpPr txBox="1"/>
          <p:nvPr/>
        </p:nvSpPr>
        <p:spPr>
          <a:xfrm>
            <a:off x="6739128" y="3225880"/>
            <a:ext cx="1097281" cy="241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>
                <a:solidFill>
                  <a:srgbClr val="D04F18"/>
                </a:solidFill>
              </a:defRPr>
            </a:lvl1pPr>
          </a:lstStyle>
          <a:p>
            <a:pPr/>
            <a:r>
              <a:t>0.913</a:t>
            </a:r>
          </a:p>
        </p:txBody>
      </p:sp>
      <p:sp>
        <p:nvSpPr>
          <p:cNvPr id="41" name="Text 20"/>
          <p:cNvSpPr txBox="1"/>
          <p:nvPr/>
        </p:nvSpPr>
        <p:spPr>
          <a:xfrm>
            <a:off x="6739128" y="3547871"/>
            <a:ext cx="10972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solidFill>
                  <a:srgbClr val="6B7A99"/>
                </a:solidFill>
              </a:defRPr>
            </a:lvl1pPr>
          </a:lstStyle>
          <a:p>
            <a:pPr/>
            <a:r>
              <a:t>Ürün AUC</a:t>
            </a:r>
          </a:p>
        </p:txBody>
      </p:sp>
      <p:sp>
        <p:nvSpPr>
          <p:cNvPr id="42" name="Shape 21"/>
          <p:cNvSpPr/>
          <p:nvPr/>
        </p:nvSpPr>
        <p:spPr>
          <a:xfrm>
            <a:off x="7891271" y="3108960"/>
            <a:ext cx="1097281" cy="822961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  <a:effectLst>
            <a:outerShdw sx="100000" sy="100000" kx="0" ky="0" algn="b" rotWithShape="0" blurRad="76200" dist="25400" dir="8100000">
              <a:srgbClr val="8A9BB0">
                <a:alpha val="1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43" name="Text 22"/>
          <p:cNvSpPr txBox="1"/>
          <p:nvPr/>
        </p:nvSpPr>
        <p:spPr>
          <a:xfrm>
            <a:off x="7891271" y="3225880"/>
            <a:ext cx="1097281" cy="241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>
                <a:solidFill>
                  <a:srgbClr val="D04F18"/>
                </a:solidFill>
              </a:defRPr>
            </a:lvl1pPr>
          </a:lstStyle>
          <a:p>
            <a:pPr/>
            <a:r>
              <a:t>0.954</a:t>
            </a:r>
          </a:p>
        </p:txBody>
      </p:sp>
      <p:sp>
        <p:nvSpPr>
          <p:cNvPr id="44" name="Text 23"/>
          <p:cNvSpPr txBox="1"/>
          <p:nvPr/>
        </p:nvSpPr>
        <p:spPr>
          <a:xfrm>
            <a:off x="7891271" y="3547871"/>
            <a:ext cx="10972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800">
                <a:solidFill>
                  <a:srgbClr val="6B7A99"/>
                </a:solidFill>
              </a:defRPr>
            </a:lvl1pPr>
          </a:lstStyle>
          <a:p>
            <a:pPr/>
            <a:r>
              <a:t>Kişisel AUC</a:t>
            </a:r>
          </a:p>
        </p:txBody>
      </p:sp>
      <p:sp>
        <p:nvSpPr>
          <p:cNvPr id="45" name="Shape 24"/>
          <p:cNvSpPr/>
          <p:nvPr/>
        </p:nvSpPr>
        <p:spPr>
          <a:xfrm>
            <a:off x="4434840" y="4078223"/>
            <a:ext cx="914401" cy="256033"/>
          </a:xfrm>
          <a:prstGeom prst="roundRect">
            <a:avLst>
              <a:gd name="adj" fmla="val 14286"/>
            </a:avLst>
          </a:prstGeom>
          <a:solidFill>
            <a:srgbClr val="EDF0F7"/>
          </a:solidFill>
          <a:ln w="12700">
            <a:solidFill>
              <a:srgbClr val="D4DAE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6" name="Text 25"/>
          <p:cNvSpPr txBox="1"/>
          <p:nvPr/>
        </p:nvSpPr>
        <p:spPr>
          <a:xfrm>
            <a:off x="4434840" y="4142739"/>
            <a:ext cx="914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700">
                <a:solidFill>
                  <a:srgbClr val="3D4F66"/>
                </a:solidFill>
              </a:defRPr>
            </a:lvl1pPr>
          </a:lstStyle>
          <a:p>
            <a:pPr/>
            <a:r>
              <a:t>İkili Sınıflandırma</a:t>
            </a:r>
          </a:p>
        </p:txBody>
      </p:sp>
      <p:sp>
        <p:nvSpPr>
          <p:cNvPr id="47" name="Shape 26"/>
          <p:cNvSpPr/>
          <p:nvPr/>
        </p:nvSpPr>
        <p:spPr>
          <a:xfrm>
            <a:off x="5376671" y="4078223"/>
            <a:ext cx="914401" cy="256033"/>
          </a:xfrm>
          <a:prstGeom prst="roundRect">
            <a:avLst>
              <a:gd name="adj" fmla="val 14286"/>
            </a:avLst>
          </a:prstGeom>
          <a:solidFill>
            <a:srgbClr val="EDF0F7"/>
          </a:solidFill>
          <a:ln w="12700">
            <a:solidFill>
              <a:srgbClr val="D4DAE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8" name="Text 27"/>
          <p:cNvSpPr txBox="1"/>
          <p:nvPr/>
        </p:nvSpPr>
        <p:spPr>
          <a:xfrm>
            <a:off x="5376671" y="4142739"/>
            <a:ext cx="914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700">
                <a:solidFill>
                  <a:srgbClr val="3D4F66"/>
                </a:solidFill>
              </a:defRPr>
            </a:lvl1pPr>
          </a:lstStyle>
          <a:p>
            <a:pPr/>
            <a:r>
              <a:t>Random Forest</a:t>
            </a:r>
          </a:p>
        </p:txBody>
      </p:sp>
      <p:sp>
        <p:nvSpPr>
          <p:cNvPr id="49" name="Shape 28"/>
          <p:cNvSpPr/>
          <p:nvPr/>
        </p:nvSpPr>
        <p:spPr>
          <a:xfrm>
            <a:off x="6318503" y="4078223"/>
            <a:ext cx="914401" cy="256033"/>
          </a:xfrm>
          <a:prstGeom prst="roundRect">
            <a:avLst>
              <a:gd name="adj" fmla="val 14286"/>
            </a:avLst>
          </a:prstGeom>
          <a:solidFill>
            <a:srgbClr val="EDF0F7"/>
          </a:solidFill>
          <a:ln w="12700">
            <a:solidFill>
              <a:srgbClr val="D4DAE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0" name="Text 29"/>
          <p:cNvSpPr txBox="1"/>
          <p:nvPr/>
        </p:nvSpPr>
        <p:spPr>
          <a:xfrm>
            <a:off x="6318503" y="4142739"/>
            <a:ext cx="914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700">
                <a:solidFill>
                  <a:srgbClr val="3D4F66"/>
                </a:solidFill>
              </a:defRPr>
            </a:lvl1pPr>
          </a:lstStyle>
          <a:p>
            <a:pPr/>
            <a:r>
              <a:t>VADER</a:t>
            </a:r>
          </a:p>
        </p:txBody>
      </p:sp>
      <p:sp>
        <p:nvSpPr>
          <p:cNvPr id="51" name="Shape 30"/>
          <p:cNvSpPr/>
          <p:nvPr/>
        </p:nvSpPr>
        <p:spPr>
          <a:xfrm>
            <a:off x="7260335" y="4078223"/>
            <a:ext cx="914401" cy="256033"/>
          </a:xfrm>
          <a:prstGeom prst="roundRect">
            <a:avLst>
              <a:gd name="adj" fmla="val 14286"/>
            </a:avLst>
          </a:prstGeom>
          <a:solidFill>
            <a:srgbClr val="EDF0F7"/>
          </a:solidFill>
          <a:ln w="12700">
            <a:solidFill>
              <a:srgbClr val="D4DAE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2" name="Text 31"/>
          <p:cNvSpPr txBox="1"/>
          <p:nvPr/>
        </p:nvSpPr>
        <p:spPr>
          <a:xfrm>
            <a:off x="7260335" y="4142739"/>
            <a:ext cx="914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700">
                <a:solidFill>
                  <a:srgbClr val="3D4F66"/>
                </a:solidFill>
              </a:defRPr>
            </a:lvl1pPr>
          </a:lstStyle>
          <a:p>
            <a:pPr/>
            <a:r>
              <a:t>RFM Segmentasyon</a:t>
            </a:r>
          </a:p>
        </p:txBody>
      </p:sp>
      <p:sp>
        <p:nvSpPr>
          <p:cNvPr id="53" name="Shape 32"/>
          <p:cNvSpPr/>
          <p:nvPr/>
        </p:nvSpPr>
        <p:spPr>
          <a:xfrm>
            <a:off x="8202168" y="4078223"/>
            <a:ext cx="914401" cy="256033"/>
          </a:xfrm>
          <a:prstGeom prst="roundRect">
            <a:avLst>
              <a:gd name="adj" fmla="val 14286"/>
            </a:avLst>
          </a:prstGeom>
          <a:solidFill>
            <a:srgbClr val="EDF0F7"/>
          </a:solidFill>
          <a:ln w="12700">
            <a:solidFill>
              <a:srgbClr val="D4DAE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4" name="Text 33"/>
          <p:cNvSpPr txBox="1"/>
          <p:nvPr/>
        </p:nvSpPr>
        <p:spPr>
          <a:xfrm>
            <a:off x="8202168" y="4142739"/>
            <a:ext cx="914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700">
                <a:solidFill>
                  <a:srgbClr val="3D4F66"/>
                </a:solidFill>
              </a:defRPr>
            </a:lvl1pPr>
          </a:lstStyle>
          <a:p>
            <a:pPr/>
            <a:r>
              <a:t>Clickstream</a:t>
            </a:r>
          </a:p>
        </p:txBody>
      </p:sp>
      <p:sp>
        <p:nvSpPr>
          <p:cNvPr id="55" name="Shape 3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DF0F7"/>
          </a:solidFill>
          <a:ln w="12700">
            <a:solidFill>
              <a:srgbClr val="D4DAE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6" name="Text 35"/>
          <p:cNvSpPr txBox="1"/>
          <p:nvPr/>
        </p:nvSpPr>
        <p:spPr>
          <a:xfrm>
            <a:off x="274320" y="4954269"/>
            <a:ext cx="859536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800">
                <a:solidFill>
                  <a:srgbClr val="6B7A99"/>
                </a:solidFill>
              </a:defRPr>
            </a:lvl1pPr>
          </a:lstStyle>
          <a:p>
            <a:pPr/>
            <a:r>
              <a:t>shoplens.streamlit.app  ·  github.com/ozgunes91/ShopLens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Shape 0"/>
          <p:cNvSpPr/>
          <p:nvPr/>
        </p:nvSpPr>
        <p:spPr>
          <a:xfrm>
            <a:off x="0" y="-1"/>
            <a:ext cx="9144000" cy="475489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9" name="Shape 1"/>
          <p:cNvSpPr/>
          <p:nvPr/>
        </p:nvSpPr>
        <p:spPr>
          <a:xfrm>
            <a:off x="0" y="-1"/>
            <a:ext cx="256032" cy="475489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0" name="Text 2"/>
          <p:cNvSpPr txBox="1"/>
          <p:nvPr/>
        </p:nvSpPr>
        <p:spPr>
          <a:xfrm>
            <a:off x="347472" y="144465"/>
            <a:ext cx="137160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500">
                <a:solidFill>
                  <a:srgbClr val="1B2A4A"/>
                </a:solidFill>
              </a:defRPr>
            </a:pPr>
            <a:r>
              <a:t>Shop</a:t>
            </a:r>
            <a:r>
              <a:rPr>
                <a:solidFill>
                  <a:srgbClr val="D04F18"/>
                </a:solidFill>
              </a:rPr>
              <a:t>Lens</a:t>
            </a:r>
          </a:p>
        </p:txBody>
      </p:sp>
      <p:sp>
        <p:nvSpPr>
          <p:cNvPr id="61" name="Text 3"/>
          <p:cNvSpPr txBox="1"/>
          <p:nvPr/>
        </p:nvSpPr>
        <p:spPr>
          <a:xfrm>
            <a:off x="7132319" y="174243"/>
            <a:ext cx="192024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6B7A99"/>
                </a:solidFill>
              </a:defRPr>
            </a:lvl1pPr>
          </a:lstStyle>
          <a:p>
            <a:pPr/>
            <a:r>
              <a:t>01 · Problem</a:t>
            </a:r>
          </a:p>
        </p:txBody>
      </p:sp>
      <p:sp>
        <p:nvSpPr>
          <p:cNvPr id="62" name="Text 4"/>
          <p:cNvSpPr txBox="1"/>
          <p:nvPr/>
        </p:nvSpPr>
        <p:spPr>
          <a:xfrm>
            <a:off x="411479" y="677280"/>
            <a:ext cx="8321042" cy="346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600">
                <a:solidFill>
                  <a:srgbClr val="1B2A4A"/>
                </a:solidFill>
              </a:defRPr>
            </a:lvl1pPr>
          </a:lstStyle>
          <a:p>
            <a:pPr/>
            <a:r>
              <a:t>Problem ve Hedef</a:t>
            </a:r>
          </a:p>
        </p:txBody>
      </p:sp>
      <p:sp>
        <p:nvSpPr>
          <p:cNvPr id="63" name="Text 5"/>
          <p:cNvSpPr txBox="1"/>
          <p:nvPr/>
        </p:nvSpPr>
        <p:spPr>
          <a:xfrm>
            <a:off x="411479" y="1208454"/>
            <a:ext cx="832104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1100">
                <a:solidFill>
                  <a:srgbClr val="6B7A99"/>
                </a:solidFill>
              </a:defRPr>
            </a:lvl1pPr>
          </a:lstStyle>
          <a:p>
            <a:pPr/>
            <a:r>
              <a:t>Çok ürünlü e-ticaret sitelerinde kişisel öneri neden kritik?</a:t>
            </a:r>
          </a:p>
        </p:txBody>
      </p:sp>
      <p:sp>
        <p:nvSpPr>
          <p:cNvPr id="64" name="Shape 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DF0F7"/>
          </a:solidFill>
          <a:ln w="12700">
            <a:solidFill>
              <a:srgbClr val="D4DAE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5" name="Text 7"/>
          <p:cNvSpPr txBox="1"/>
          <p:nvPr/>
        </p:nvSpPr>
        <p:spPr>
          <a:xfrm>
            <a:off x="274320" y="4954269"/>
            <a:ext cx="859536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6B7A99"/>
                </a:solidFill>
              </a:defRPr>
            </a:lvl1pPr>
          </a:lstStyle>
          <a:p>
            <a:pPr/>
            <a:r>
              <a:t>Özge Güneş  ·  İSMEK Yapay Zekâ ve Veri Bilimi  ·  Mayıs 2026</a:t>
            </a:r>
          </a:p>
        </p:txBody>
      </p:sp>
      <p:sp>
        <p:nvSpPr>
          <p:cNvPr id="66" name="Shape 8"/>
          <p:cNvSpPr/>
          <p:nvPr/>
        </p:nvSpPr>
        <p:spPr>
          <a:xfrm>
            <a:off x="320040" y="1572767"/>
            <a:ext cx="2724913" cy="301752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  <a:effectLst>
            <a:outerShdw sx="100000" sy="100000" kx="0" ky="0" algn="b" rotWithShape="0" blurRad="76200" dist="25400" dir="8100000">
              <a:srgbClr val="8A9BB0">
                <a:alpha val="1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67" name="Shape 9"/>
          <p:cNvSpPr/>
          <p:nvPr/>
        </p:nvSpPr>
        <p:spPr>
          <a:xfrm>
            <a:off x="320040" y="1572767"/>
            <a:ext cx="2724913" cy="64009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8" name="Text 10"/>
          <p:cNvSpPr txBox="1"/>
          <p:nvPr/>
        </p:nvSpPr>
        <p:spPr>
          <a:xfrm>
            <a:off x="457199" y="1732079"/>
            <a:ext cx="2468882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D04F18"/>
                </a:solidFill>
              </a:defRPr>
            </a:lvl1pPr>
          </a:lstStyle>
          <a:p>
            <a:pPr/>
            <a:r>
              <a:t>01</a:t>
            </a:r>
          </a:p>
        </p:txBody>
      </p:sp>
      <p:sp>
        <p:nvSpPr>
          <p:cNvPr id="69" name="Text 11"/>
          <p:cNvSpPr txBox="1"/>
          <p:nvPr/>
        </p:nvSpPr>
        <p:spPr>
          <a:xfrm>
            <a:off x="457199" y="2017584"/>
            <a:ext cx="2468882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400">
                <a:solidFill>
                  <a:srgbClr val="1B2A4A"/>
                </a:solidFill>
              </a:defRPr>
            </a:lvl1pPr>
          </a:lstStyle>
          <a:p>
            <a:pPr/>
            <a:r>
              <a:t>İş Problemi</a:t>
            </a:r>
          </a:p>
        </p:txBody>
      </p:sp>
      <p:sp>
        <p:nvSpPr>
          <p:cNvPr id="70" name="Text 12"/>
          <p:cNvSpPr txBox="1"/>
          <p:nvPr/>
        </p:nvSpPr>
        <p:spPr>
          <a:xfrm>
            <a:off x="457199" y="3076527"/>
            <a:ext cx="2468882" cy="5769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40000"/>
              </a:lnSpc>
              <a:defRPr sz="1000">
                <a:solidFill>
                  <a:srgbClr val="3D4F66"/>
                </a:solidFill>
              </a:defRPr>
            </a:lvl1pPr>
          </a:lstStyle>
          <a:p>
            <a:pPr/>
            <a:r>
              <a:t>Görüntülemeden satın almaya geçişte büyük kayıp var. Yalnızca 'en çok satan' listesi kişisel ilgi ve davranışı yeterince yansıtmaz.</a:t>
            </a:r>
          </a:p>
        </p:txBody>
      </p:sp>
      <p:sp>
        <p:nvSpPr>
          <p:cNvPr id="71" name="Shape 13"/>
          <p:cNvSpPr/>
          <p:nvPr/>
        </p:nvSpPr>
        <p:spPr>
          <a:xfrm>
            <a:off x="3200400" y="1572767"/>
            <a:ext cx="2724912" cy="301752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  <a:effectLst>
            <a:outerShdw sx="100000" sy="100000" kx="0" ky="0" algn="b" rotWithShape="0" blurRad="76200" dist="25400" dir="8100000">
              <a:srgbClr val="8A9BB0">
                <a:alpha val="1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72" name="Shape 14"/>
          <p:cNvSpPr/>
          <p:nvPr/>
        </p:nvSpPr>
        <p:spPr>
          <a:xfrm>
            <a:off x="3200400" y="1572767"/>
            <a:ext cx="2724912" cy="64009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3" name="Text 15"/>
          <p:cNvSpPr txBox="1"/>
          <p:nvPr/>
        </p:nvSpPr>
        <p:spPr>
          <a:xfrm>
            <a:off x="3337559" y="1732079"/>
            <a:ext cx="246888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D04F18"/>
                </a:solidFill>
              </a:defRPr>
            </a:lvl1pPr>
          </a:lstStyle>
          <a:p>
            <a:pPr/>
            <a:r>
              <a:t>02</a:t>
            </a:r>
          </a:p>
        </p:txBody>
      </p:sp>
      <p:sp>
        <p:nvSpPr>
          <p:cNvPr id="74" name="Text 16"/>
          <p:cNvSpPr txBox="1"/>
          <p:nvPr/>
        </p:nvSpPr>
        <p:spPr>
          <a:xfrm>
            <a:off x="3337559" y="2017584"/>
            <a:ext cx="2468881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400">
                <a:solidFill>
                  <a:srgbClr val="1B2A4A"/>
                </a:solidFill>
              </a:defRPr>
            </a:lvl1pPr>
          </a:lstStyle>
          <a:p>
            <a:pPr/>
            <a:r>
              <a:t>Yaklaşım</a:t>
            </a:r>
          </a:p>
        </p:txBody>
      </p:sp>
      <p:sp>
        <p:nvSpPr>
          <p:cNvPr id="75" name="Text 17"/>
          <p:cNvSpPr txBox="1"/>
          <p:nvPr/>
        </p:nvSpPr>
        <p:spPr>
          <a:xfrm>
            <a:off x="3337559" y="3076527"/>
            <a:ext cx="2468881" cy="5769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40000"/>
              </a:lnSpc>
              <a:defRPr sz="1000">
                <a:solidFill>
                  <a:srgbClr val="3D4F66"/>
                </a:solidFill>
              </a:defRPr>
            </a:lvl1pPr>
          </a:lstStyle>
          <a:p>
            <a:pPr/>
            <a:r>
              <a:t>Davranış, satış, yorum ve müşteri verisi tek analitik tabloda birleştirildi. Ürün ve müşteri seviyeli iki ayrı model kuruldu.</a:t>
            </a:r>
          </a:p>
        </p:txBody>
      </p:sp>
      <p:sp>
        <p:nvSpPr>
          <p:cNvPr id="76" name="Shape 18"/>
          <p:cNvSpPr/>
          <p:nvPr/>
        </p:nvSpPr>
        <p:spPr>
          <a:xfrm>
            <a:off x="6080759" y="1572767"/>
            <a:ext cx="2724913" cy="301752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  <a:effectLst>
            <a:outerShdw sx="100000" sy="100000" kx="0" ky="0" algn="b" rotWithShape="0" blurRad="76200" dist="25400" dir="8100000">
              <a:srgbClr val="8A9BB0">
                <a:alpha val="1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77" name="Shape 19"/>
          <p:cNvSpPr/>
          <p:nvPr/>
        </p:nvSpPr>
        <p:spPr>
          <a:xfrm>
            <a:off x="6080759" y="1572767"/>
            <a:ext cx="2724913" cy="64009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8" name="Text 20"/>
          <p:cNvSpPr txBox="1"/>
          <p:nvPr/>
        </p:nvSpPr>
        <p:spPr>
          <a:xfrm>
            <a:off x="6217920" y="1732079"/>
            <a:ext cx="246888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D04F18"/>
                </a:solidFill>
              </a:defRPr>
            </a:lvl1pPr>
          </a:lstStyle>
          <a:p>
            <a:pPr/>
            <a:r>
              <a:t>03</a:t>
            </a:r>
          </a:p>
        </p:txBody>
      </p:sp>
      <p:sp>
        <p:nvSpPr>
          <p:cNvPr id="79" name="Text 21"/>
          <p:cNvSpPr txBox="1"/>
          <p:nvPr/>
        </p:nvSpPr>
        <p:spPr>
          <a:xfrm>
            <a:off x="6217920" y="2017584"/>
            <a:ext cx="2468881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400">
                <a:solidFill>
                  <a:srgbClr val="1B2A4A"/>
                </a:solidFill>
              </a:defRPr>
            </a:lvl1pPr>
          </a:lstStyle>
          <a:p>
            <a:pPr/>
            <a:r>
              <a:t>Çıktı</a:t>
            </a:r>
          </a:p>
        </p:txBody>
      </p:sp>
      <p:sp>
        <p:nvSpPr>
          <p:cNvPr id="80" name="Text 22"/>
          <p:cNvSpPr txBox="1"/>
          <p:nvPr/>
        </p:nvSpPr>
        <p:spPr>
          <a:xfrm>
            <a:off x="6217920" y="3076527"/>
            <a:ext cx="2468881" cy="5769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40000"/>
              </a:lnSpc>
              <a:defRPr sz="1000">
                <a:solidFill>
                  <a:srgbClr val="3D4F66"/>
                </a:solidFill>
              </a:defRPr>
            </a:lvl1pPr>
          </a:lstStyle>
          <a:p>
            <a:pPr/>
            <a:r>
              <a:t>Streamlit dashboard; seçilen müşteri için satın alma olasılığı yüksek ürünleri sıralar ve model sonuçlarını açıklar.</a:t>
            </a:r>
          </a:p>
        </p:txBody>
      </p:sp>
      <p:sp>
        <p:nvSpPr>
          <p:cNvPr id="81" name="Text 23"/>
          <p:cNvSpPr txBox="1"/>
          <p:nvPr/>
        </p:nvSpPr>
        <p:spPr>
          <a:xfrm>
            <a:off x="320040" y="4727955"/>
            <a:ext cx="850392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i="1" sz="900">
                <a:solidFill>
                  <a:srgbClr val="D04F18"/>
                </a:solidFill>
              </a:defRPr>
            </a:lvl1pPr>
          </a:lstStyle>
          <a:p>
            <a:pPr/>
            <a:r>
              <a:t>Dönüşüm hunisinde en büyük kayıp: Sayfa Görüntüleme → Sepete Ekleme  (%26.5 geçiş oranı)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Shape 0"/>
          <p:cNvSpPr/>
          <p:nvPr/>
        </p:nvSpPr>
        <p:spPr>
          <a:xfrm>
            <a:off x="0" y="-1"/>
            <a:ext cx="9144000" cy="475489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4" name="Shape 1"/>
          <p:cNvSpPr/>
          <p:nvPr/>
        </p:nvSpPr>
        <p:spPr>
          <a:xfrm>
            <a:off x="0" y="-1"/>
            <a:ext cx="256032" cy="475489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5" name="Text 2"/>
          <p:cNvSpPr txBox="1"/>
          <p:nvPr/>
        </p:nvSpPr>
        <p:spPr>
          <a:xfrm>
            <a:off x="347472" y="144465"/>
            <a:ext cx="137160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500">
                <a:solidFill>
                  <a:srgbClr val="1B2A4A"/>
                </a:solidFill>
              </a:defRPr>
            </a:pPr>
            <a:r>
              <a:t>Shop</a:t>
            </a:r>
            <a:r>
              <a:rPr>
                <a:solidFill>
                  <a:srgbClr val="D04F18"/>
                </a:solidFill>
              </a:rPr>
              <a:t>Lens</a:t>
            </a:r>
          </a:p>
        </p:txBody>
      </p:sp>
      <p:sp>
        <p:nvSpPr>
          <p:cNvPr id="86" name="Text 3"/>
          <p:cNvSpPr txBox="1"/>
          <p:nvPr/>
        </p:nvSpPr>
        <p:spPr>
          <a:xfrm>
            <a:off x="7132319" y="174243"/>
            <a:ext cx="192024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6B7A99"/>
                </a:solidFill>
              </a:defRPr>
            </a:lvl1pPr>
          </a:lstStyle>
          <a:p>
            <a:pPr/>
            <a:r>
              <a:t>02 · Veri</a:t>
            </a:r>
          </a:p>
        </p:txBody>
      </p:sp>
      <p:sp>
        <p:nvSpPr>
          <p:cNvPr id="87" name="Text 4"/>
          <p:cNvSpPr txBox="1"/>
          <p:nvPr/>
        </p:nvSpPr>
        <p:spPr>
          <a:xfrm>
            <a:off x="411479" y="677280"/>
            <a:ext cx="8321042" cy="346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600">
                <a:solidFill>
                  <a:srgbClr val="1B2A4A"/>
                </a:solidFill>
              </a:defRPr>
            </a:lvl1pPr>
          </a:lstStyle>
          <a:p>
            <a:pPr/>
            <a:r>
              <a:t>Veri Kaynağı</a:t>
            </a:r>
          </a:p>
        </p:txBody>
      </p:sp>
      <p:sp>
        <p:nvSpPr>
          <p:cNvPr id="88" name="Text 5"/>
          <p:cNvSpPr txBox="1"/>
          <p:nvPr/>
        </p:nvSpPr>
        <p:spPr>
          <a:xfrm>
            <a:off x="411479" y="1208454"/>
            <a:ext cx="832104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1100">
                <a:solidFill>
                  <a:srgbClr val="6B7A99"/>
                </a:solidFill>
              </a:defRPr>
            </a:lvl1pPr>
          </a:lstStyle>
          <a:p>
            <a:pPr/>
            <a:r>
              <a:t>Kaggle · E-commerce Transactions + Clickstream (sentetik) — 7 ilişkili tablo</a:t>
            </a:r>
          </a:p>
        </p:txBody>
      </p:sp>
      <p:sp>
        <p:nvSpPr>
          <p:cNvPr id="89" name="Shape 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DF0F7"/>
          </a:solidFill>
          <a:ln w="12700">
            <a:solidFill>
              <a:srgbClr val="D4DAE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0" name="Text 7"/>
          <p:cNvSpPr txBox="1"/>
          <p:nvPr/>
        </p:nvSpPr>
        <p:spPr>
          <a:xfrm>
            <a:off x="274320" y="4954269"/>
            <a:ext cx="859536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6B7A99"/>
                </a:solidFill>
              </a:defRPr>
            </a:lvl1pPr>
          </a:lstStyle>
          <a:p>
            <a:pPr/>
            <a:r>
              <a:t>Özge Güneş  ·  İSMEK Yapay Zekâ ve Veri Bilimi  ·  Mayıs 2026</a:t>
            </a:r>
          </a:p>
        </p:txBody>
      </p:sp>
      <p:graphicFrame>
        <p:nvGraphicFramePr>
          <p:cNvPr id="91" name="Table 0"/>
          <p:cNvGraphicFramePr/>
          <p:nvPr/>
        </p:nvGraphicFramePr>
        <p:xfrm>
          <a:off x="320040" y="1481327"/>
          <a:ext cx="8503920" cy="3072386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188720"/>
                <a:gridCol w="914400"/>
                <a:gridCol w="2011679"/>
                <a:gridCol w="438912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</a:rPr>
                        <a:t>Tablo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C8D0E0"/>
                      </a:solidFill>
                    </a:lnL>
                    <a:lnR w="6350">
                      <a:solidFill>
                        <a:srgbClr val="C8D0E0"/>
                      </a:solidFill>
                    </a:lnR>
                    <a:lnT w="6350">
                      <a:solidFill>
                        <a:srgbClr val="C8D0E0"/>
                      </a:solidFill>
                    </a:lnT>
                    <a:lnB w="6350">
                      <a:solidFill>
                        <a:srgbClr val="C8D0E0"/>
                      </a:solidFill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</a:rPr>
                        <a:t>Satır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C8D0E0"/>
                      </a:solidFill>
                    </a:lnL>
                    <a:lnR w="6350">
                      <a:solidFill>
                        <a:srgbClr val="C8D0E0"/>
                      </a:solidFill>
                    </a:lnR>
                    <a:lnT w="6350">
                      <a:solidFill>
                        <a:srgbClr val="C8D0E0"/>
                      </a:solidFill>
                    </a:lnT>
                    <a:lnB w="6350">
                      <a:solidFill>
                        <a:srgbClr val="C8D0E0"/>
                      </a:solidFill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</a:rPr>
                        <a:t>Anahtar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C8D0E0"/>
                      </a:solidFill>
                    </a:lnL>
                    <a:lnR w="6350">
                      <a:solidFill>
                        <a:srgbClr val="C8D0E0"/>
                      </a:solidFill>
                    </a:lnR>
                    <a:lnT w="6350">
                      <a:solidFill>
                        <a:srgbClr val="C8D0E0"/>
                      </a:solidFill>
                    </a:lnT>
                    <a:lnB w="6350">
                      <a:solidFill>
                        <a:srgbClr val="C8D0E0"/>
                      </a:solidFill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</a:rPr>
                        <a:t>Kullanım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C8D0E0"/>
                      </a:solidFill>
                    </a:lnL>
                    <a:lnR w="6350">
                      <a:solidFill>
                        <a:srgbClr val="C8D0E0"/>
                      </a:solidFill>
                    </a:lnR>
                    <a:lnT w="6350">
                      <a:solidFill>
                        <a:srgbClr val="C8D0E0"/>
                      </a:solidFill>
                    </a:lnT>
                    <a:lnB w="6350">
                      <a:solidFill>
                        <a:srgbClr val="C8D0E0"/>
                      </a:solidFill>
                    </a:lnB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D04F18"/>
                          </a:solidFill>
                        </a:rPr>
                        <a:t>events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C8D0E0"/>
                      </a:solidFill>
                    </a:lnL>
                    <a:lnR w="6350">
                      <a:solidFill>
                        <a:srgbClr val="C8D0E0"/>
                      </a:solidFill>
                    </a:lnR>
                    <a:lnT w="6350">
                      <a:solidFill>
                        <a:srgbClr val="C8D0E0"/>
                      </a:solidFill>
                    </a:lnT>
                    <a:lnB w="6350">
                      <a:solidFill>
                        <a:srgbClr val="C8D0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000">
                          <a:solidFill>
                            <a:srgbClr val="6B7A99"/>
                          </a:solidFill>
                        </a:rPr>
                        <a:t>760.958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C8D0E0"/>
                      </a:solidFill>
                    </a:lnL>
                    <a:lnR w="6350">
                      <a:solidFill>
                        <a:srgbClr val="C8D0E0"/>
                      </a:solidFill>
                    </a:lnR>
                    <a:lnT w="6350">
                      <a:solidFill>
                        <a:srgbClr val="C8D0E0"/>
                      </a:solidFill>
                    </a:lnT>
                    <a:lnB w="6350">
                      <a:solidFill>
                        <a:srgbClr val="C8D0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3D4F66"/>
                          </a:solidFill>
                        </a:rPr>
                        <a:t>session_id, product_id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C8D0E0"/>
                      </a:solidFill>
                    </a:lnL>
                    <a:lnR w="6350">
                      <a:solidFill>
                        <a:srgbClr val="C8D0E0"/>
                      </a:solidFill>
                    </a:lnR>
                    <a:lnT w="6350">
                      <a:solidFill>
                        <a:srgbClr val="C8D0E0"/>
                      </a:solidFill>
                    </a:lnT>
                    <a:lnB w="6350">
                      <a:solidFill>
                        <a:srgbClr val="C8D0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3D4F66"/>
                          </a:solidFill>
                        </a:rPr>
                        <a:t>Görüntüleme ve sepete ekleme davranışı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C8D0E0"/>
                      </a:solidFill>
                    </a:lnL>
                    <a:lnR w="6350">
                      <a:solidFill>
                        <a:srgbClr val="C8D0E0"/>
                      </a:solidFill>
                    </a:lnR>
                    <a:lnT w="6350">
                      <a:solidFill>
                        <a:srgbClr val="C8D0E0"/>
                      </a:solidFill>
                    </a:lnT>
                    <a:lnB w="6350">
                      <a:solidFill>
                        <a:srgbClr val="C8D0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D04F18"/>
                          </a:solidFill>
                        </a:rPr>
                        <a:t>sessions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C8D0E0"/>
                      </a:solidFill>
                    </a:lnL>
                    <a:lnR w="6350">
                      <a:solidFill>
                        <a:srgbClr val="C8D0E0"/>
                      </a:solidFill>
                    </a:lnR>
                    <a:lnT w="6350">
                      <a:solidFill>
                        <a:srgbClr val="C8D0E0"/>
                      </a:solidFill>
                    </a:lnT>
                    <a:lnB w="6350">
                      <a:solidFill>
                        <a:srgbClr val="C8D0E0"/>
                      </a:solidFill>
                    </a:lnB>
                    <a:solidFill>
                      <a:srgbClr val="EDF0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000">
                          <a:solidFill>
                            <a:srgbClr val="6B7A99"/>
                          </a:solidFill>
                        </a:rPr>
                        <a:t>120.000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C8D0E0"/>
                      </a:solidFill>
                    </a:lnL>
                    <a:lnR w="6350">
                      <a:solidFill>
                        <a:srgbClr val="C8D0E0"/>
                      </a:solidFill>
                    </a:lnR>
                    <a:lnT w="6350">
                      <a:solidFill>
                        <a:srgbClr val="C8D0E0"/>
                      </a:solidFill>
                    </a:lnT>
                    <a:lnB w="6350">
                      <a:solidFill>
                        <a:srgbClr val="C8D0E0"/>
                      </a:solidFill>
                    </a:lnB>
                    <a:solidFill>
                      <a:srgbClr val="EDF0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3D4F66"/>
                          </a:solidFill>
                        </a:rPr>
                        <a:t>session_id, customer_id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C8D0E0"/>
                      </a:solidFill>
                    </a:lnL>
                    <a:lnR w="6350">
                      <a:solidFill>
                        <a:srgbClr val="C8D0E0"/>
                      </a:solidFill>
                    </a:lnR>
                    <a:lnT w="6350">
                      <a:solidFill>
                        <a:srgbClr val="C8D0E0"/>
                      </a:solidFill>
                    </a:lnT>
                    <a:lnB w="6350">
                      <a:solidFill>
                        <a:srgbClr val="C8D0E0"/>
                      </a:solidFill>
                    </a:lnB>
                    <a:solidFill>
                      <a:srgbClr val="EDF0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3D4F66"/>
                          </a:solidFill>
                        </a:rPr>
                        <a:t>Eventleri müşteriye bağlama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C8D0E0"/>
                      </a:solidFill>
                    </a:lnL>
                    <a:lnR w="6350">
                      <a:solidFill>
                        <a:srgbClr val="C8D0E0"/>
                      </a:solidFill>
                    </a:lnR>
                    <a:lnT w="6350">
                      <a:solidFill>
                        <a:srgbClr val="C8D0E0"/>
                      </a:solidFill>
                    </a:lnT>
                    <a:lnB w="6350">
                      <a:solidFill>
                        <a:srgbClr val="C8D0E0"/>
                      </a:solidFill>
                    </a:lnB>
                    <a:solidFill>
                      <a:srgbClr val="EDF0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D04F18"/>
                          </a:solidFill>
                        </a:rPr>
                        <a:t>customers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C8D0E0"/>
                      </a:solidFill>
                    </a:lnL>
                    <a:lnR w="6350">
                      <a:solidFill>
                        <a:srgbClr val="C8D0E0"/>
                      </a:solidFill>
                    </a:lnR>
                    <a:lnT w="6350">
                      <a:solidFill>
                        <a:srgbClr val="C8D0E0"/>
                      </a:solidFill>
                    </a:lnT>
                    <a:lnB w="6350">
                      <a:solidFill>
                        <a:srgbClr val="C8D0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000">
                          <a:solidFill>
                            <a:srgbClr val="6B7A99"/>
                          </a:solidFill>
                        </a:rPr>
                        <a:t>20.000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C8D0E0"/>
                      </a:solidFill>
                    </a:lnL>
                    <a:lnR w="6350">
                      <a:solidFill>
                        <a:srgbClr val="C8D0E0"/>
                      </a:solidFill>
                    </a:lnR>
                    <a:lnT w="6350">
                      <a:solidFill>
                        <a:srgbClr val="C8D0E0"/>
                      </a:solidFill>
                    </a:lnT>
                    <a:lnB w="6350">
                      <a:solidFill>
                        <a:srgbClr val="C8D0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3D4F66"/>
                          </a:solidFill>
                        </a:rPr>
                        <a:t>customer_id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C8D0E0"/>
                      </a:solidFill>
                    </a:lnL>
                    <a:lnR w="6350">
                      <a:solidFill>
                        <a:srgbClr val="C8D0E0"/>
                      </a:solidFill>
                    </a:lnR>
                    <a:lnT w="6350">
                      <a:solidFill>
                        <a:srgbClr val="C8D0E0"/>
                      </a:solidFill>
                    </a:lnT>
                    <a:lnB w="6350">
                      <a:solidFill>
                        <a:srgbClr val="C8D0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3D4F66"/>
                          </a:solidFill>
                        </a:rPr>
                        <a:t>Müşteri profili ve RFM kaynağı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C8D0E0"/>
                      </a:solidFill>
                    </a:lnL>
                    <a:lnR w="6350">
                      <a:solidFill>
                        <a:srgbClr val="C8D0E0"/>
                      </a:solidFill>
                    </a:lnR>
                    <a:lnT w="6350">
                      <a:solidFill>
                        <a:srgbClr val="C8D0E0"/>
                      </a:solidFill>
                    </a:lnT>
                    <a:lnB w="6350">
                      <a:solidFill>
                        <a:srgbClr val="C8D0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D04F18"/>
                          </a:solidFill>
                        </a:rPr>
                        <a:t>orders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C8D0E0"/>
                      </a:solidFill>
                    </a:lnL>
                    <a:lnR w="6350">
                      <a:solidFill>
                        <a:srgbClr val="C8D0E0"/>
                      </a:solidFill>
                    </a:lnR>
                    <a:lnT w="6350">
                      <a:solidFill>
                        <a:srgbClr val="C8D0E0"/>
                      </a:solidFill>
                    </a:lnT>
                    <a:lnB w="6350">
                      <a:solidFill>
                        <a:srgbClr val="C8D0E0"/>
                      </a:solidFill>
                    </a:lnB>
                    <a:solidFill>
                      <a:srgbClr val="EDF0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000">
                          <a:solidFill>
                            <a:srgbClr val="6B7A99"/>
                          </a:solidFill>
                        </a:rPr>
                        <a:t>33.580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C8D0E0"/>
                      </a:solidFill>
                    </a:lnL>
                    <a:lnR w="6350">
                      <a:solidFill>
                        <a:srgbClr val="C8D0E0"/>
                      </a:solidFill>
                    </a:lnR>
                    <a:lnT w="6350">
                      <a:solidFill>
                        <a:srgbClr val="C8D0E0"/>
                      </a:solidFill>
                    </a:lnT>
                    <a:lnB w="6350">
                      <a:solidFill>
                        <a:srgbClr val="C8D0E0"/>
                      </a:solidFill>
                    </a:lnB>
                    <a:solidFill>
                      <a:srgbClr val="EDF0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3D4F66"/>
                          </a:solidFill>
                        </a:rPr>
                        <a:t>order_id, customer_id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C8D0E0"/>
                      </a:solidFill>
                    </a:lnL>
                    <a:lnR w="6350">
                      <a:solidFill>
                        <a:srgbClr val="C8D0E0"/>
                      </a:solidFill>
                    </a:lnR>
                    <a:lnT w="6350">
                      <a:solidFill>
                        <a:srgbClr val="C8D0E0"/>
                      </a:solidFill>
                    </a:lnT>
                    <a:lnB w="6350">
                      <a:solidFill>
                        <a:srgbClr val="C8D0E0"/>
                      </a:solidFill>
                    </a:lnB>
                    <a:solidFill>
                      <a:srgbClr val="EDF0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3D4F66"/>
                          </a:solidFill>
                        </a:rPr>
                        <a:t>Sipariş başlığı, müşteri eşleşmesi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C8D0E0"/>
                      </a:solidFill>
                    </a:lnL>
                    <a:lnR w="6350">
                      <a:solidFill>
                        <a:srgbClr val="C8D0E0"/>
                      </a:solidFill>
                    </a:lnR>
                    <a:lnT w="6350">
                      <a:solidFill>
                        <a:srgbClr val="C8D0E0"/>
                      </a:solidFill>
                    </a:lnT>
                    <a:lnB w="6350">
                      <a:solidFill>
                        <a:srgbClr val="C8D0E0"/>
                      </a:solidFill>
                    </a:lnB>
                    <a:solidFill>
                      <a:srgbClr val="EDF0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D04F18"/>
                          </a:solidFill>
                        </a:rPr>
                        <a:t>order_items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C8D0E0"/>
                      </a:solidFill>
                    </a:lnL>
                    <a:lnR w="6350">
                      <a:solidFill>
                        <a:srgbClr val="C8D0E0"/>
                      </a:solidFill>
                    </a:lnR>
                    <a:lnT w="6350">
                      <a:solidFill>
                        <a:srgbClr val="C8D0E0"/>
                      </a:solidFill>
                    </a:lnT>
                    <a:lnB w="6350">
                      <a:solidFill>
                        <a:srgbClr val="C8D0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000">
                          <a:solidFill>
                            <a:srgbClr val="6B7A99"/>
                          </a:solidFill>
                        </a:rPr>
                        <a:t>59.163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C8D0E0"/>
                      </a:solidFill>
                    </a:lnL>
                    <a:lnR w="6350">
                      <a:solidFill>
                        <a:srgbClr val="C8D0E0"/>
                      </a:solidFill>
                    </a:lnR>
                    <a:lnT w="6350">
                      <a:solidFill>
                        <a:srgbClr val="C8D0E0"/>
                      </a:solidFill>
                    </a:lnT>
                    <a:lnB w="6350">
                      <a:solidFill>
                        <a:srgbClr val="C8D0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3D4F66"/>
                          </a:solidFill>
                        </a:rPr>
                        <a:t>order_id, product_id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C8D0E0"/>
                      </a:solidFill>
                    </a:lnL>
                    <a:lnR w="6350">
                      <a:solidFill>
                        <a:srgbClr val="C8D0E0"/>
                      </a:solidFill>
                    </a:lnR>
                    <a:lnT w="6350">
                      <a:solidFill>
                        <a:srgbClr val="C8D0E0"/>
                      </a:solidFill>
                    </a:lnT>
                    <a:lnB w="6350">
                      <a:solidFill>
                        <a:srgbClr val="C8D0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3D4F66"/>
                          </a:solidFill>
                        </a:rPr>
                        <a:t>Gerçek satış adedi ve gelir kaynağı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C8D0E0"/>
                      </a:solidFill>
                    </a:lnL>
                    <a:lnR w="6350">
                      <a:solidFill>
                        <a:srgbClr val="C8D0E0"/>
                      </a:solidFill>
                    </a:lnR>
                    <a:lnT w="6350">
                      <a:solidFill>
                        <a:srgbClr val="C8D0E0"/>
                      </a:solidFill>
                    </a:lnT>
                    <a:lnB w="6350">
                      <a:solidFill>
                        <a:srgbClr val="C8D0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D04F18"/>
                          </a:solidFill>
                        </a:rPr>
                        <a:t>products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C8D0E0"/>
                      </a:solidFill>
                    </a:lnL>
                    <a:lnR w="6350">
                      <a:solidFill>
                        <a:srgbClr val="C8D0E0"/>
                      </a:solidFill>
                    </a:lnR>
                    <a:lnT w="6350">
                      <a:solidFill>
                        <a:srgbClr val="C8D0E0"/>
                      </a:solidFill>
                    </a:lnT>
                    <a:lnB w="6350">
                      <a:solidFill>
                        <a:srgbClr val="C8D0E0"/>
                      </a:solidFill>
                    </a:lnB>
                    <a:solidFill>
                      <a:srgbClr val="EDF0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000">
                          <a:solidFill>
                            <a:srgbClr val="6B7A99"/>
                          </a:solidFill>
                        </a:rPr>
                        <a:t>1.197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C8D0E0"/>
                      </a:solidFill>
                    </a:lnL>
                    <a:lnR w="6350">
                      <a:solidFill>
                        <a:srgbClr val="C8D0E0"/>
                      </a:solidFill>
                    </a:lnR>
                    <a:lnT w="6350">
                      <a:solidFill>
                        <a:srgbClr val="C8D0E0"/>
                      </a:solidFill>
                    </a:lnT>
                    <a:lnB w="6350">
                      <a:solidFill>
                        <a:srgbClr val="C8D0E0"/>
                      </a:solidFill>
                    </a:lnB>
                    <a:solidFill>
                      <a:srgbClr val="EDF0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3D4F66"/>
                          </a:solidFill>
                        </a:rPr>
                        <a:t>product_id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C8D0E0"/>
                      </a:solidFill>
                    </a:lnL>
                    <a:lnR w="6350">
                      <a:solidFill>
                        <a:srgbClr val="C8D0E0"/>
                      </a:solidFill>
                    </a:lnR>
                    <a:lnT w="6350">
                      <a:solidFill>
                        <a:srgbClr val="C8D0E0"/>
                      </a:solidFill>
                    </a:lnT>
                    <a:lnB w="6350">
                      <a:solidFill>
                        <a:srgbClr val="C8D0E0"/>
                      </a:solidFill>
                    </a:lnB>
                    <a:solidFill>
                      <a:srgbClr val="EDF0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3D4F66"/>
                          </a:solidFill>
                        </a:rPr>
                        <a:t>Ürün bilgisi, fiyat, marj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C8D0E0"/>
                      </a:solidFill>
                    </a:lnL>
                    <a:lnR w="6350">
                      <a:solidFill>
                        <a:srgbClr val="C8D0E0"/>
                      </a:solidFill>
                    </a:lnR>
                    <a:lnT w="6350">
                      <a:solidFill>
                        <a:srgbClr val="C8D0E0"/>
                      </a:solidFill>
                    </a:lnT>
                    <a:lnB w="6350">
                      <a:solidFill>
                        <a:srgbClr val="C8D0E0"/>
                      </a:solidFill>
                    </a:lnB>
                    <a:solidFill>
                      <a:srgbClr val="EDF0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D04F18"/>
                          </a:solidFill>
                        </a:rPr>
                        <a:t>reviews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C8D0E0"/>
                      </a:solidFill>
                    </a:lnL>
                    <a:lnR w="6350">
                      <a:solidFill>
                        <a:srgbClr val="C8D0E0"/>
                      </a:solidFill>
                    </a:lnR>
                    <a:lnT w="6350">
                      <a:solidFill>
                        <a:srgbClr val="C8D0E0"/>
                      </a:solidFill>
                    </a:lnT>
                    <a:lnB w="6350">
                      <a:solidFill>
                        <a:srgbClr val="C8D0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000">
                          <a:solidFill>
                            <a:srgbClr val="6B7A99"/>
                          </a:solidFill>
                        </a:rPr>
                        <a:t>10.780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C8D0E0"/>
                      </a:solidFill>
                    </a:lnL>
                    <a:lnR w="6350">
                      <a:solidFill>
                        <a:srgbClr val="C8D0E0"/>
                      </a:solidFill>
                    </a:lnR>
                    <a:lnT w="6350">
                      <a:solidFill>
                        <a:srgbClr val="C8D0E0"/>
                      </a:solidFill>
                    </a:lnT>
                    <a:lnB w="6350">
                      <a:solidFill>
                        <a:srgbClr val="C8D0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3D4F66"/>
                          </a:solidFill>
                        </a:rPr>
                        <a:t>product_id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C8D0E0"/>
                      </a:solidFill>
                    </a:lnL>
                    <a:lnR w="6350">
                      <a:solidFill>
                        <a:srgbClr val="C8D0E0"/>
                      </a:solidFill>
                    </a:lnR>
                    <a:lnT w="6350">
                      <a:solidFill>
                        <a:srgbClr val="C8D0E0"/>
                      </a:solidFill>
                    </a:lnT>
                    <a:lnB w="6350">
                      <a:solidFill>
                        <a:srgbClr val="C8D0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3D4F66"/>
                          </a:solidFill>
                        </a:rPr>
                        <a:t>Rating ve VADER duygu kaynağı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C8D0E0"/>
                      </a:solidFill>
                    </a:lnL>
                    <a:lnR w="6350">
                      <a:solidFill>
                        <a:srgbClr val="C8D0E0"/>
                      </a:solidFill>
                    </a:lnR>
                    <a:lnT w="6350">
                      <a:solidFill>
                        <a:srgbClr val="C8D0E0"/>
                      </a:solidFill>
                    </a:lnT>
                    <a:lnB w="6350">
                      <a:solidFill>
                        <a:srgbClr val="C8D0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" name="Text 8"/>
          <p:cNvSpPr txBox="1"/>
          <p:nvPr/>
        </p:nvSpPr>
        <p:spPr>
          <a:xfrm>
            <a:off x="320040" y="4727955"/>
            <a:ext cx="850392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i="1" sz="900">
                <a:solidFill>
                  <a:srgbClr val="6B7A99"/>
                </a:solidFill>
              </a:defRPr>
            </a:lvl1pPr>
          </a:lstStyle>
          <a:p>
            <a:pPr/>
            <a:r>
              <a:t>Bağlantı: events → sessions → customers (davranış)  ·  orders → order_items → products (satış)  ·  reviews → products (memnuniyet)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Shape 0"/>
          <p:cNvSpPr/>
          <p:nvPr/>
        </p:nvSpPr>
        <p:spPr>
          <a:xfrm>
            <a:off x="0" y="-1"/>
            <a:ext cx="9144000" cy="475489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5" name="Shape 1"/>
          <p:cNvSpPr/>
          <p:nvPr/>
        </p:nvSpPr>
        <p:spPr>
          <a:xfrm>
            <a:off x="0" y="-1"/>
            <a:ext cx="256032" cy="475489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6" name="Text 2"/>
          <p:cNvSpPr txBox="1"/>
          <p:nvPr/>
        </p:nvSpPr>
        <p:spPr>
          <a:xfrm>
            <a:off x="347472" y="144465"/>
            <a:ext cx="137160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500">
                <a:solidFill>
                  <a:srgbClr val="1B2A4A"/>
                </a:solidFill>
              </a:defRPr>
            </a:pPr>
            <a:r>
              <a:t>Shop</a:t>
            </a:r>
            <a:r>
              <a:rPr>
                <a:solidFill>
                  <a:srgbClr val="D04F18"/>
                </a:solidFill>
              </a:rPr>
              <a:t>Lens</a:t>
            </a:r>
          </a:p>
        </p:txBody>
      </p:sp>
      <p:sp>
        <p:nvSpPr>
          <p:cNvPr id="97" name="Text 3"/>
          <p:cNvSpPr txBox="1"/>
          <p:nvPr/>
        </p:nvSpPr>
        <p:spPr>
          <a:xfrm>
            <a:off x="7132319" y="174243"/>
            <a:ext cx="192024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6B7A99"/>
                </a:solidFill>
              </a:defRPr>
            </a:lvl1pPr>
          </a:lstStyle>
          <a:p>
            <a:pPr/>
            <a:r>
              <a:t>03 · Metodoloji</a:t>
            </a:r>
          </a:p>
        </p:txBody>
      </p:sp>
      <p:sp>
        <p:nvSpPr>
          <p:cNvPr id="98" name="Text 4"/>
          <p:cNvSpPr txBox="1"/>
          <p:nvPr/>
        </p:nvSpPr>
        <p:spPr>
          <a:xfrm>
            <a:off x="411479" y="677280"/>
            <a:ext cx="8321042" cy="346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600">
                <a:solidFill>
                  <a:srgbClr val="1B2A4A"/>
                </a:solidFill>
              </a:defRPr>
            </a:lvl1pPr>
          </a:lstStyle>
          <a:p>
            <a:pPr/>
            <a:r>
              <a:t>Veri Hazırlama ve Eksik Değerler</a:t>
            </a:r>
          </a:p>
        </p:txBody>
      </p:sp>
      <p:sp>
        <p:nvSpPr>
          <p:cNvPr id="99" name="Text 5"/>
          <p:cNvSpPr txBox="1"/>
          <p:nvPr/>
        </p:nvSpPr>
        <p:spPr>
          <a:xfrm>
            <a:off x="411479" y="1208454"/>
            <a:ext cx="832104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1100">
                <a:solidFill>
                  <a:srgbClr val="6B7A99"/>
                </a:solidFill>
              </a:defRPr>
            </a:lvl1pPr>
          </a:lstStyle>
          <a:p>
            <a:pPr/>
            <a:r>
              <a:t>Eksik değerler yapısal mı, gerçek bilgi eksikliği mi — önce bu ayırt edildi.</a:t>
            </a:r>
          </a:p>
        </p:txBody>
      </p:sp>
      <p:sp>
        <p:nvSpPr>
          <p:cNvPr id="100" name="Shape 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DF0F7"/>
          </a:solidFill>
          <a:ln w="12700">
            <a:solidFill>
              <a:srgbClr val="D4DAE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1" name="Text 7"/>
          <p:cNvSpPr txBox="1"/>
          <p:nvPr/>
        </p:nvSpPr>
        <p:spPr>
          <a:xfrm>
            <a:off x="274320" y="4954269"/>
            <a:ext cx="859536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6B7A99"/>
                </a:solidFill>
              </a:defRPr>
            </a:lvl1pPr>
          </a:lstStyle>
          <a:p>
            <a:pPr/>
            <a:r>
              <a:t>Özge Güneş  ·  İSMEK Yapay Zekâ ve Veri Bilimi  ·  Mayıs 2026</a:t>
            </a:r>
          </a:p>
        </p:txBody>
      </p:sp>
      <p:sp>
        <p:nvSpPr>
          <p:cNvPr id="102" name="Shape 8"/>
          <p:cNvSpPr/>
          <p:nvPr/>
        </p:nvSpPr>
        <p:spPr>
          <a:xfrm>
            <a:off x="320040" y="1572767"/>
            <a:ext cx="8503920" cy="530353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3" name="Shape 9"/>
          <p:cNvSpPr/>
          <p:nvPr/>
        </p:nvSpPr>
        <p:spPr>
          <a:xfrm>
            <a:off x="320040" y="1572767"/>
            <a:ext cx="54865" cy="530353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4" name="Text 10"/>
          <p:cNvSpPr txBox="1"/>
          <p:nvPr/>
        </p:nvSpPr>
        <p:spPr>
          <a:xfrm>
            <a:off x="457199" y="1769408"/>
            <a:ext cx="393192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1B2A4A"/>
                </a:solidFill>
              </a:defRPr>
            </a:lvl1pPr>
          </a:lstStyle>
          <a:p>
            <a:pPr/>
            <a:r>
              <a:t>events.product_id boş (checkout &amp; purchase)</a:t>
            </a:r>
          </a:p>
        </p:txBody>
      </p:sp>
      <p:sp>
        <p:nvSpPr>
          <p:cNvPr id="105" name="Text 11"/>
          <p:cNvSpPr txBox="1"/>
          <p:nvPr/>
        </p:nvSpPr>
        <p:spPr>
          <a:xfrm>
            <a:off x="4434840" y="1769408"/>
            <a:ext cx="429768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D4F66"/>
                </a:solidFill>
              </a:defRPr>
            </a:lvl1pPr>
          </a:lstStyle>
          <a:p>
            <a:pPr/>
            <a:r>
              <a:t>Yapısal eksik — ürün bazlı satış order_items.quantity'den alındı</a:t>
            </a:r>
          </a:p>
        </p:txBody>
      </p:sp>
      <p:sp>
        <p:nvSpPr>
          <p:cNvPr id="106" name="Shape 12"/>
          <p:cNvSpPr/>
          <p:nvPr/>
        </p:nvSpPr>
        <p:spPr>
          <a:xfrm>
            <a:off x="320040" y="2176272"/>
            <a:ext cx="8503920" cy="530352"/>
          </a:xfrm>
          <a:prstGeom prst="rect">
            <a:avLst/>
          </a:prstGeom>
          <a:solidFill>
            <a:srgbClr val="EDF0F7"/>
          </a:solidFill>
          <a:ln w="12700">
            <a:solidFill>
              <a:srgbClr val="D4DAE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7" name="Shape 13"/>
          <p:cNvSpPr/>
          <p:nvPr/>
        </p:nvSpPr>
        <p:spPr>
          <a:xfrm>
            <a:off x="320040" y="2176272"/>
            <a:ext cx="54865" cy="530352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8" name="Text 14"/>
          <p:cNvSpPr txBox="1"/>
          <p:nvPr/>
        </p:nvSpPr>
        <p:spPr>
          <a:xfrm>
            <a:off x="457199" y="2372912"/>
            <a:ext cx="393192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1B2A4A"/>
                </a:solidFill>
              </a:defRPr>
            </a:lvl1pPr>
          </a:lstStyle>
          <a:p>
            <a:pPr/>
            <a:r>
              <a:t>Üründe yorum yok</a:t>
            </a:r>
          </a:p>
        </p:txBody>
      </p:sp>
      <p:sp>
        <p:nvSpPr>
          <p:cNvPr id="109" name="Text 15"/>
          <p:cNvSpPr txBox="1"/>
          <p:nvPr/>
        </p:nvSpPr>
        <p:spPr>
          <a:xfrm>
            <a:off x="4434840" y="2372912"/>
            <a:ext cx="429768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D4F66"/>
                </a:solidFill>
              </a:defRPr>
            </a:lvl1pPr>
          </a:lstStyle>
          <a:p>
            <a:pPr/>
            <a:r>
              <a:t>yorum_sayisi=0, pozitif_oran=0 atandı</a:t>
            </a:r>
          </a:p>
        </p:txBody>
      </p:sp>
      <p:sp>
        <p:nvSpPr>
          <p:cNvPr id="110" name="Shape 16"/>
          <p:cNvSpPr/>
          <p:nvPr/>
        </p:nvSpPr>
        <p:spPr>
          <a:xfrm>
            <a:off x="320040" y="2779776"/>
            <a:ext cx="8503920" cy="530353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1" name="Shape 17"/>
          <p:cNvSpPr/>
          <p:nvPr/>
        </p:nvSpPr>
        <p:spPr>
          <a:xfrm>
            <a:off x="320040" y="2779776"/>
            <a:ext cx="54865" cy="530353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2" name="Text 18"/>
          <p:cNvSpPr txBox="1"/>
          <p:nvPr/>
        </p:nvSpPr>
        <p:spPr>
          <a:xfrm>
            <a:off x="457199" y="2976416"/>
            <a:ext cx="393192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1B2A4A"/>
                </a:solidFill>
              </a:defRPr>
            </a:lvl1pPr>
          </a:lstStyle>
          <a:p>
            <a:pPr/>
            <a:r>
              <a:t>Üründe page_view = 0</a:t>
            </a:r>
          </a:p>
        </p:txBody>
      </p:sp>
      <p:sp>
        <p:nvSpPr>
          <p:cNvPr id="113" name="Text 19"/>
          <p:cNvSpPr txBox="1"/>
          <p:nvPr/>
        </p:nvSpPr>
        <p:spPr>
          <a:xfrm>
            <a:off x="4434840" y="2976416"/>
            <a:ext cx="429768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D4F66"/>
                </a:solidFill>
              </a:defRPr>
            </a:lvl1pPr>
          </a:lstStyle>
          <a:p>
            <a:pPr/>
            <a:r>
              <a:t>np.where ile sıfıra bölme koruması uygulandı</a:t>
            </a:r>
          </a:p>
        </p:txBody>
      </p:sp>
      <p:sp>
        <p:nvSpPr>
          <p:cNvPr id="114" name="Shape 20"/>
          <p:cNvSpPr/>
          <p:nvPr/>
        </p:nvSpPr>
        <p:spPr>
          <a:xfrm>
            <a:off x="320040" y="3383279"/>
            <a:ext cx="8503920" cy="530353"/>
          </a:xfrm>
          <a:prstGeom prst="rect">
            <a:avLst/>
          </a:prstGeom>
          <a:solidFill>
            <a:srgbClr val="EDF0F7"/>
          </a:solidFill>
          <a:ln w="12700">
            <a:solidFill>
              <a:srgbClr val="D4DAE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5" name="Shape 21"/>
          <p:cNvSpPr/>
          <p:nvPr/>
        </p:nvSpPr>
        <p:spPr>
          <a:xfrm>
            <a:off x="320040" y="3383279"/>
            <a:ext cx="54865" cy="530353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6" name="Text 22"/>
          <p:cNvSpPr txBox="1"/>
          <p:nvPr/>
        </p:nvSpPr>
        <p:spPr>
          <a:xfrm>
            <a:off x="457199" y="3579920"/>
            <a:ext cx="393192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1B2A4A"/>
                </a:solidFill>
              </a:defRPr>
            </a:lvl1pPr>
          </a:lstStyle>
          <a:p>
            <a:pPr/>
            <a:r>
              <a:t>Müşterinin siparişi yok</a:t>
            </a:r>
          </a:p>
        </p:txBody>
      </p:sp>
      <p:sp>
        <p:nvSpPr>
          <p:cNvPr id="117" name="Text 23"/>
          <p:cNvSpPr txBox="1"/>
          <p:nvPr/>
        </p:nvSpPr>
        <p:spPr>
          <a:xfrm>
            <a:off x="4434840" y="3579920"/>
            <a:ext cx="429768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D4F66"/>
                </a:solidFill>
              </a:defRPr>
            </a:lvl1pPr>
          </a:lstStyle>
          <a:p>
            <a:pPr/>
            <a:r>
              <a:t>RFM dışı bırakıldı (16.268 müşteri segmentlendi)</a:t>
            </a:r>
          </a:p>
        </p:txBody>
      </p:sp>
      <p:sp>
        <p:nvSpPr>
          <p:cNvPr id="118" name="Shape 24"/>
          <p:cNvSpPr/>
          <p:nvPr/>
        </p:nvSpPr>
        <p:spPr>
          <a:xfrm>
            <a:off x="320040" y="3986784"/>
            <a:ext cx="8503920" cy="530353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9" name="Shape 25"/>
          <p:cNvSpPr/>
          <p:nvPr/>
        </p:nvSpPr>
        <p:spPr>
          <a:xfrm>
            <a:off x="320040" y="3986784"/>
            <a:ext cx="54865" cy="530353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20" name="Text 26"/>
          <p:cNvSpPr txBox="1"/>
          <p:nvPr/>
        </p:nvSpPr>
        <p:spPr>
          <a:xfrm>
            <a:off x="457199" y="4183424"/>
            <a:ext cx="393192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1B2A4A"/>
                </a:solidFill>
              </a:defRPr>
            </a:lvl1pPr>
          </a:lstStyle>
          <a:p>
            <a:pPr/>
            <a:r>
              <a:t>events'te customer_id alanı yok</a:t>
            </a:r>
          </a:p>
        </p:txBody>
      </p:sp>
      <p:sp>
        <p:nvSpPr>
          <p:cNvPr id="121" name="Text 27"/>
          <p:cNvSpPr txBox="1"/>
          <p:nvPr/>
        </p:nvSpPr>
        <p:spPr>
          <a:xfrm>
            <a:off x="4434840" y="4183424"/>
            <a:ext cx="429768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D4F66"/>
                </a:solidFill>
              </a:defRPr>
            </a:lvl1pPr>
          </a:lstStyle>
          <a:p>
            <a:pPr/>
            <a:r>
              <a:t>session_id üzerinden sessions tablosuyla join — 0 kayıp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Shape 0"/>
          <p:cNvSpPr/>
          <p:nvPr/>
        </p:nvSpPr>
        <p:spPr>
          <a:xfrm>
            <a:off x="0" y="-1"/>
            <a:ext cx="9144000" cy="475489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24" name="Shape 1"/>
          <p:cNvSpPr/>
          <p:nvPr/>
        </p:nvSpPr>
        <p:spPr>
          <a:xfrm>
            <a:off x="0" y="-1"/>
            <a:ext cx="256032" cy="475489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25" name="Text 2"/>
          <p:cNvSpPr txBox="1"/>
          <p:nvPr/>
        </p:nvSpPr>
        <p:spPr>
          <a:xfrm>
            <a:off x="347472" y="144465"/>
            <a:ext cx="137160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500">
                <a:solidFill>
                  <a:srgbClr val="1B2A4A"/>
                </a:solidFill>
              </a:defRPr>
            </a:pPr>
            <a:r>
              <a:t>Shop</a:t>
            </a:r>
            <a:r>
              <a:rPr>
                <a:solidFill>
                  <a:srgbClr val="D04F18"/>
                </a:solidFill>
              </a:rPr>
              <a:t>Lens</a:t>
            </a:r>
          </a:p>
        </p:txBody>
      </p:sp>
      <p:sp>
        <p:nvSpPr>
          <p:cNvPr id="126" name="Text 3"/>
          <p:cNvSpPr txBox="1"/>
          <p:nvPr/>
        </p:nvSpPr>
        <p:spPr>
          <a:xfrm>
            <a:off x="7132319" y="174243"/>
            <a:ext cx="192024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6B7A99"/>
                </a:solidFill>
              </a:defRPr>
            </a:lvl1pPr>
          </a:lstStyle>
          <a:p>
            <a:pPr/>
            <a:r>
              <a:t>04 · Keşifsel Analiz</a:t>
            </a:r>
          </a:p>
        </p:txBody>
      </p:sp>
      <p:sp>
        <p:nvSpPr>
          <p:cNvPr id="127" name="Text 4"/>
          <p:cNvSpPr txBox="1"/>
          <p:nvPr/>
        </p:nvSpPr>
        <p:spPr>
          <a:xfrm>
            <a:off x="411479" y="677280"/>
            <a:ext cx="8321042" cy="346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600">
                <a:solidFill>
                  <a:srgbClr val="1B2A4A"/>
                </a:solidFill>
              </a:defRPr>
            </a:lvl1pPr>
          </a:lstStyle>
          <a:p>
            <a:pPr/>
            <a:r>
              <a:t>Dönüşüm Hunisi</a:t>
            </a:r>
          </a:p>
        </p:txBody>
      </p:sp>
      <p:sp>
        <p:nvSpPr>
          <p:cNvPr id="128" name="Text 5"/>
          <p:cNvSpPr txBox="1"/>
          <p:nvPr/>
        </p:nvSpPr>
        <p:spPr>
          <a:xfrm>
            <a:off x="411479" y="1208454"/>
            <a:ext cx="832104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1100">
                <a:solidFill>
                  <a:srgbClr val="6B7A99"/>
                </a:solidFill>
              </a:defRPr>
            </a:lvl1pPr>
          </a:lstStyle>
          <a:p>
            <a:pPr/>
            <a:r>
              <a:t>En büyük kayıp: görüntülemeden sepete eklemeye. Ödeme başlatanların %74.8'i satın alıyor.</a:t>
            </a:r>
          </a:p>
        </p:txBody>
      </p:sp>
      <p:sp>
        <p:nvSpPr>
          <p:cNvPr id="129" name="Shape 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DF0F7"/>
          </a:solidFill>
          <a:ln w="12700">
            <a:solidFill>
              <a:srgbClr val="D4DAE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0" name="Text 7"/>
          <p:cNvSpPr txBox="1"/>
          <p:nvPr/>
        </p:nvSpPr>
        <p:spPr>
          <a:xfrm>
            <a:off x="274320" y="4954269"/>
            <a:ext cx="859536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6B7A99"/>
                </a:solidFill>
              </a:defRPr>
            </a:lvl1pPr>
          </a:lstStyle>
          <a:p>
            <a:pPr/>
            <a:r>
              <a:t>Özge Güneş  ·  İSMEK Yapay Zekâ ve Veri Bilimi  ·  Mayıs 2026</a:t>
            </a:r>
          </a:p>
        </p:txBody>
      </p:sp>
      <p:pic>
        <p:nvPicPr>
          <p:cNvPr id="131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74320" y="1463039"/>
            <a:ext cx="5303521" cy="2377441"/>
          </a:xfrm>
          <a:prstGeom prst="rect">
            <a:avLst/>
          </a:prstGeom>
          <a:ln w="12700">
            <a:miter lim="400000"/>
          </a:ln>
        </p:spPr>
      </p:pic>
      <p:sp>
        <p:nvSpPr>
          <p:cNvPr id="132" name="Shape 8"/>
          <p:cNvSpPr/>
          <p:nvPr/>
        </p:nvSpPr>
        <p:spPr>
          <a:xfrm>
            <a:off x="5760720" y="1463039"/>
            <a:ext cx="3108961" cy="749809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  <a:effectLst>
            <a:outerShdw sx="100000" sy="100000" kx="0" ky="0" algn="b" rotWithShape="0" blurRad="76200" dist="25400" dir="8100000">
              <a:srgbClr val="8A9BB0">
                <a:alpha val="1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33" name="Shape 9"/>
          <p:cNvSpPr/>
          <p:nvPr/>
        </p:nvSpPr>
        <p:spPr>
          <a:xfrm>
            <a:off x="5760720" y="1463039"/>
            <a:ext cx="64009" cy="749809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4" name="Text 10"/>
          <p:cNvSpPr txBox="1"/>
          <p:nvPr/>
        </p:nvSpPr>
        <p:spPr>
          <a:xfrm>
            <a:off x="5907023" y="1536191"/>
            <a:ext cx="2907794" cy="293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200">
                <a:solidFill>
                  <a:srgbClr val="D04F18"/>
                </a:solidFill>
              </a:defRPr>
            </a:lvl1pPr>
          </a:lstStyle>
          <a:p>
            <a:pPr/>
            <a:r>
              <a:t>26.5%</a:t>
            </a:r>
          </a:p>
        </p:txBody>
      </p:sp>
      <p:sp>
        <p:nvSpPr>
          <p:cNvPr id="135" name="Text 11"/>
          <p:cNvSpPr txBox="1"/>
          <p:nvPr/>
        </p:nvSpPr>
        <p:spPr>
          <a:xfrm>
            <a:off x="5907023" y="1852939"/>
            <a:ext cx="2907794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000">
                <a:solidFill>
                  <a:srgbClr val="1B2A4A"/>
                </a:solidFill>
              </a:defRPr>
            </a:lvl1pPr>
          </a:lstStyle>
          <a:p>
            <a:pPr/>
            <a:r>
              <a:t>Sepete ekleme oranı</a:t>
            </a:r>
          </a:p>
        </p:txBody>
      </p:sp>
      <p:sp>
        <p:nvSpPr>
          <p:cNvPr id="136" name="Text 12"/>
          <p:cNvSpPr txBox="1"/>
          <p:nvPr/>
        </p:nvSpPr>
        <p:spPr>
          <a:xfrm>
            <a:off x="5907023" y="2047889"/>
            <a:ext cx="290779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6B7A99"/>
                </a:solidFill>
              </a:defRPr>
            </a:lvl1pPr>
          </a:lstStyle>
          <a:p>
            <a:pPr/>
            <a:r>
              <a:t>539.343 görüntülemeden</a:t>
            </a:r>
          </a:p>
        </p:txBody>
      </p:sp>
      <p:sp>
        <p:nvSpPr>
          <p:cNvPr id="137" name="Shape 13"/>
          <p:cNvSpPr/>
          <p:nvPr/>
        </p:nvSpPr>
        <p:spPr>
          <a:xfrm>
            <a:off x="5760720" y="2286000"/>
            <a:ext cx="3108961" cy="749809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  <a:effectLst>
            <a:outerShdw sx="100000" sy="100000" kx="0" ky="0" algn="b" rotWithShape="0" blurRad="76200" dist="25400" dir="8100000">
              <a:srgbClr val="8A9BB0">
                <a:alpha val="1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38" name="Shape 14"/>
          <p:cNvSpPr/>
          <p:nvPr/>
        </p:nvSpPr>
        <p:spPr>
          <a:xfrm>
            <a:off x="5760720" y="2286000"/>
            <a:ext cx="64009" cy="749809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9" name="Text 15"/>
          <p:cNvSpPr txBox="1"/>
          <p:nvPr/>
        </p:nvSpPr>
        <p:spPr>
          <a:xfrm>
            <a:off x="5907023" y="2359151"/>
            <a:ext cx="2907794" cy="293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200">
                <a:solidFill>
                  <a:srgbClr val="D04F18"/>
                </a:solidFill>
              </a:defRPr>
            </a:lvl1pPr>
          </a:lstStyle>
          <a:p>
            <a:pPr/>
            <a:r>
              <a:t>8.3%</a:t>
            </a:r>
          </a:p>
        </p:txBody>
      </p:sp>
      <p:sp>
        <p:nvSpPr>
          <p:cNvPr id="140" name="Text 16"/>
          <p:cNvSpPr txBox="1"/>
          <p:nvPr/>
        </p:nvSpPr>
        <p:spPr>
          <a:xfrm>
            <a:off x="5907023" y="2675900"/>
            <a:ext cx="2907794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000">
                <a:solidFill>
                  <a:srgbClr val="1B2A4A"/>
                </a:solidFill>
              </a:defRPr>
            </a:lvl1pPr>
          </a:lstStyle>
          <a:p>
            <a:pPr/>
            <a:r>
              <a:t>Ödeme başlatma oranı</a:t>
            </a:r>
          </a:p>
        </p:txBody>
      </p:sp>
      <p:sp>
        <p:nvSpPr>
          <p:cNvPr id="141" name="Text 17"/>
          <p:cNvSpPr txBox="1"/>
          <p:nvPr/>
        </p:nvSpPr>
        <p:spPr>
          <a:xfrm>
            <a:off x="5907023" y="2870849"/>
            <a:ext cx="290779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6B7A99"/>
                </a:solidFill>
              </a:defRPr>
            </a:lvl1pPr>
          </a:lstStyle>
          <a:p>
            <a:pPr/>
            <a:r>
              <a:t>Görüntülemeye göre</a:t>
            </a:r>
          </a:p>
        </p:txBody>
      </p:sp>
      <p:sp>
        <p:nvSpPr>
          <p:cNvPr id="142" name="Shape 18"/>
          <p:cNvSpPr/>
          <p:nvPr/>
        </p:nvSpPr>
        <p:spPr>
          <a:xfrm>
            <a:off x="5760720" y="3108960"/>
            <a:ext cx="3108961" cy="749809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  <a:effectLst>
            <a:outerShdw sx="100000" sy="100000" kx="0" ky="0" algn="b" rotWithShape="0" blurRad="76200" dist="25400" dir="8100000">
              <a:srgbClr val="8A9BB0">
                <a:alpha val="1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43" name="Shape 19"/>
          <p:cNvSpPr/>
          <p:nvPr/>
        </p:nvSpPr>
        <p:spPr>
          <a:xfrm>
            <a:off x="5760720" y="3108960"/>
            <a:ext cx="64009" cy="749809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44" name="Text 20"/>
          <p:cNvSpPr txBox="1"/>
          <p:nvPr/>
        </p:nvSpPr>
        <p:spPr>
          <a:xfrm>
            <a:off x="5907023" y="3182111"/>
            <a:ext cx="2907794" cy="293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200">
                <a:solidFill>
                  <a:srgbClr val="D04F18"/>
                </a:solidFill>
              </a:defRPr>
            </a:lvl1pPr>
          </a:lstStyle>
          <a:p>
            <a:pPr/>
            <a:r>
              <a:t>6.23%</a:t>
            </a:r>
          </a:p>
        </p:txBody>
      </p:sp>
      <p:sp>
        <p:nvSpPr>
          <p:cNvPr id="145" name="Text 21"/>
          <p:cNvSpPr txBox="1"/>
          <p:nvPr/>
        </p:nvSpPr>
        <p:spPr>
          <a:xfrm>
            <a:off x="5907023" y="3498860"/>
            <a:ext cx="2907794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000">
                <a:solidFill>
                  <a:srgbClr val="1B2A4A"/>
                </a:solidFill>
              </a:defRPr>
            </a:lvl1pPr>
          </a:lstStyle>
          <a:p>
            <a:pPr/>
            <a:r>
              <a:t>Genel dönüşüm oranı</a:t>
            </a:r>
          </a:p>
        </p:txBody>
      </p:sp>
      <p:sp>
        <p:nvSpPr>
          <p:cNvPr id="146" name="Text 22"/>
          <p:cNvSpPr txBox="1"/>
          <p:nvPr/>
        </p:nvSpPr>
        <p:spPr>
          <a:xfrm>
            <a:off x="5907023" y="3693810"/>
            <a:ext cx="290779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6B7A99"/>
                </a:solidFill>
              </a:defRPr>
            </a:lvl1pPr>
          </a:lstStyle>
          <a:p>
            <a:pPr/>
            <a:r>
              <a:t>Sayfa görüntülemeden satış</a:t>
            </a:r>
          </a:p>
        </p:txBody>
      </p:sp>
      <p:sp>
        <p:nvSpPr>
          <p:cNvPr id="147" name="Shape 23"/>
          <p:cNvSpPr/>
          <p:nvPr/>
        </p:nvSpPr>
        <p:spPr>
          <a:xfrm>
            <a:off x="5760720" y="3931920"/>
            <a:ext cx="3108961" cy="749809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  <a:effectLst>
            <a:outerShdw sx="100000" sy="100000" kx="0" ky="0" algn="b" rotWithShape="0" blurRad="76200" dist="25400" dir="8100000">
              <a:srgbClr val="8A9BB0">
                <a:alpha val="1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48" name="Shape 24"/>
          <p:cNvSpPr/>
          <p:nvPr/>
        </p:nvSpPr>
        <p:spPr>
          <a:xfrm>
            <a:off x="5760720" y="3931920"/>
            <a:ext cx="64009" cy="749809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49" name="Text 25"/>
          <p:cNvSpPr txBox="1"/>
          <p:nvPr/>
        </p:nvSpPr>
        <p:spPr>
          <a:xfrm>
            <a:off x="5907023" y="4005071"/>
            <a:ext cx="2907794" cy="293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200">
                <a:solidFill>
                  <a:srgbClr val="D04F18"/>
                </a:solidFill>
              </a:defRPr>
            </a:lvl1pPr>
          </a:lstStyle>
          <a:p>
            <a:pPr/>
            <a:r>
              <a:t>74.8%</a:t>
            </a:r>
          </a:p>
        </p:txBody>
      </p:sp>
      <p:sp>
        <p:nvSpPr>
          <p:cNvPr id="150" name="Text 26"/>
          <p:cNvSpPr txBox="1"/>
          <p:nvPr/>
        </p:nvSpPr>
        <p:spPr>
          <a:xfrm>
            <a:off x="5907023" y="4321819"/>
            <a:ext cx="2907794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000">
                <a:solidFill>
                  <a:srgbClr val="1B2A4A"/>
                </a:solidFill>
              </a:defRPr>
            </a:lvl1pPr>
          </a:lstStyle>
          <a:p>
            <a:pPr/>
            <a:r>
              <a:t>Ödeme → satın alma</a:t>
            </a:r>
          </a:p>
        </p:txBody>
      </p:sp>
      <p:sp>
        <p:nvSpPr>
          <p:cNvPr id="151" name="Text 27"/>
          <p:cNvSpPr txBox="1"/>
          <p:nvPr/>
        </p:nvSpPr>
        <p:spPr>
          <a:xfrm>
            <a:off x="5907023" y="4516770"/>
            <a:ext cx="290779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6B7A99"/>
                </a:solidFill>
              </a:defRPr>
            </a:lvl1pPr>
          </a:lstStyle>
          <a:p>
            <a:pPr/>
            <a:r>
              <a:t>Güçlü son adım dönüşümü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Shape 0"/>
          <p:cNvSpPr/>
          <p:nvPr/>
        </p:nvSpPr>
        <p:spPr>
          <a:xfrm>
            <a:off x="0" y="-1"/>
            <a:ext cx="9144000" cy="475489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4" name="Shape 1"/>
          <p:cNvSpPr/>
          <p:nvPr/>
        </p:nvSpPr>
        <p:spPr>
          <a:xfrm>
            <a:off x="0" y="-1"/>
            <a:ext cx="256032" cy="475489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5" name="Text 2"/>
          <p:cNvSpPr txBox="1"/>
          <p:nvPr/>
        </p:nvSpPr>
        <p:spPr>
          <a:xfrm>
            <a:off x="347472" y="144465"/>
            <a:ext cx="137160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500">
                <a:solidFill>
                  <a:srgbClr val="1B2A4A"/>
                </a:solidFill>
              </a:defRPr>
            </a:pPr>
            <a:r>
              <a:t>Shop</a:t>
            </a:r>
            <a:r>
              <a:rPr>
                <a:solidFill>
                  <a:srgbClr val="D04F18"/>
                </a:solidFill>
              </a:rPr>
              <a:t>Lens</a:t>
            </a:r>
          </a:p>
        </p:txBody>
      </p:sp>
      <p:sp>
        <p:nvSpPr>
          <p:cNvPr id="156" name="Text 3"/>
          <p:cNvSpPr txBox="1"/>
          <p:nvPr/>
        </p:nvSpPr>
        <p:spPr>
          <a:xfrm>
            <a:off x="7132319" y="174243"/>
            <a:ext cx="192024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6B7A99"/>
                </a:solidFill>
              </a:defRPr>
            </a:lvl1pPr>
          </a:lstStyle>
          <a:p>
            <a:pPr/>
            <a:r>
              <a:t>05 · Ürün Analitiği</a:t>
            </a:r>
          </a:p>
        </p:txBody>
      </p:sp>
      <p:sp>
        <p:nvSpPr>
          <p:cNvPr id="157" name="Text 4"/>
          <p:cNvSpPr txBox="1"/>
          <p:nvPr/>
        </p:nvSpPr>
        <p:spPr>
          <a:xfrm>
            <a:off x="411479" y="677280"/>
            <a:ext cx="8321042" cy="346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600">
                <a:solidFill>
                  <a:srgbClr val="1B2A4A"/>
                </a:solidFill>
              </a:defRPr>
            </a:lvl1pPr>
          </a:lstStyle>
          <a:p>
            <a:pPr/>
            <a:r>
              <a:t>Duygu Analizi ve Öneri Skoru</a:t>
            </a:r>
          </a:p>
        </p:txBody>
      </p:sp>
      <p:sp>
        <p:nvSpPr>
          <p:cNvPr id="158" name="Text 5"/>
          <p:cNvSpPr txBox="1"/>
          <p:nvPr/>
        </p:nvSpPr>
        <p:spPr>
          <a:xfrm>
            <a:off x="411479" y="1208454"/>
            <a:ext cx="832104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1100">
                <a:solidFill>
                  <a:srgbClr val="6B7A99"/>
                </a:solidFill>
              </a:defRPr>
            </a:lvl1pPr>
          </a:lstStyle>
          <a:p>
            <a:pPr/>
            <a:r>
              <a:t>VADER + rating hibrit yöntemiyle etiketleme — ağırlıklı formülle ürün skorlama.</a:t>
            </a:r>
          </a:p>
        </p:txBody>
      </p:sp>
      <p:sp>
        <p:nvSpPr>
          <p:cNvPr id="159" name="Shape 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DF0F7"/>
          </a:solidFill>
          <a:ln w="12700">
            <a:solidFill>
              <a:srgbClr val="D4DAE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0" name="Text 7"/>
          <p:cNvSpPr txBox="1"/>
          <p:nvPr/>
        </p:nvSpPr>
        <p:spPr>
          <a:xfrm>
            <a:off x="274320" y="4954269"/>
            <a:ext cx="859536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6B7A99"/>
                </a:solidFill>
              </a:defRPr>
            </a:lvl1pPr>
          </a:lstStyle>
          <a:p>
            <a:pPr/>
            <a:r>
              <a:t>Özge Güneş  ·  İSMEK Yapay Zekâ ve Veri Bilimi  ·  Mayıs 2026</a:t>
            </a:r>
          </a:p>
        </p:txBody>
      </p:sp>
      <p:pic>
        <p:nvPicPr>
          <p:cNvPr id="161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74320" y="1444752"/>
            <a:ext cx="4572001" cy="2011680"/>
          </a:xfrm>
          <a:prstGeom prst="rect">
            <a:avLst/>
          </a:prstGeom>
          <a:ln w="12700">
            <a:miter lim="400000"/>
          </a:ln>
        </p:spPr>
      </p:pic>
      <p:sp>
        <p:nvSpPr>
          <p:cNvPr id="162" name="Shape 8"/>
          <p:cNvSpPr/>
          <p:nvPr/>
        </p:nvSpPr>
        <p:spPr>
          <a:xfrm>
            <a:off x="365759" y="3584447"/>
            <a:ext cx="1463042" cy="658369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  <a:effectLst>
            <a:outerShdw sx="100000" sy="100000" kx="0" ky="0" algn="b" rotWithShape="0" blurRad="76200" dist="25400" dir="8100000">
              <a:srgbClr val="8A9BB0">
                <a:alpha val="1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63" name="Text 9"/>
          <p:cNvSpPr txBox="1"/>
          <p:nvPr/>
        </p:nvSpPr>
        <p:spPr>
          <a:xfrm>
            <a:off x="365759" y="3639820"/>
            <a:ext cx="146304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800">
                <a:solidFill>
                  <a:srgbClr val="6B7A99"/>
                </a:solidFill>
              </a:defRPr>
            </a:lvl1pPr>
          </a:lstStyle>
          <a:p>
            <a:pPr/>
            <a:r>
              <a:t>Pozitif</a:t>
            </a:r>
          </a:p>
        </p:txBody>
      </p:sp>
      <p:sp>
        <p:nvSpPr>
          <p:cNvPr id="164" name="Text 10"/>
          <p:cNvSpPr txBox="1"/>
          <p:nvPr/>
        </p:nvSpPr>
        <p:spPr>
          <a:xfrm>
            <a:off x="365759" y="3818952"/>
            <a:ext cx="1463042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1E8A50"/>
                </a:solidFill>
              </a:defRPr>
            </a:lvl1pPr>
          </a:lstStyle>
          <a:p>
            <a:pPr/>
            <a:r>
              <a:t>7.620</a:t>
            </a:r>
          </a:p>
        </p:txBody>
      </p:sp>
      <p:sp>
        <p:nvSpPr>
          <p:cNvPr id="165" name="Text 11"/>
          <p:cNvSpPr txBox="1"/>
          <p:nvPr/>
        </p:nvSpPr>
        <p:spPr>
          <a:xfrm>
            <a:off x="365759" y="4051299"/>
            <a:ext cx="146304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>
                <a:solidFill>
                  <a:srgbClr val="6B7A99"/>
                </a:solidFill>
              </a:defRPr>
            </a:lvl1pPr>
          </a:lstStyle>
          <a:p>
            <a:pPr/>
            <a:r>
              <a:t>%70.7</a:t>
            </a:r>
          </a:p>
        </p:txBody>
      </p:sp>
      <p:sp>
        <p:nvSpPr>
          <p:cNvPr id="166" name="Shape 12"/>
          <p:cNvSpPr/>
          <p:nvPr/>
        </p:nvSpPr>
        <p:spPr>
          <a:xfrm>
            <a:off x="1938527" y="3584447"/>
            <a:ext cx="1463042" cy="658369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  <a:effectLst>
            <a:outerShdw sx="100000" sy="100000" kx="0" ky="0" algn="b" rotWithShape="0" blurRad="76200" dist="25400" dir="8100000">
              <a:srgbClr val="8A9BB0">
                <a:alpha val="1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67" name="Text 13"/>
          <p:cNvSpPr txBox="1"/>
          <p:nvPr/>
        </p:nvSpPr>
        <p:spPr>
          <a:xfrm>
            <a:off x="1938527" y="3639820"/>
            <a:ext cx="146304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800">
                <a:solidFill>
                  <a:srgbClr val="6B7A99"/>
                </a:solidFill>
              </a:defRPr>
            </a:lvl1pPr>
          </a:lstStyle>
          <a:p>
            <a:pPr/>
            <a:r>
              <a:t>Nötr</a:t>
            </a:r>
          </a:p>
        </p:txBody>
      </p:sp>
      <p:sp>
        <p:nvSpPr>
          <p:cNvPr id="168" name="Text 14"/>
          <p:cNvSpPr txBox="1"/>
          <p:nvPr/>
        </p:nvSpPr>
        <p:spPr>
          <a:xfrm>
            <a:off x="1938527" y="3818952"/>
            <a:ext cx="1463042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6B7A99"/>
                </a:solidFill>
              </a:defRPr>
            </a:lvl1pPr>
          </a:lstStyle>
          <a:p>
            <a:pPr/>
            <a:r>
              <a:t>1.980</a:t>
            </a:r>
          </a:p>
        </p:txBody>
      </p:sp>
      <p:sp>
        <p:nvSpPr>
          <p:cNvPr id="169" name="Text 15"/>
          <p:cNvSpPr txBox="1"/>
          <p:nvPr/>
        </p:nvSpPr>
        <p:spPr>
          <a:xfrm>
            <a:off x="1938527" y="4051299"/>
            <a:ext cx="146304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>
                <a:solidFill>
                  <a:srgbClr val="6B7A99"/>
                </a:solidFill>
              </a:defRPr>
            </a:lvl1pPr>
          </a:lstStyle>
          <a:p>
            <a:pPr/>
            <a:r>
              <a:t>%18.4</a:t>
            </a:r>
          </a:p>
        </p:txBody>
      </p:sp>
      <p:sp>
        <p:nvSpPr>
          <p:cNvPr id="170" name="Shape 16"/>
          <p:cNvSpPr/>
          <p:nvPr/>
        </p:nvSpPr>
        <p:spPr>
          <a:xfrm>
            <a:off x="3511296" y="3584447"/>
            <a:ext cx="1463041" cy="658369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  <a:effectLst>
            <a:outerShdw sx="100000" sy="100000" kx="0" ky="0" algn="b" rotWithShape="0" blurRad="76200" dist="25400" dir="8100000">
              <a:srgbClr val="8A9BB0">
                <a:alpha val="1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71" name="Text 17"/>
          <p:cNvSpPr txBox="1"/>
          <p:nvPr/>
        </p:nvSpPr>
        <p:spPr>
          <a:xfrm>
            <a:off x="3511296" y="3639820"/>
            <a:ext cx="146304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800">
                <a:solidFill>
                  <a:srgbClr val="6B7A99"/>
                </a:solidFill>
              </a:defRPr>
            </a:lvl1pPr>
          </a:lstStyle>
          <a:p>
            <a:pPr/>
            <a:r>
              <a:t>Negatif</a:t>
            </a:r>
          </a:p>
        </p:txBody>
      </p:sp>
      <p:sp>
        <p:nvSpPr>
          <p:cNvPr id="172" name="Text 18"/>
          <p:cNvSpPr txBox="1"/>
          <p:nvPr/>
        </p:nvSpPr>
        <p:spPr>
          <a:xfrm>
            <a:off x="3511296" y="3818952"/>
            <a:ext cx="1463041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400">
                <a:solidFill>
                  <a:srgbClr val="B03030"/>
                </a:solidFill>
              </a:defRPr>
            </a:lvl1pPr>
          </a:lstStyle>
          <a:p>
            <a:pPr/>
            <a:r>
              <a:t>1.180</a:t>
            </a:r>
          </a:p>
        </p:txBody>
      </p:sp>
      <p:sp>
        <p:nvSpPr>
          <p:cNvPr id="173" name="Text 19"/>
          <p:cNvSpPr txBox="1"/>
          <p:nvPr/>
        </p:nvSpPr>
        <p:spPr>
          <a:xfrm>
            <a:off x="3511296" y="4051299"/>
            <a:ext cx="146304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>
                <a:solidFill>
                  <a:srgbClr val="6B7A99"/>
                </a:solidFill>
              </a:defRPr>
            </a:lvl1pPr>
          </a:lstStyle>
          <a:p>
            <a:pPr/>
            <a:r>
              <a:t>%10.9</a:t>
            </a:r>
          </a:p>
        </p:txBody>
      </p:sp>
      <p:sp>
        <p:nvSpPr>
          <p:cNvPr id="174" name="Text 20"/>
          <p:cNvSpPr txBox="1"/>
          <p:nvPr/>
        </p:nvSpPr>
        <p:spPr>
          <a:xfrm>
            <a:off x="5029200" y="1526339"/>
            <a:ext cx="3840480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1B2A4A"/>
                </a:solidFill>
              </a:defRPr>
            </a:lvl1pPr>
          </a:lstStyle>
          <a:p>
            <a:pPr/>
            <a:r>
              <a:t>Öneri Skoru — Ağırlıklı Formül</a:t>
            </a:r>
          </a:p>
        </p:txBody>
      </p:sp>
      <p:sp>
        <p:nvSpPr>
          <p:cNvPr id="175" name="Text 21"/>
          <p:cNvSpPr txBox="1"/>
          <p:nvPr/>
        </p:nvSpPr>
        <p:spPr>
          <a:xfrm>
            <a:off x="5029200" y="1970576"/>
            <a:ext cx="2286000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D4F66"/>
                </a:solidFill>
              </a:defRPr>
            </a:lvl1pPr>
          </a:lstStyle>
          <a:p>
            <a:pPr/>
            <a:r>
              <a:t>Satış oranı</a:t>
            </a:r>
          </a:p>
        </p:txBody>
      </p:sp>
      <p:sp>
        <p:nvSpPr>
          <p:cNvPr id="176" name="Shape 22"/>
          <p:cNvSpPr/>
          <p:nvPr/>
        </p:nvSpPr>
        <p:spPr>
          <a:xfrm>
            <a:off x="7360919" y="1929383"/>
            <a:ext cx="409652" cy="201169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7" name="Text 23"/>
          <p:cNvSpPr txBox="1"/>
          <p:nvPr/>
        </p:nvSpPr>
        <p:spPr>
          <a:xfrm>
            <a:off x="8887968" y="1970576"/>
            <a:ext cx="475488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b="1" sz="1000">
                <a:solidFill>
                  <a:srgbClr val="D04F18"/>
                </a:solidFill>
              </a:defRPr>
            </a:lvl1pPr>
          </a:lstStyle>
          <a:p>
            <a:pPr/>
            <a:r>
              <a:t>%28</a:t>
            </a:r>
          </a:p>
        </p:txBody>
      </p:sp>
      <p:sp>
        <p:nvSpPr>
          <p:cNvPr id="178" name="Text 24"/>
          <p:cNvSpPr txBox="1"/>
          <p:nvPr/>
        </p:nvSpPr>
        <p:spPr>
          <a:xfrm>
            <a:off x="5029200" y="2409488"/>
            <a:ext cx="2286000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D4F66"/>
                </a:solidFill>
              </a:defRPr>
            </a:lvl1pPr>
          </a:lstStyle>
          <a:p>
            <a:pPr/>
            <a:r>
              <a:t>Ortalama rating</a:t>
            </a:r>
          </a:p>
        </p:txBody>
      </p:sp>
      <p:sp>
        <p:nvSpPr>
          <p:cNvPr id="179" name="Shape 25"/>
          <p:cNvSpPr/>
          <p:nvPr/>
        </p:nvSpPr>
        <p:spPr>
          <a:xfrm>
            <a:off x="7360919" y="2368295"/>
            <a:ext cx="292609" cy="201169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0" name="Text 26"/>
          <p:cNvSpPr txBox="1"/>
          <p:nvPr/>
        </p:nvSpPr>
        <p:spPr>
          <a:xfrm>
            <a:off x="8887968" y="2409488"/>
            <a:ext cx="475488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b="1" sz="1000">
                <a:solidFill>
                  <a:srgbClr val="D04F18"/>
                </a:solidFill>
              </a:defRPr>
            </a:lvl1pPr>
          </a:lstStyle>
          <a:p>
            <a:pPr/>
            <a:r>
              <a:t>%20</a:t>
            </a:r>
          </a:p>
        </p:txBody>
      </p:sp>
      <p:sp>
        <p:nvSpPr>
          <p:cNvPr id="181" name="Text 27"/>
          <p:cNvSpPr txBox="1"/>
          <p:nvPr/>
        </p:nvSpPr>
        <p:spPr>
          <a:xfrm>
            <a:off x="5029200" y="2848400"/>
            <a:ext cx="2286000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D4F66"/>
                </a:solidFill>
              </a:defRPr>
            </a:lvl1pPr>
          </a:lstStyle>
          <a:p>
            <a:pPr/>
            <a:r>
              <a:t>Sepete ekleme oranı</a:t>
            </a:r>
          </a:p>
        </p:txBody>
      </p:sp>
      <p:sp>
        <p:nvSpPr>
          <p:cNvPr id="182" name="Shape 28"/>
          <p:cNvSpPr/>
          <p:nvPr/>
        </p:nvSpPr>
        <p:spPr>
          <a:xfrm>
            <a:off x="7360919" y="2807207"/>
            <a:ext cx="263348" cy="201169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3" name="Text 29"/>
          <p:cNvSpPr txBox="1"/>
          <p:nvPr/>
        </p:nvSpPr>
        <p:spPr>
          <a:xfrm>
            <a:off x="8887968" y="2848400"/>
            <a:ext cx="475488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b="1" sz="1000">
                <a:solidFill>
                  <a:srgbClr val="D04F18"/>
                </a:solidFill>
              </a:defRPr>
            </a:lvl1pPr>
          </a:lstStyle>
          <a:p>
            <a:pPr/>
            <a:r>
              <a:t>%18</a:t>
            </a:r>
          </a:p>
        </p:txBody>
      </p:sp>
      <p:sp>
        <p:nvSpPr>
          <p:cNvPr id="184" name="Text 30"/>
          <p:cNvSpPr txBox="1"/>
          <p:nvPr/>
        </p:nvSpPr>
        <p:spPr>
          <a:xfrm>
            <a:off x="5029200" y="3287312"/>
            <a:ext cx="2286000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D4F66"/>
                </a:solidFill>
              </a:defRPr>
            </a:lvl1pPr>
          </a:lstStyle>
          <a:p>
            <a:pPr/>
            <a:r>
              <a:t>Pozitif yorum oranı</a:t>
            </a:r>
          </a:p>
        </p:txBody>
      </p:sp>
      <p:sp>
        <p:nvSpPr>
          <p:cNvPr id="185" name="Shape 31"/>
          <p:cNvSpPr/>
          <p:nvPr/>
        </p:nvSpPr>
        <p:spPr>
          <a:xfrm>
            <a:off x="7360919" y="3246120"/>
            <a:ext cx="263348" cy="201169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6" name="Text 32"/>
          <p:cNvSpPr txBox="1"/>
          <p:nvPr/>
        </p:nvSpPr>
        <p:spPr>
          <a:xfrm>
            <a:off x="8887968" y="3287312"/>
            <a:ext cx="475488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b="1" sz="1000">
                <a:solidFill>
                  <a:srgbClr val="D04F18"/>
                </a:solidFill>
              </a:defRPr>
            </a:lvl1pPr>
          </a:lstStyle>
          <a:p>
            <a:pPr/>
            <a:r>
              <a:t>%18</a:t>
            </a:r>
          </a:p>
        </p:txBody>
      </p:sp>
      <p:sp>
        <p:nvSpPr>
          <p:cNvPr id="187" name="Text 33"/>
          <p:cNvSpPr txBox="1"/>
          <p:nvPr/>
        </p:nvSpPr>
        <p:spPr>
          <a:xfrm>
            <a:off x="5029200" y="3726224"/>
            <a:ext cx="2286000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D4F66"/>
                </a:solidFill>
              </a:defRPr>
            </a:lvl1pPr>
          </a:lstStyle>
          <a:p>
            <a:pPr/>
            <a:r>
              <a:t>Gelir</a:t>
            </a:r>
          </a:p>
        </p:txBody>
      </p:sp>
      <p:sp>
        <p:nvSpPr>
          <p:cNvPr id="188" name="Shape 34"/>
          <p:cNvSpPr/>
          <p:nvPr/>
        </p:nvSpPr>
        <p:spPr>
          <a:xfrm>
            <a:off x="7360919" y="3685032"/>
            <a:ext cx="117044" cy="201169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9" name="Text 35"/>
          <p:cNvSpPr txBox="1"/>
          <p:nvPr/>
        </p:nvSpPr>
        <p:spPr>
          <a:xfrm>
            <a:off x="8887968" y="3726224"/>
            <a:ext cx="475488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b="1" sz="1000">
                <a:solidFill>
                  <a:srgbClr val="D04F18"/>
                </a:solidFill>
              </a:defRPr>
            </a:lvl1pPr>
          </a:lstStyle>
          <a:p>
            <a:pPr/>
            <a:r>
              <a:t>%8</a:t>
            </a:r>
          </a:p>
        </p:txBody>
      </p:sp>
      <p:sp>
        <p:nvSpPr>
          <p:cNvPr id="190" name="Text 36"/>
          <p:cNvSpPr txBox="1"/>
          <p:nvPr/>
        </p:nvSpPr>
        <p:spPr>
          <a:xfrm>
            <a:off x="5029200" y="4165136"/>
            <a:ext cx="2286000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D4F66"/>
                </a:solidFill>
              </a:defRPr>
            </a:lvl1pPr>
          </a:lstStyle>
          <a:p>
            <a:pPr/>
            <a:r>
              <a:t>Marj</a:t>
            </a:r>
          </a:p>
        </p:txBody>
      </p:sp>
      <p:sp>
        <p:nvSpPr>
          <p:cNvPr id="191" name="Shape 37"/>
          <p:cNvSpPr/>
          <p:nvPr/>
        </p:nvSpPr>
        <p:spPr>
          <a:xfrm>
            <a:off x="7360919" y="4123944"/>
            <a:ext cx="117044" cy="201169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92" name="Text 38"/>
          <p:cNvSpPr txBox="1"/>
          <p:nvPr/>
        </p:nvSpPr>
        <p:spPr>
          <a:xfrm>
            <a:off x="8887968" y="4165136"/>
            <a:ext cx="475488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b="1" sz="1000">
                <a:solidFill>
                  <a:srgbClr val="D04F18"/>
                </a:solidFill>
              </a:defRPr>
            </a:lvl1pPr>
          </a:lstStyle>
          <a:p>
            <a:pPr/>
            <a:r>
              <a:t>%8</a:t>
            </a:r>
          </a:p>
        </p:txBody>
      </p:sp>
      <p:sp>
        <p:nvSpPr>
          <p:cNvPr id="193" name="Text 39"/>
          <p:cNvSpPr txBox="1"/>
          <p:nvPr/>
        </p:nvSpPr>
        <p:spPr>
          <a:xfrm>
            <a:off x="5029200" y="4627371"/>
            <a:ext cx="384048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900">
                <a:solidFill>
                  <a:srgbClr val="D04F18"/>
                </a:solidFill>
              </a:defRPr>
            </a:lvl1pPr>
          </a:lstStyle>
          <a:p>
            <a:pPr/>
            <a:r>
              <a:t>Eşik: üst %30 → onerilir=1  (359 ürün)</a:t>
            </a:r>
          </a:p>
        </p:txBody>
      </p:sp>
      <p:sp>
        <p:nvSpPr>
          <p:cNvPr id="194" name="Text 40"/>
          <p:cNvSpPr txBox="1"/>
          <p:nvPr/>
        </p:nvSpPr>
        <p:spPr>
          <a:xfrm>
            <a:off x="320040" y="4682235"/>
            <a:ext cx="45720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800">
                <a:solidFill>
                  <a:srgbClr val="6B7A99"/>
                </a:solidFill>
              </a:defRPr>
            </a:lvl1pPr>
          </a:lstStyle>
          <a:p>
            <a:pPr/>
            <a:r>
              <a:t>Karar: compound &gt; 0.3 ve rating ≥ 4 → pozitif  |  compound &lt; -0.1 veya rating ≤ 2 → negatif  |  diğeri → nötr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Shape 0"/>
          <p:cNvSpPr/>
          <p:nvPr/>
        </p:nvSpPr>
        <p:spPr>
          <a:xfrm>
            <a:off x="0" y="-1"/>
            <a:ext cx="9144000" cy="475489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97" name="Shape 1"/>
          <p:cNvSpPr/>
          <p:nvPr/>
        </p:nvSpPr>
        <p:spPr>
          <a:xfrm>
            <a:off x="0" y="-1"/>
            <a:ext cx="256032" cy="475489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98" name="Text 2"/>
          <p:cNvSpPr txBox="1"/>
          <p:nvPr/>
        </p:nvSpPr>
        <p:spPr>
          <a:xfrm>
            <a:off x="347472" y="144465"/>
            <a:ext cx="137160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500">
                <a:solidFill>
                  <a:srgbClr val="1B2A4A"/>
                </a:solidFill>
              </a:defRPr>
            </a:pPr>
            <a:r>
              <a:t>Shop</a:t>
            </a:r>
            <a:r>
              <a:rPr>
                <a:solidFill>
                  <a:srgbClr val="D04F18"/>
                </a:solidFill>
              </a:rPr>
              <a:t>Lens</a:t>
            </a:r>
          </a:p>
        </p:txBody>
      </p:sp>
      <p:sp>
        <p:nvSpPr>
          <p:cNvPr id="199" name="Text 3"/>
          <p:cNvSpPr txBox="1"/>
          <p:nvPr/>
        </p:nvSpPr>
        <p:spPr>
          <a:xfrm>
            <a:off x="7132319" y="174243"/>
            <a:ext cx="192024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6B7A99"/>
                </a:solidFill>
              </a:defRPr>
            </a:lvl1pPr>
          </a:lstStyle>
          <a:p>
            <a:pPr/>
            <a:r>
              <a:t>06 · Müşteri</a:t>
            </a:r>
          </a:p>
        </p:txBody>
      </p:sp>
      <p:sp>
        <p:nvSpPr>
          <p:cNvPr id="200" name="Text 4"/>
          <p:cNvSpPr txBox="1"/>
          <p:nvPr/>
        </p:nvSpPr>
        <p:spPr>
          <a:xfrm>
            <a:off x="411479" y="677280"/>
            <a:ext cx="8321042" cy="346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600">
                <a:solidFill>
                  <a:srgbClr val="1B2A4A"/>
                </a:solidFill>
              </a:defRPr>
            </a:lvl1pPr>
          </a:lstStyle>
          <a:p>
            <a:pPr/>
            <a:r>
              <a:t>RFM Müşteri Segmentasyonu</a:t>
            </a:r>
          </a:p>
        </p:txBody>
      </p:sp>
      <p:sp>
        <p:nvSpPr>
          <p:cNvPr id="201" name="Text 5"/>
          <p:cNvSpPr txBox="1"/>
          <p:nvPr/>
        </p:nvSpPr>
        <p:spPr>
          <a:xfrm>
            <a:off x="411479" y="1208454"/>
            <a:ext cx="832104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1100">
                <a:solidFill>
                  <a:srgbClr val="6B7A99"/>
                </a:solidFill>
              </a:defRPr>
            </a:lvl1pPr>
          </a:lstStyle>
          <a:p>
            <a:pPr/>
            <a:r>
              <a:t>İş kuralı tabanlı segmentleme. Sipariş geçmişi olan 16.268 müşteri segmentlendi.</a:t>
            </a:r>
          </a:p>
        </p:txBody>
      </p:sp>
      <p:sp>
        <p:nvSpPr>
          <p:cNvPr id="202" name="Shape 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DF0F7"/>
          </a:solidFill>
          <a:ln w="12700">
            <a:solidFill>
              <a:srgbClr val="D4DAE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03" name="Text 7"/>
          <p:cNvSpPr txBox="1"/>
          <p:nvPr/>
        </p:nvSpPr>
        <p:spPr>
          <a:xfrm>
            <a:off x="274320" y="4954269"/>
            <a:ext cx="859536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6B7A99"/>
                </a:solidFill>
              </a:defRPr>
            </a:lvl1pPr>
          </a:lstStyle>
          <a:p>
            <a:pPr/>
            <a:r>
              <a:t>Özge Güneş  ·  İSMEK Yapay Zekâ ve Veri Bilimi  ·  Mayıs 2026</a:t>
            </a:r>
          </a:p>
        </p:txBody>
      </p:sp>
      <p:pic>
        <p:nvPicPr>
          <p:cNvPr id="204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74320" y="1463039"/>
            <a:ext cx="4206241" cy="2322578"/>
          </a:xfrm>
          <a:prstGeom prst="rect">
            <a:avLst/>
          </a:prstGeom>
          <a:ln w="12700">
            <a:miter lim="400000"/>
          </a:ln>
        </p:spPr>
      </p:pic>
      <p:sp>
        <p:nvSpPr>
          <p:cNvPr id="205" name="Shape 8"/>
          <p:cNvSpPr/>
          <p:nvPr/>
        </p:nvSpPr>
        <p:spPr>
          <a:xfrm>
            <a:off x="4663440" y="1481327"/>
            <a:ext cx="2148841" cy="1078993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  <a:effectLst>
            <a:outerShdw sx="100000" sy="100000" kx="0" ky="0" algn="b" rotWithShape="0" blurRad="76200" dist="25400" dir="8100000">
              <a:srgbClr val="8A9BB0">
                <a:alpha val="1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206" name="Shape 9"/>
          <p:cNvSpPr/>
          <p:nvPr/>
        </p:nvSpPr>
        <p:spPr>
          <a:xfrm>
            <a:off x="4663440" y="1481327"/>
            <a:ext cx="54865" cy="1078993"/>
          </a:xfrm>
          <a:prstGeom prst="rect">
            <a:avLst/>
          </a:prstGeom>
          <a:solidFill>
            <a:srgbClr val="1E8A50"/>
          </a:solidFill>
          <a:ln w="12700">
            <a:solidFill>
              <a:srgbClr val="1E8A50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07" name="Text 10"/>
          <p:cNvSpPr txBox="1"/>
          <p:nvPr/>
        </p:nvSpPr>
        <p:spPr>
          <a:xfrm>
            <a:off x="4791455" y="1597074"/>
            <a:ext cx="18288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1B2A4A"/>
                </a:solidFill>
              </a:defRPr>
            </a:lvl1pPr>
          </a:lstStyle>
          <a:p>
            <a:pPr/>
            <a:r>
              <a:t>Şampiyon</a:t>
            </a:r>
          </a:p>
        </p:txBody>
      </p:sp>
      <p:sp>
        <p:nvSpPr>
          <p:cNvPr id="208" name="Text 11"/>
          <p:cNvSpPr txBox="1"/>
          <p:nvPr/>
        </p:nvSpPr>
        <p:spPr>
          <a:xfrm>
            <a:off x="4791455" y="1811019"/>
            <a:ext cx="1828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6B7A99"/>
                </a:solidFill>
              </a:defRPr>
            </a:lvl1pPr>
          </a:lstStyle>
          <a:p>
            <a:pPr/>
            <a:r>
              <a:t>R≥4 ve F≥4</a:t>
            </a:r>
          </a:p>
        </p:txBody>
      </p:sp>
      <p:sp>
        <p:nvSpPr>
          <p:cNvPr id="209" name="Text 12"/>
          <p:cNvSpPr txBox="1"/>
          <p:nvPr/>
        </p:nvSpPr>
        <p:spPr>
          <a:xfrm>
            <a:off x="4791455" y="1978749"/>
            <a:ext cx="1828801" cy="2487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000">
                <a:solidFill>
                  <a:srgbClr val="1E8A50"/>
                </a:solidFill>
              </a:defRPr>
            </a:lvl1pPr>
          </a:lstStyle>
          <a:p>
            <a:pPr/>
            <a:r>
              <a:t>2.923</a:t>
            </a:r>
          </a:p>
        </p:txBody>
      </p:sp>
      <p:sp>
        <p:nvSpPr>
          <p:cNvPr id="210" name="Text 13"/>
          <p:cNvSpPr txBox="1"/>
          <p:nvPr/>
        </p:nvSpPr>
        <p:spPr>
          <a:xfrm>
            <a:off x="4791455" y="2313939"/>
            <a:ext cx="1828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6B7A99"/>
                </a:solidFill>
              </a:defRPr>
            </a:lvl1pPr>
          </a:lstStyle>
          <a:p>
            <a:pPr/>
            <a:r>
              <a:t>Yakın tarihte sık alışveriş</a:t>
            </a:r>
          </a:p>
        </p:txBody>
      </p:sp>
      <p:sp>
        <p:nvSpPr>
          <p:cNvPr id="211" name="Shape 14"/>
          <p:cNvSpPr/>
          <p:nvPr/>
        </p:nvSpPr>
        <p:spPr>
          <a:xfrm>
            <a:off x="6903719" y="1481327"/>
            <a:ext cx="2148841" cy="1078993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  <a:effectLst>
            <a:outerShdw sx="100000" sy="100000" kx="0" ky="0" algn="b" rotWithShape="0" blurRad="76200" dist="25400" dir="8100000">
              <a:srgbClr val="8A9BB0">
                <a:alpha val="1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212" name="Shape 15"/>
          <p:cNvSpPr/>
          <p:nvPr/>
        </p:nvSpPr>
        <p:spPr>
          <a:xfrm>
            <a:off x="6903719" y="1481327"/>
            <a:ext cx="54865" cy="1078993"/>
          </a:xfrm>
          <a:prstGeom prst="rect">
            <a:avLst/>
          </a:prstGeom>
          <a:solidFill>
            <a:srgbClr val="0E7F7F"/>
          </a:solidFill>
          <a:ln w="12700">
            <a:solidFill>
              <a:srgbClr val="0E7F7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13" name="Text 16"/>
          <p:cNvSpPr txBox="1"/>
          <p:nvPr/>
        </p:nvSpPr>
        <p:spPr>
          <a:xfrm>
            <a:off x="7031735" y="1597074"/>
            <a:ext cx="18288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1B2A4A"/>
                </a:solidFill>
              </a:defRPr>
            </a:lvl1pPr>
          </a:lstStyle>
          <a:p>
            <a:pPr/>
            <a:r>
              <a:t>Sadık</a:t>
            </a:r>
          </a:p>
        </p:txBody>
      </p:sp>
      <p:sp>
        <p:nvSpPr>
          <p:cNvPr id="214" name="Text 17"/>
          <p:cNvSpPr txBox="1"/>
          <p:nvPr/>
        </p:nvSpPr>
        <p:spPr>
          <a:xfrm>
            <a:off x="7031735" y="1811019"/>
            <a:ext cx="1828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6B7A99"/>
                </a:solidFill>
              </a:defRPr>
            </a:lvl1pPr>
          </a:lstStyle>
          <a:p>
            <a:pPr/>
            <a:r>
              <a:t>R≥3 ve F≥3</a:t>
            </a:r>
          </a:p>
        </p:txBody>
      </p:sp>
      <p:sp>
        <p:nvSpPr>
          <p:cNvPr id="215" name="Text 18"/>
          <p:cNvSpPr txBox="1"/>
          <p:nvPr/>
        </p:nvSpPr>
        <p:spPr>
          <a:xfrm>
            <a:off x="7031735" y="1978749"/>
            <a:ext cx="1828801" cy="2487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000">
                <a:solidFill>
                  <a:srgbClr val="0E7F7F"/>
                </a:solidFill>
              </a:defRPr>
            </a:lvl1pPr>
          </a:lstStyle>
          <a:p>
            <a:pPr/>
            <a:r>
              <a:t>4.388</a:t>
            </a:r>
          </a:p>
        </p:txBody>
      </p:sp>
      <p:sp>
        <p:nvSpPr>
          <p:cNvPr id="216" name="Text 19"/>
          <p:cNvSpPr txBox="1"/>
          <p:nvPr/>
        </p:nvSpPr>
        <p:spPr>
          <a:xfrm>
            <a:off x="7031735" y="2313939"/>
            <a:ext cx="1828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6B7A99"/>
                </a:solidFill>
              </a:defRPr>
            </a:lvl1pPr>
          </a:lstStyle>
          <a:p>
            <a:pPr/>
            <a:r>
              <a:t>Düzenli, tutarlı müşteri</a:t>
            </a:r>
          </a:p>
        </p:txBody>
      </p:sp>
      <p:sp>
        <p:nvSpPr>
          <p:cNvPr id="217" name="Shape 20"/>
          <p:cNvSpPr/>
          <p:nvPr/>
        </p:nvSpPr>
        <p:spPr>
          <a:xfrm>
            <a:off x="4663440" y="2651760"/>
            <a:ext cx="2148841" cy="1078993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  <a:effectLst>
            <a:outerShdw sx="100000" sy="100000" kx="0" ky="0" algn="b" rotWithShape="0" blurRad="76200" dist="25400" dir="8100000">
              <a:srgbClr val="8A9BB0">
                <a:alpha val="1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218" name="Shape 21"/>
          <p:cNvSpPr/>
          <p:nvPr/>
        </p:nvSpPr>
        <p:spPr>
          <a:xfrm>
            <a:off x="4663440" y="2651760"/>
            <a:ext cx="54865" cy="1078993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19" name="Text 22"/>
          <p:cNvSpPr txBox="1"/>
          <p:nvPr/>
        </p:nvSpPr>
        <p:spPr>
          <a:xfrm>
            <a:off x="4791455" y="2767506"/>
            <a:ext cx="18288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1B2A4A"/>
                </a:solidFill>
              </a:defRPr>
            </a:lvl1pPr>
          </a:lstStyle>
          <a:p>
            <a:pPr/>
            <a:r>
              <a:t>Yeni</a:t>
            </a:r>
          </a:p>
        </p:txBody>
      </p:sp>
      <p:sp>
        <p:nvSpPr>
          <p:cNvPr id="220" name="Text 23"/>
          <p:cNvSpPr txBox="1"/>
          <p:nvPr/>
        </p:nvSpPr>
        <p:spPr>
          <a:xfrm>
            <a:off x="4791455" y="2981451"/>
            <a:ext cx="1828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6B7A99"/>
                </a:solidFill>
              </a:defRPr>
            </a:lvl1pPr>
          </a:lstStyle>
          <a:p>
            <a:pPr/>
            <a:r>
              <a:t>R≥4 ve F≤2</a:t>
            </a:r>
          </a:p>
        </p:txBody>
      </p:sp>
      <p:sp>
        <p:nvSpPr>
          <p:cNvPr id="221" name="Text 24"/>
          <p:cNvSpPr txBox="1"/>
          <p:nvPr/>
        </p:nvSpPr>
        <p:spPr>
          <a:xfrm>
            <a:off x="4791455" y="3149181"/>
            <a:ext cx="1828801" cy="2487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000">
                <a:solidFill>
                  <a:srgbClr val="E8622A"/>
                </a:solidFill>
              </a:defRPr>
            </a:lvl1pPr>
          </a:lstStyle>
          <a:p>
            <a:pPr/>
            <a:r>
              <a:t>1.442</a:t>
            </a:r>
          </a:p>
        </p:txBody>
      </p:sp>
      <p:sp>
        <p:nvSpPr>
          <p:cNvPr id="222" name="Text 25"/>
          <p:cNvSpPr txBox="1"/>
          <p:nvPr/>
        </p:nvSpPr>
        <p:spPr>
          <a:xfrm>
            <a:off x="4791455" y="3484371"/>
            <a:ext cx="1828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6B7A99"/>
                </a:solidFill>
              </a:defRPr>
            </a:lvl1pPr>
          </a:lstStyle>
          <a:p>
            <a:pPr/>
            <a:r>
              <a:t>Yeni başladı, potansiyeli yüksek</a:t>
            </a:r>
          </a:p>
        </p:txBody>
      </p:sp>
      <p:sp>
        <p:nvSpPr>
          <p:cNvPr id="223" name="Shape 26"/>
          <p:cNvSpPr/>
          <p:nvPr/>
        </p:nvSpPr>
        <p:spPr>
          <a:xfrm>
            <a:off x="6903719" y="2651760"/>
            <a:ext cx="2148841" cy="1078993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  <a:effectLst>
            <a:outerShdw sx="100000" sy="100000" kx="0" ky="0" algn="b" rotWithShape="0" blurRad="76200" dist="25400" dir="8100000">
              <a:srgbClr val="8A9BB0">
                <a:alpha val="1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224" name="Shape 27"/>
          <p:cNvSpPr/>
          <p:nvPr/>
        </p:nvSpPr>
        <p:spPr>
          <a:xfrm>
            <a:off x="6903719" y="2651760"/>
            <a:ext cx="54865" cy="1078993"/>
          </a:xfrm>
          <a:prstGeom prst="rect">
            <a:avLst/>
          </a:prstGeom>
          <a:solidFill>
            <a:srgbClr val="E08030"/>
          </a:solidFill>
          <a:ln w="12700">
            <a:solidFill>
              <a:srgbClr val="E08030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25" name="Text 28"/>
          <p:cNvSpPr txBox="1"/>
          <p:nvPr/>
        </p:nvSpPr>
        <p:spPr>
          <a:xfrm>
            <a:off x="7031735" y="2767506"/>
            <a:ext cx="18288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1B2A4A"/>
                </a:solidFill>
              </a:defRPr>
            </a:lvl1pPr>
          </a:lstStyle>
          <a:p>
            <a:pPr/>
            <a:r>
              <a:t>Potansiyel</a:t>
            </a:r>
          </a:p>
        </p:txBody>
      </p:sp>
      <p:sp>
        <p:nvSpPr>
          <p:cNvPr id="226" name="Text 29"/>
          <p:cNvSpPr txBox="1"/>
          <p:nvPr/>
        </p:nvSpPr>
        <p:spPr>
          <a:xfrm>
            <a:off x="7031735" y="2981451"/>
            <a:ext cx="1828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6B7A99"/>
                </a:solidFill>
              </a:defRPr>
            </a:lvl1pPr>
          </a:lstStyle>
          <a:p>
            <a:pPr/>
            <a:r>
              <a:t>Orta R/F</a:t>
            </a:r>
          </a:p>
        </p:txBody>
      </p:sp>
      <p:sp>
        <p:nvSpPr>
          <p:cNvPr id="227" name="Text 30"/>
          <p:cNvSpPr txBox="1"/>
          <p:nvPr/>
        </p:nvSpPr>
        <p:spPr>
          <a:xfrm>
            <a:off x="7031735" y="3149181"/>
            <a:ext cx="1828801" cy="2487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000">
                <a:solidFill>
                  <a:srgbClr val="E08030"/>
                </a:solidFill>
              </a:defRPr>
            </a:lvl1pPr>
          </a:lstStyle>
          <a:p>
            <a:pPr/>
            <a:r>
              <a:t>1.014</a:t>
            </a:r>
          </a:p>
        </p:txBody>
      </p:sp>
      <p:sp>
        <p:nvSpPr>
          <p:cNvPr id="228" name="Text 31"/>
          <p:cNvSpPr txBox="1"/>
          <p:nvPr/>
        </p:nvSpPr>
        <p:spPr>
          <a:xfrm>
            <a:off x="7031735" y="3484371"/>
            <a:ext cx="1828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6B7A99"/>
                </a:solidFill>
              </a:defRPr>
            </a:lvl1pPr>
          </a:lstStyle>
          <a:p>
            <a:pPr/>
            <a:r>
              <a:t>Geliştirilebilir segment</a:t>
            </a:r>
          </a:p>
        </p:txBody>
      </p:sp>
      <p:sp>
        <p:nvSpPr>
          <p:cNvPr id="229" name="Shape 32"/>
          <p:cNvSpPr/>
          <p:nvPr/>
        </p:nvSpPr>
        <p:spPr>
          <a:xfrm>
            <a:off x="4663440" y="3822191"/>
            <a:ext cx="2148841" cy="1078993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  <a:effectLst>
            <a:outerShdw sx="100000" sy="100000" kx="0" ky="0" algn="b" rotWithShape="0" blurRad="76200" dist="25400" dir="8100000">
              <a:srgbClr val="8A9BB0">
                <a:alpha val="1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230" name="Shape 33"/>
          <p:cNvSpPr/>
          <p:nvPr/>
        </p:nvSpPr>
        <p:spPr>
          <a:xfrm>
            <a:off x="4663440" y="3822191"/>
            <a:ext cx="54865" cy="1078993"/>
          </a:xfrm>
          <a:prstGeom prst="rect">
            <a:avLst/>
          </a:prstGeom>
          <a:solidFill>
            <a:srgbClr val="C07020"/>
          </a:solidFill>
          <a:ln w="12700">
            <a:solidFill>
              <a:srgbClr val="C07020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31" name="Text 34"/>
          <p:cNvSpPr txBox="1"/>
          <p:nvPr/>
        </p:nvSpPr>
        <p:spPr>
          <a:xfrm>
            <a:off x="4791455" y="3937937"/>
            <a:ext cx="1828801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1B2A4A"/>
                </a:solidFill>
              </a:defRPr>
            </a:lvl1pPr>
          </a:lstStyle>
          <a:p>
            <a:pPr/>
            <a:r>
              <a:t>Risk Altında</a:t>
            </a:r>
          </a:p>
        </p:txBody>
      </p:sp>
      <p:sp>
        <p:nvSpPr>
          <p:cNvPr id="232" name="Text 35"/>
          <p:cNvSpPr txBox="1"/>
          <p:nvPr/>
        </p:nvSpPr>
        <p:spPr>
          <a:xfrm>
            <a:off x="4791455" y="4151884"/>
            <a:ext cx="1828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6B7A99"/>
                </a:solidFill>
              </a:defRPr>
            </a:lvl1pPr>
          </a:lstStyle>
          <a:p>
            <a:pPr/>
            <a:r>
              <a:t>R≤2 ve F≥3</a:t>
            </a:r>
          </a:p>
        </p:txBody>
      </p:sp>
      <p:sp>
        <p:nvSpPr>
          <p:cNvPr id="233" name="Text 36"/>
          <p:cNvSpPr txBox="1"/>
          <p:nvPr/>
        </p:nvSpPr>
        <p:spPr>
          <a:xfrm>
            <a:off x="4791455" y="4319613"/>
            <a:ext cx="1828801" cy="2487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000">
                <a:solidFill>
                  <a:srgbClr val="C07020"/>
                </a:solidFill>
              </a:defRPr>
            </a:lvl1pPr>
          </a:lstStyle>
          <a:p>
            <a:pPr/>
            <a:r>
              <a:t>2.734</a:t>
            </a:r>
          </a:p>
        </p:txBody>
      </p:sp>
      <p:sp>
        <p:nvSpPr>
          <p:cNvPr id="234" name="Text 37"/>
          <p:cNvSpPr txBox="1"/>
          <p:nvPr/>
        </p:nvSpPr>
        <p:spPr>
          <a:xfrm>
            <a:off x="4791455" y="4654803"/>
            <a:ext cx="1828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6B7A99"/>
                </a:solidFill>
              </a:defRPr>
            </a:lvl1pPr>
          </a:lstStyle>
          <a:p>
            <a:pPr/>
            <a:r>
              <a:t>Eski aktifler, geri kazanılabilir</a:t>
            </a:r>
          </a:p>
        </p:txBody>
      </p:sp>
      <p:sp>
        <p:nvSpPr>
          <p:cNvPr id="235" name="Shape 38"/>
          <p:cNvSpPr/>
          <p:nvPr/>
        </p:nvSpPr>
        <p:spPr>
          <a:xfrm>
            <a:off x="6903719" y="3822191"/>
            <a:ext cx="2148841" cy="1078993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  <a:effectLst>
            <a:outerShdw sx="100000" sy="100000" kx="0" ky="0" algn="b" rotWithShape="0" blurRad="76200" dist="25400" dir="8100000">
              <a:srgbClr val="8A9BB0">
                <a:alpha val="1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236" name="Shape 39"/>
          <p:cNvSpPr/>
          <p:nvPr/>
        </p:nvSpPr>
        <p:spPr>
          <a:xfrm>
            <a:off x="6903719" y="3822191"/>
            <a:ext cx="54865" cy="1078993"/>
          </a:xfrm>
          <a:prstGeom prst="rect">
            <a:avLst/>
          </a:prstGeom>
          <a:solidFill>
            <a:srgbClr val="B03030"/>
          </a:solidFill>
          <a:ln w="12700">
            <a:solidFill>
              <a:srgbClr val="B03030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37" name="Text 40"/>
          <p:cNvSpPr txBox="1"/>
          <p:nvPr/>
        </p:nvSpPr>
        <p:spPr>
          <a:xfrm>
            <a:off x="7031735" y="3937937"/>
            <a:ext cx="1828801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1B2A4A"/>
                </a:solidFill>
              </a:defRPr>
            </a:lvl1pPr>
          </a:lstStyle>
          <a:p>
            <a:pPr/>
            <a:r>
              <a:t>Kayıp</a:t>
            </a:r>
          </a:p>
        </p:txBody>
      </p:sp>
      <p:sp>
        <p:nvSpPr>
          <p:cNvPr id="238" name="Text 41"/>
          <p:cNvSpPr txBox="1"/>
          <p:nvPr/>
        </p:nvSpPr>
        <p:spPr>
          <a:xfrm>
            <a:off x="7031735" y="4151884"/>
            <a:ext cx="1828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6B7A99"/>
                </a:solidFill>
              </a:defRPr>
            </a:lvl1pPr>
          </a:lstStyle>
          <a:p>
            <a:pPr/>
            <a:r>
              <a:t>R≤2 ve F≤2</a:t>
            </a:r>
          </a:p>
        </p:txBody>
      </p:sp>
      <p:sp>
        <p:nvSpPr>
          <p:cNvPr id="239" name="Text 42"/>
          <p:cNvSpPr txBox="1"/>
          <p:nvPr/>
        </p:nvSpPr>
        <p:spPr>
          <a:xfrm>
            <a:off x="7031735" y="4319613"/>
            <a:ext cx="1828801" cy="2487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000">
                <a:solidFill>
                  <a:srgbClr val="B03030"/>
                </a:solidFill>
              </a:defRPr>
            </a:lvl1pPr>
          </a:lstStyle>
          <a:p>
            <a:pPr/>
            <a:r>
              <a:t>3.767</a:t>
            </a:r>
          </a:p>
        </p:txBody>
      </p:sp>
      <p:sp>
        <p:nvSpPr>
          <p:cNvPr id="240" name="Text 43"/>
          <p:cNvSpPr txBox="1"/>
          <p:nvPr/>
        </p:nvSpPr>
        <p:spPr>
          <a:xfrm>
            <a:off x="7031735" y="4654803"/>
            <a:ext cx="1828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6B7A99"/>
                </a:solidFill>
              </a:defRPr>
            </a:lvl1pPr>
          </a:lstStyle>
          <a:p>
            <a:pPr/>
            <a:r>
              <a:t>Uzun süredir alışveriş yok</a:t>
            </a:r>
          </a:p>
        </p:txBody>
      </p:sp>
      <p:sp>
        <p:nvSpPr>
          <p:cNvPr id="241" name="Text 44"/>
          <p:cNvSpPr txBox="1"/>
          <p:nvPr/>
        </p:nvSpPr>
        <p:spPr>
          <a:xfrm>
            <a:off x="320040" y="4691379"/>
            <a:ext cx="850392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i="1" sz="900">
                <a:solidFill>
                  <a:srgbClr val="6B7A99"/>
                </a:solidFill>
              </a:defRPr>
            </a:lvl1pPr>
          </a:lstStyle>
          <a:p>
            <a:pPr/>
            <a:r>
              <a:t>Toplam müşteri 20.000  ·  Sipariş vermeyen 3.732 müşteri RFM dışında bırakıldı.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Shape 0"/>
          <p:cNvSpPr/>
          <p:nvPr/>
        </p:nvSpPr>
        <p:spPr>
          <a:xfrm>
            <a:off x="0" y="-1"/>
            <a:ext cx="9144000" cy="475489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44" name="Shape 1"/>
          <p:cNvSpPr/>
          <p:nvPr/>
        </p:nvSpPr>
        <p:spPr>
          <a:xfrm>
            <a:off x="0" y="-1"/>
            <a:ext cx="256032" cy="475489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45" name="Text 2"/>
          <p:cNvSpPr txBox="1"/>
          <p:nvPr/>
        </p:nvSpPr>
        <p:spPr>
          <a:xfrm>
            <a:off x="347472" y="144465"/>
            <a:ext cx="137160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500">
                <a:solidFill>
                  <a:srgbClr val="1B2A4A"/>
                </a:solidFill>
              </a:defRPr>
            </a:pPr>
            <a:r>
              <a:t>Shop</a:t>
            </a:r>
            <a:r>
              <a:rPr>
                <a:solidFill>
                  <a:srgbClr val="D04F18"/>
                </a:solidFill>
              </a:rPr>
              <a:t>Lens</a:t>
            </a:r>
          </a:p>
        </p:txBody>
      </p:sp>
      <p:sp>
        <p:nvSpPr>
          <p:cNvPr id="246" name="Text 3"/>
          <p:cNvSpPr txBox="1"/>
          <p:nvPr/>
        </p:nvSpPr>
        <p:spPr>
          <a:xfrm>
            <a:off x="7132319" y="174243"/>
            <a:ext cx="192024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6B7A99"/>
                </a:solidFill>
              </a:defRPr>
            </a:lvl1pPr>
          </a:lstStyle>
          <a:p>
            <a:pPr/>
            <a:r>
              <a:t>07 · Modelleme</a:t>
            </a:r>
          </a:p>
        </p:txBody>
      </p:sp>
      <p:sp>
        <p:nvSpPr>
          <p:cNvPr id="247" name="Text 4"/>
          <p:cNvSpPr txBox="1"/>
          <p:nvPr/>
        </p:nvSpPr>
        <p:spPr>
          <a:xfrm>
            <a:off x="411479" y="677280"/>
            <a:ext cx="8321042" cy="346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600">
                <a:solidFill>
                  <a:srgbClr val="1B2A4A"/>
                </a:solidFill>
              </a:defRPr>
            </a:lvl1pPr>
          </a:lstStyle>
          <a:p>
            <a:pPr/>
            <a:r>
              <a:t>Genel Ürün Modeli</a:t>
            </a:r>
          </a:p>
        </p:txBody>
      </p:sp>
      <p:sp>
        <p:nvSpPr>
          <p:cNvPr id="248" name="Text 5"/>
          <p:cNvSpPr txBox="1"/>
          <p:nvPr/>
        </p:nvSpPr>
        <p:spPr>
          <a:xfrm>
            <a:off x="411479" y="1208454"/>
            <a:ext cx="832104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1100">
                <a:solidFill>
                  <a:srgbClr val="6B7A99"/>
                </a:solidFill>
              </a:defRPr>
            </a:lvl1pPr>
          </a:lstStyle>
          <a:p>
            <a:pPr/>
            <a:r>
              <a:t>Soru: Bu ürün genel olarak önerilmeli mi?  ·  Algoritma: Random Forest  ·  %75/%25 stratify</a:t>
            </a:r>
          </a:p>
        </p:txBody>
      </p:sp>
      <p:sp>
        <p:nvSpPr>
          <p:cNvPr id="249" name="Shape 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DF0F7"/>
          </a:solidFill>
          <a:ln w="12700">
            <a:solidFill>
              <a:srgbClr val="D4DAE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50" name="Text 7"/>
          <p:cNvSpPr txBox="1"/>
          <p:nvPr/>
        </p:nvSpPr>
        <p:spPr>
          <a:xfrm>
            <a:off x="274320" y="4954269"/>
            <a:ext cx="859536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6B7A99"/>
                </a:solidFill>
              </a:defRPr>
            </a:lvl1pPr>
          </a:lstStyle>
          <a:p>
            <a:pPr/>
            <a:r>
              <a:t>Özge Güneş  ·  İSMEK Yapay Zekâ ve Veri Bilimi  ·  Mayıs 2026</a:t>
            </a:r>
          </a:p>
        </p:txBody>
      </p:sp>
      <p:sp>
        <p:nvSpPr>
          <p:cNvPr id="251" name="Shape 8"/>
          <p:cNvSpPr/>
          <p:nvPr/>
        </p:nvSpPr>
        <p:spPr>
          <a:xfrm>
            <a:off x="320039" y="1463039"/>
            <a:ext cx="2084834" cy="868681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  <a:effectLst>
            <a:outerShdw sx="100000" sy="100000" kx="0" ky="0" algn="b" rotWithShape="0" blurRad="76200" dist="25400" dir="8100000">
              <a:srgbClr val="8A9BB0">
                <a:alpha val="1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252" name="Shape 9"/>
          <p:cNvSpPr/>
          <p:nvPr/>
        </p:nvSpPr>
        <p:spPr>
          <a:xfrm>
            <a:off x="320040" y="1463039"/>
            <a:ext cx="64009" cy="868681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53" name="Text 10"/>
          <p:cNvSpPr txBox="1"/>
          <p:nvPr/>
        </p:nvSpPr>
        <p:spPr>
          <a:xfrm>
            <a:off x="466343" y="1536191"/>
            <a:ext cx="1883666" cy="293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200">
                <a:solidFill>
                  <a:srgbClr val="D04F18"/>
                </a:solidFill>
              </a:defRPr>
            </a:lvl1pPr>
          </a:lstStyle>
          <a:p>
            <a:pPr/>
            <a:r>
              <a:t>84.7%</a:t>
            </a:r>
          </a:p>
        </p:txBody>
      </p:sp>
      <p:sp>
        <p:nvSpPr>
          <p:cNvPr id="254" name="Text 11"/>
          <p:cNvSpPr txBox="1"/>
          <p:nvPr/>
        </p:nvSpPr>
        <p:spPr>
          <a:xfrm>
            <a:off x="466343" y="1914754"/>
            <a:ext cx="1883666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000">
                <a:solidFill>
                  <a:srgbClr val="1B2A4A"/>
                </a:solidFill>
              </a:defRPr>
            </a:lvl1pPr>
          </a:lstStyle>
          <a:p>
            <a:pPr/>
            <a:r>
              <a:t>Doğruluk</a:t>
            </a:r>
          </a:p>
        </p:txBody>
      </p:sp>
      <p:sp>
        <p:nvSpPr>
          <p:cNvPr id="255" name="Text 12"/>
          <p:cNvSpPr txBox="1"/>
          <p:nvPr/>
        </p:nvSpPr>
        <p:spPr>
          <a:xfrm>
            <a:off x="466343" y="2140610"/>
            <a:ext cx="188366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6B7A99"/>
                </a:solidFill>
              </a:defRPr>
            </a:lvl1pPr>
          </a:lstStyle>
          <a:p>
            <a:pPr/>
            <a:r>
              <a:t>test seti</a:t>
            </a:r>
          </a:p>
        </p:txBody>
      </p:sp>
      <p:sp>
        <p:nvSpPr>
          <p:cNvPr id="256" name="Shape 13"/>
          <p:cNvSpPr/>
          <p:nvPr/>
        </p:nvSpPr>
        <p:spPr>
          <a:xfrm>
            <a:off x="2514600" y="1463039"/>
            <a:ext cx="2084833" cy="868681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  <a:effectLst>
            <a:outerShdw sx="100000" sy="100000" kx="0" ky="0" algn="b" rotWithShape="0" blurRad="76200" dist="25400" dir="8100000">
              <a:srgbClr val="8A9BB0">
                <a:alpha val="1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257" name="Shape 14"/>
          <p:cNvSpPr/>
          <p:nvPr/>
        </p:nvSpPr>
        <p:spPr>
          <a:xfrm>
            <a:off x="2514600" y="1463039"/>
            <a:ext cx="64008" cy="868681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58" name="Text 15"/>
          <p:cNvSpPr txBox="1"/>
          <p:nvPr/>
        </p:nvSpPr>
        <p:spPr>
          <a:xfrm>
            <a:off x="2660904" y="1536191"/>
            <a:ext cx="1883665" cy="293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200">
                <a:solidFill>
                  <a:srgbClr val="D04F18"/>
                </a:solidFill>
              </a:defRPr>
            </a:lvl1pPr>
          </a:lstStyle>
          <a:p>
            <a:pPr/>
            <a:r>
              <a:t>0.913</a:t>
            </a:r>
          </a:p>
        </p:txBody>
      </p:sp>
      <p:sp>
        <p:nvSpPr>
          <p:cNvPr id="259" name="Text 16"/>
          <p:cNvSpPr txBox="1"/>
          <p:nvPr/>
        </p:nvSpPr>
        <p:spPr>
          <a:xfrm>
            <a:off x="2660904" y="1914754"/>
            <a:ext cx="1883665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000">
                <a:solidFill>
                  <a:srgbClr val="1B2A4A"/>
                </a:solidFill>
              </a:defRPr>
            </a:lvl1pPr>
          </a:lstStyle>
          <a:p>
            <a:pPr/>
            <a:r>
              <a:t>ROC AUC</a:t>
            </a:r>
          </a:p>
        </p:txBody>
      </p:sp>
      <p:sp>
        <p:nvSpPr>
          <p:cNvPr id="260" name="Text 17"/>
          <p:cNvSpPr txBox="1"/>
          <p:nvPr/>
        </p:nvSpPr>
        <p:spPr>
          <a:xfrm>
            <a:off x="2660904" y="2140610"/>
            <a:ext cx="188366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6B7A99"/>
                </a:solidFill>
              </a:defRPr>
            </a:lvl1pPr>
          </a:lstStyle>
          <a:p>
            <a:pPr/>
            <a:r>
              <a:t>ayrım gücü</a:t>
            </a:r>
          </a:p>
        </p:txBody>
      </p:sp>
      <p:sp>
        <p:nvSpPr>
          <p:cNvPr id="261" name="Shape 18"/>
          <p:cNvSpPr/>
          <p:nvPr/>
        </p:nvSpPr>
        <p:spPr>
          <a:xfrm>
            <a:off x="4709159" y="1463039"/>
            <a:ext cx="2084833" cy="868681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  <a:effectLst>
            <a:outerShdw sx="100000" sy="100000" kx="0" ky="0" algn="b" rotWithShape="0" blurRad="76200" dist="25400" dir="8100000">
              <a:srgbClr val="8A9BB0">
                <a:alpha val="1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262" name="Shape 19"/>
          <p:cNvSpPr/>
          <p:nvPr/>
        </p:nvSpPr>
        <p:spPr>
          <a:xfrm>
            <a:off x="4709159" y="1463039"/>
            <a:ext cx="64009" cy="868681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63" name="Text 20"/>
          <p:cNvSpPr txBox="1"/>
          <p:nvPr/>
        </p:nvSpPr>
        <p:spPr>
          <a:xfrm>
            <a:off x="4855464" y="1536191"/>
            <a:ext cx="1883665" cy="293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200">
                <a:solidFill>
                  <a:srgbClr val="D04F18"/>
                </a:solidFill>
              </a:defRPr>
            </a:lvl1pPr>
          </a:lstStyle>
          <a:p>
            <a:pPr/>
            <a:r>
              <a:t>73.4%</a:t>
            </a:r>
          </a:p>
        </p:txBody>
      </p:sp>
      <p:sp>
        <p:nvSpPr>
          <p:cNvPr id="264" name="Text 21"/>
          <p:cNvSpPr txBox="1"/>
          <p:nvPr/>
        </p:nvSpPr>
        <p:spPr>
          <a:xfrm>
            <a:off x="4855464" y="1914754"/>
            <a:ext cx="1883665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000">
                <a:solidFill>
                  <a:srgbClr val="1B2A4A"/>
                </a:solidFill>
              </a:defRPr>
            </a:lvl1pPr>
          </a:lstStyle>
          <a:p>
            <a:pPr/>
            <a:r>
              <a:t>Precision</a:t>
            </a:r>
          </a:p>
        </p:txBody>
      </p:sp>
      <p:sp>
        <p:nvSpPr>
          <p:cNvPr id="265" name="Text 22"/>
          <p:cNvSpPr txBox="1"/>
          <p:nvPr/>
        </p:nvSpPr>
        <p:spPr>
          <a:xfrm>
            <a:off x="4855464" y="2140610"/>
            <a:ext cx="188366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6B7A99"/>
                </a:solidFill>
              </a:defRPr>
            </a:lvl1pPr>
          </a:lstStyle>
          <a:p>
            <a:pPr/>
            <a:r>
              <a:t>öneri isabeti</a:t>
            </a:r>
          </a:p>
        </p:txBody>
      </p:sp>
      <p:sp>
        <p:nvSpPr>
          <p:cNvPr id="266" name="Shape 23"/>
          <p:cNvSpPr/>
          <p:nvPr/>
        </p:nvSpPr>
        <p:spPr>
          <a:xfrm>
            <a:off x="6903719" y="1463039"/>
            <a:ext cx="2084833" cy="868681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  <a:effectLst>
            <a:outerShdw sx="100000" sy="100000" kx="0" ky="0" algn="b" rotWithShape="0" blurRad="76200" dist="25400" dir="8100000">
              <a:srgbClr val="8A9BB0">
                <a:alpha val="1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267" name="Shape 24"/>
          <p:cNvSpPr/>
          <p:nvPr/>
        </p:nvSpPr>
        <p:spPr>
          <a:xfrm>
            <a:off x="6903719" y="1463039"/>
            <a:ext cx="64009" cy="868681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68" name="Text 25"/>
          <p:cNvSpPr txBox="1"/>
          <p:nvPr/>
        </p:nvSpPr>
        <p:spPr>
          <a:xfrm>
            <a:off x="7050023" y="1536191"/>
            <a:ext cx="1883666" cy="293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200">
                <a:solidFill>
                  <a:srgbClr val="D04F18"/>
                </a:solidFill>
              </a:defRPr>
            </a:lvl1pPr>
          </a:lstStyle>
          <a:p>
            <a:pPr/>
            <a:r>
              <a:t>0.750</a:t>
            </a:r>
          </a:p>
        </p:txBody>
      </p:sp>
      <p:sp>
        <p:nvSpPr>
          <p:cNvPr id="269" name="Text 26"/>
          <p:cNvSpPr txBox="1"/>
          <p:nvPr/>
        </p:nvSpPr>
        <p:spPr>
          <a:xfrm>
            <a:off x="7050023" y="1914754"/>
            <a:ext cx="1883666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000">
                <a:solidFill>
                  <a:srgbClr val="1B2A4A"/>
                </a:solidFill>
              </a:defRPr>
            </a:lvl1pPr>
          </a:lstStyle>
          <a:p>
            <a:pPr/>
            <a:r>
              <a:t>F1 Skoru</a:t>
            </a:r>
          </a:p>
        </p:txBody>
      </p:sp>
      <p:sp>
        <p:nvSpPr>
          <p:cNvPr id="270" name="Text 27"/>
          <p:cNvSpPr txBox="1"/>
          <p:nvPr/>
        </p:nvSpPr>
        <p:spPr>
          <a:xfrm>
            <a:off x="7050023" y="2140610"/>
            <a:ext cx="188366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6B7A99"/>
                </a:solidFill>
              </a:defRPr>
            </a:lvl1pPr>
          </a:lstStyle>
          <a:p>
            <a:pPr/>
            <a:r>
              <a:t>denge metriği</a:t>
            </a:r>
          </a:p>
        </p:txBody>
      </p:sp>
      <p:pic>
        <p:nvPicPr>
          <p:cNvPr id="271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74320" y="2487167"/>
            <a:ext cx="3200401" cy="1828801"/>
          </a:xfrm>
          <a:prstGeom prst="rect">
            <a:avLst/>
          </a:prstGeom>
          <a:ln w="12700">
            <a:miter lim="400000"/>
          </a:ln>
        </p:spPr>
      </p:pic>
      <p:pic>
        <p:nvPicPr>
          <p:cNvPr id="272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566159" y="2487167"/>
            <a:ext cx="3200401" cy="1828801"/>
          </a:xfrm>
          <a:prstGeom prst="rect">
            <a:avLst/>
          </a:prstGeom>
          <a:ln w="12700">
            <a:miter lim="400000"/>
          </a:ln>
        </p:spPr>
      </p:pic>
      <p:sp>
        <p:nvSpPr>
          <p:cNvPr id="273" name="Shape 28"/>
          <p:cNvSpPr/>
          <p:nvPr/>
        </p:nvSpPr>
        <p:spPr>
          <a:xfrm>
            <a:off x="6858000" y="2487167"/>
            <a:ext cx="1965961" cy="1828801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  <a:effectLst>
            <a:outerShdw sx="100000" sy="100000" kx="0" ky="0" algn="b" rotWithShape="0" blurRad="76200" dist="25400" dir="8100000">
              <a:srgbClr val="8A9BB0">
                <a:alpha val="1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274" name="Shape 29"/>
          <p:cNvSpPr/>
          <p:nvPr/>
        </p:nvSpPr>
        <p:spPr>
          <a:xfrm>
            <a:off x="6858000" y="2487167"/>
            <a:ext cx="1965961" cy="54865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75" name="Text 30"/>
          <p:cNvSpPr txBox="1"/>
          <p:nvPr/>
        </p:nvSpPr>
        <p:spPr>
          <a:xfrm>
            <a:off x="6949440" y="2587551"/>
            <a:ext cx="1783080" cy="3295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20000"/>
              </a:lnSpc>
              <a:defRPr b="1" sz="1000">
                <a:solidFill>
                  <a:srgbClr val="D04F18"/>
                </a:solidFill>
              </a:defRPr>
            </a:pPr>
            <a:r>
              <a:t>Veri Sızıntısı</a:t>
            </a:r>
          </a:p>
          <a:p>
            <a:pPr>
              <a:lnSpc>
                <a:spcPct val="120000"/>
              </a:lnSpc>
              <a:defRPr b="1" sz="1000">
                <a:solidFill>
                  <a:srgbClr val="D04F18"/>
                </a:solidFill>
              </a:defRPr>
            </a:pPr>
            <a:r>
              <a:t>Önlemi</a:t>
            </a:r>
          </a:p>
        </p:txBody>
      </p:sp>
      <p:sp>
        <p:nvSpPr>
          <p:cNvPr id="276" name="Text 31"/>
          <p:cNvSpPr txBox="1"/>
          <p:nvPr/>
        </p:nvSpPr>
        <p:spPr>
          <a:xfrm>
            <a:off x="6949440" y="3275850"/>
            <a:ext cx="1783080" cy="6537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35000"/>
              </a:lnSpc>
              <a:defRPr sz="900">
                <a:solidFill>
                  <a:srgbClr val="3D4F66"/>
                </a:solidFill>
              </a:defRPr>
            </a:lvl1pPr>
          </a:lstStyle>
          <a:p>
            <a:pPr/>
            <a:r>
              <a:t>Hedef (onerilir), öneri skorundan üretildi. Öneri skoru satış oranını içerdiğinden satis_orani modele özellik olarak verilmedi.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Shape 0"/>
          <p:cNvSpPr/>
          <p:nvPr/>
        </p:nvSpPr>
        <p:spPr>
          <a:xfrm>
            <a:off x="0" y="-1"/>
            <a:ext cx="9144000" cy="475489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79" name="Shape 1"/>
          <p:cNvSpPr/>
          <p:nvPr/>
        </p:nvSpPr>
        <p:spPr>
          <a:xfrm>
            <a:off x="0" y="-1"/>
            <a:ext cx="256032" cy="475489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80" name="Text 2"/>
          <p:cNvSpPr txBox="1"/>
          <p:nvPr/>
        </p:nvSpPr>
        <p:spPr>
          <a:xfrm>
            <a:off x="347472" y="144465"/>
            <a:ext cx="137160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500">
                <a:solidFill>
                  <a:srgbClr val="1B2A4A"/>
                </a:solidFill>
              </a:defRPr>
            </a:pPr>
            <a:r>
              <a:t>Shop</a:t>
            </a:r>
            <a:r>
              <a:rPr>
                <a:solidFill>
                  <a:srgbClr val="D04F18"/>
                </a:solidFill>
              </a:rPr>
              <a:t>Lens</a:t>
            </a:r>
          </a:p>
        </p:txBody>
      </p:sp>
      <p:sp>
        <p:nvSpPr>
          <p:cNvPr id="281" name="Text 3"/>
          <p:cNvSpPr txBox="1"/>
          <p:nvPr/>
        </p:nvSpPr>
        <p:spPr>
          <a:xfrm>
            <a:off x="7132319" y="174243"/>
            <a:ext cx="192024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6B7A99"/>
                </a:solidFill>
              </a:defRPr>
            </a:lvl1pPr>
          </a:lstStyle>
          <a:p>
            <a:pPr/>
            <a:r>
              <a:t>08 · Modelleme</a:t>
            </a:r>
          </a:p>
        </p:txBody>
      </p:sp>
      <p:sp>
        <p:nvSpPr>
          <p:cNvPr id="282" name="Text 4"/>
          <p:cNvSpPr txBox="1"/>
          <p:nvPr/>
        </p:nvSpPr>
        <p:spPr>
          <a:xfrm>
            <a:off x="411479" y="677280"/>
            <a:ext cx="8321042" cy="346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600">
                <a:solidFill>
                  <a:srgbClr val="1B2A4A"/>
                </a:solidFill>
              </a:defRPr>
            </a:lvl1pPr>
          </a:lstStyle>
          <a:p>
            <a:pPr/>
            <a:r>
              <a:t>Kişiye Özel Öneri Sıralama Modeli</a:t>
            </a:r>
          </a:p>
        </p:txBody>
      </p:sp>
      <p:sp>
        <p:nvSpPr>
          <p:cNvPr id="283" name="Text 5"/>
          <p:cNvSpPr txBox="1"/>
          <p:nvPr/>
        </p:nvSpPr>
        <p:spPr>
          <a:xfrm>
            <a:off x="411479" y="1208454"/>
            <a:ext cx="832104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1100">
                <a:solidFill>
                  <a:srgbClr val="6B7A99"/>
                </a:solidFill>
              </a:defRPr>
            </a:lvl1pPr>
          </a:lstStyle>
          <a:p>
            <a:pPr/>
            <a:r>
              <a:t>Soru: Bu müşteri için hangi ürünler öncelikli?  ·  529.593 müşteri × ürün çifti</a:t>
            </a:r>
          </a:p>
        </p:txBody>
      </p:sp>
      <p:sp>
        <p:nvSpPr>
          <p:cNvPr id="284" name="Shape 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DF0F7"/>
          </a:solidFill>
          <a:ln w="12700">
            <a:solidFill>
              <a:srgbClr val="D4DAE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85" name="Text 7"/>
          <p:cNvSpPr txBox="1"/>
          <p:nvPr/>
        </p:nvSpPr>
        <p:spPr>
          <a:xfrm>
            <a:off x="274320" y="4954269"/>
            <a:ext cx="859536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6B7A99"/>
                </a:solidFill>
              </a:defRPr>
            </a:lvl1pPr>
          </a:lstStyle>
          <a:p>
            <a:pPr/>
            <a:r>
              <a:t>Özge Güneş  ·  İSMEK Yapay Zekâ ve Veri Bilimi  ·  Mayıs 2026</a:t>
            </a:r>
          </a:p>
        </p:txBody>
      </p:sp>
      <p:sp>
        <p:nvSpPr>
          <p:cNvPr id="286" name="Shape 8"/>
          <p:cNvSpPr/>
          <p:nvPr/>
        </p:nvSpPr>
        <p:spPr>
          <a:xfrm>
            <a:off x="320039" y="1463039"/>
            <a:ext cx="2084834" cy="868681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  <a:effectLst>
            <a:outerShdw sx="100000" sy="100000" kx="0" ky="0" algn="b" rotWithShape="0" blurRad="76200" dist="25400" dir="8100000">
              <a:srgbClr val="8A9BB0">
                <a:alpha val="1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287" name="Shape 9"/>
          <p:cNvSpPr/>
          <p:nvPr/>
        </p:nvSpPr>
        <p:spPr>
          <a:xfrm>
            <a:off x="320040" y="1463039"/>
            <a:ext cx="64009" cy="868681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88" name="Text 10"/>
          <p:cNvSpPr txBox="1"/>
          <p:nvPr/>
        </p:nvSpPr>
        <p:spPr>
          <a:xfrm>
            <a:off x="466343" y="1536191"/>
            <a:ext cx="1883666" cy="293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200">
                <a:solidFill>
                  <a:srgbClr val="D04F18"/>
                </a:solidFill>
              </a:defRPr>
            </a:lvl1pPr>
          </a:lstStyle>
          <a:p>
            <a:pPr/>
            <a:r>
              <a:t>88.3%</a:t>
            </a:r>
          </a:p>
        </p:txBody>
      </p:sp>
      <p:sp>
        <p:nvSpPr>
          <p:cNvPr id="289" name="Text 11"/>
          <p:cNvSpPr txBox="1"/>
          <p:nvPr/>
        </p:nvSpPr>
        <p:spPr>
          <a:xfrm>
            <a:off x="466343" y="1914754"/>
            <a:ext cx="1883666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000">
                <a:solidFill>
                  <a:srgbClr val="1B2A4A"/>
                </a:solidFill>
              </a:defRPr>
            </a:lvl1pPr>
          </a:lstStyle>
          <a:p>
            <a:pPr/>
            <a:r>
              <a:t>Doğruluk</a:t>
            </a:r>
          </a:p>
        </p:txBody>
      </p:sp>
      <p:sp>
        <p:nvSpPr>
          <p:cNvPr id="290" name="Text 12"/>
          <p:cNvSpPr txBox="1"/>
          <p:nvPr/>
        </p:nvSpPr>
        <p:spPr>
          <a:xfrm>
            <a:off x="466343" y="2140610"/>
            <a:ext cx="188366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6B7A99"/>
                </a:solidFill>
              </a:defRPr>
            </a:lvl1pPr>
          </a:lstStyle>
          <a:p>
            <a:pPr/>
            <a:r>
              <a:t>test seti</a:t>
            </a:r>
          </a:p>
        </p:txBody>
      </p:sp>
      <p:sp>
        <p:nvSpPr>
          <p:cNvPr id="291" name="Shape 13"/>
          <p:cNvSpPr/>
          <p:nvPr/>
        </p:nvSpPr>
        <p:spPr>
          <a:xfrm>
            <a:off x="2514600" y="1463039"/>
            <a:ext cx="2084833" cy="868681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  <a:effectLst>
            <a:outerShdw sx="100000" sy="100000" kx="0" ky="0" algn="b" rotWithShape="0" blurRad="76200" dist="25400" dir="8100000">
              <a:srgbClr val="8A9BB0">
                <a:alpha val="1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292" name="Shape 14"/>
          <p:cNvSpPr/>
          <p:nvPr/>
        </p:nvSpPr>
        <p:spPr>
          <a:xfrm>
            <a:off x="2514600" y="1463039"/>
            <a:ext cx="64008" cy="868681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3" name="Text 15"/>
          <p:cNvSpPr txBox="1"/>
          <p:nvPr/>
        </p:nvSpPr>
        <p:spPr>
          <a:xfrm>
            <a:off x="2660904" y="1536191"/>
            <a:ext cx="1883665" cy="293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200">
                <a:solidFill>
                  <a:srgbClr val="D04F18"/>
                </a:solidFill>
              </a:defRPr>
            </a:lvl1pPr>
          </a:lstStyle>
          <a:p>
            <a:pPr/>
            <a:r>
              <a:t>0.954</a:t>
            </a:r>
          </a:p>
        </p:txBody>
      </p:sp>
      <p:sp>
        <p:nvSpPr>
          <p:cNvPr id="294" name="Text 16"/>
          <p:cNvSpPr txBox="1"/>
          <p:nvPr/>
        </p:nvSpPr>
        <p:spPr>
          <a:xfrm>
            <a:off x="2660904" y="1914754"/>
            <a:ext cx="1883665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000">
                <a:solidFill>
                  <a:srgbClr val="1B2A4A"/>
                </a:solidFill>
              </a:defRPr>
            </a:lvl1pPr>
          </a:lstStyle>
          <a:p>
            <a:pPr/>
            <a:r>
              <a:t>ROC AUC</a:t>
            </a:r>
          </a:p>
        </p:txBody>
      </p:sp>
      <p:sp>
        <p:nvSpPr>
          <p:cNvPr id="295" name="Text 17"/>
          <p:cNvSpPr txBox="1"/>
          <p:nvPr/>
        </p:nvSpPr>
        <p:spPr>
          <a:xfrm>
            <a:off x="2660904" y="2140610"/>
            <a:ext cx="188366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6B7A99"/>
                </a:solidFill>
              </a:defRPr>
            </a:lvl1pPr>
          </a:lstStyle>
          <a:p>
            <a:pPr/>
            <a:r>
              <a:t>ayrım gücü</a:t>
            </a:r>
          </a:p>
        </p:txBody>
      </p:sp>
      <p:sp>
        <p:nvSpPr>
          <p:cNvPr id="296" name="Shape 18"/>
          <p:cNvSpPr/>
          <p:nvPr/>
        </p:nvSpPr>
        <p:spPr>
          <a:xfrm>
            <a:off x="4709159" y="1463039"/>
            <a:ext cx="2084833" cy="868681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  <a:effectLst>
            <a:outerShdw sx="100000" sy="100000" kx="0" ky="0" algn="b" rotWithShape="0" blurRad="76200" dist="25400" dir="8100000">
              <a:srgbClr val="8A9BB0">
                <a:alpha val="1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297" name="Shape 19"/>
          <p:cNvSpPr/>
          <p:nvPr/>
        </p:nvSpPr>
        <p:spPr>
          <a:xfrm>
            <a:off x="4709159" y="1463039"/>
            <a:ext cx="64009" cy="868681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8" name="Text 20"/>
          <p:cNvSpPr txBox="1"/>
          <p:nvPr/>
        </p:nvSpPr>
        <p:spPr>
          <a:xfrm>
            <a:off x="4855464" y="1536191"/>
            <a:ext cx="1883665" cy="293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200">
                <a:solidFill>
                  <a:srgbClr val="D04F18"/>
                </a:solidFill>
              </a:defRPr>
            </a:lvl1pPr>
          </a:lstStyle>
          <a:p>
            <a:pPr/>
            <a:r>
              <a:t>99.99%</a:t>
            </a:r>
          </a:p>
        </p:txBody>
      </p:sp>
      <p:sp>
        <p:nvSpPr>
          <p:cNvPr id="299" name="Text 21"/>
          <p:cNvSpPr txBox="1"/>
          <p:nvPr/>
        </p:nvSpPr>
        <p:spPr>
          <a:xfrm>
            <a:off x="4855464" y="1914754"/>
            <a:ext cx="1883665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000">
                <a:solidFill>
                  <a:srgbClr val="1B2A4A"/>
                </a:solidFill>
              </a:defRPr>
            </a:lvl1pPr>
          </a:lstStyle>
          <a:p>
            <a:pPr/>
            <a:r>
              <a:t>Recall</a:t>
            </a:r>
          </a:p>
        </p:txBody>
      </p:sp>
      <p:sp>
        <p:nvSpPr>
          <p:cNvPr id="300" name="Text 22"/>
          <p:cNvSpPr txBox="1"/>
          <p:nvPr/>
        </p:nvSpPr>
        <p:spPr>
          <a:xfrm>
            <a:off x="4855464" y="2140610"/>
            <a:ext cx="188366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6B7A99"/>
                </a:solidFill>
              </a:defRPr>
            </a:lvl1pPr>
          </a:lstStyle>
          <a:p>
            <a:pPr/>
            <a:r>
              <a:t>satın alanları yakala</a:t>
            </a:r>
          </a:p>
        </p:txBody>
      </p:sp>
      <p:sp>
        <p:nvSpPr>
          <p:cNvPr id="301" name="Shape 23"/>
          <p:cNvSpPr/>
          <p:nvPr/>
        </p:nvSpPr>
        <p:spPr>
          <a:xfrm>
            <a:off x="6903719" y="1463039"/>
            <a:ext cx="2084833" cy="868681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  <a:effectLst>
            <a:outerShdw sx="100000" sy="100000" kx="0" ky="0" algn="b" rotWithShape="0" blurRad="76200" dist="25400" dir="8100000">
              <a:srgbClr val="8A9BB0">
                <a:alpha val="1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302" name="Shape 24"/>
          <p:cNvSpPr/>
          <p:nvPr/>
        </p:nvSpPr>
        <p:spPr>
          <a:xfrm>
            <a:off x="6903719" y="1463039"/>
            <a:ext cx="64009" cy="868681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03" name="Text 25"/>
          <p:cNvSpPr txBox="1"/>
          <p:nvPr/>
        </p:nvSpPr>
        <p:spPr>
          <a:xfrm>
            <a:off x="7050023" y="1536191"/>
            <a:ext cx="1883666" cy="293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200">
                <a:solidFill>
                  <a:srgbClr val="D04F18"/>
                </a:solidFill>
              </a:defRPr>
            </a:lvl1pPr>
          </a:lstStyle>
          <a:p>
            <a:pPr/>
            <a:r>
              <a:t>48.5%</a:t>
            </a:r>
          </a:p>
        </p:txBody>
      </p:sp>
      <p:sp>
        <p:nvSpPr>
          <p:cNvPr id="304" name="Text 26"/>
          <p:cNvSpPr txBox="1"/>
          <p:nvPr/>
        </p:nvSpPr>
        <p:spPr>
          <a:xfrm>
            <a:off x="7050023" y="1914754"/>
            <a:ext cx="1883666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000">
                <a:solidFill>
                  <a:srgbClr val="1B2A4A"/>
                </a:solidFill>
              </a:defRPr>
            </a:lvl1pPr>
          </a:lstStyle>
          <a:p>
            <a:pPr/>
            <a:r>
              <a:t>Precision</a:t>
            </a:r>
          </a:p>
        </p:txBody>
      </p:sp>
      <p:sp>
        <p:nvSpPr>
          <p:cNvPr id="305" name="Text 27"/>
          <p:cNvSpPr txBox="1"/>
          <p:nvPr/>
        </p:nvSpPr>
        <p:spPr>
          <a:xfrm>
            <a:off x="7050023" y="2140610"/>
            <a:ext cx="188366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6B7A99"/>
                </a:solidFill>
              </a:defRPr>
            </a:lvl1pPr>
          </a:lstStyle>
          <a:p>
            <a:pPr/>
            <a:r>
              <a:t>önerinin isabeti</a:t>
            </a:r>
          </a:p>
        </p:txBody>
      </p:sp>
      <p:pic>
        <p:nvPicPr>
          <p:cNvPr id="306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74320" y="2487167"/>
            <a:ext cx="3200401" cy="1828801"/>
          </a:xfrm>
          <a:prstGeom prst="rect">
            <a:avLst/>
          </a:prstGeom>
          <a:ln w="12700">
            <a:miter lim="400000"/>
          </a:ln>
        </p:spPr>
      </p:pic>
      <p:pic>
        <p:nvPicPr>
          <p:cNvPr id="307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566159" y="2487167"/>
            <a:ext cx="3200401" cy="1828801"/>
          </a:xfrm>
          <a:prstGeom prst="rect">
            <a:avLst/>
          </a:prstGeom>
          <a:ln w="12700">
            <a:miter lim="400000"/>
          </a:ln>
        </p:spPr>
      </p:pic>
      <p:sp>
        <p:nvSpPr>
          <p:cNvPr id="308" name="Shape 28"/>
          <p:cNvSpPr/>
          <p:nvPr/>
        </p:nvSpPr>
        <p:spPr>
          <a:xfrm>
            <a:off x="6858000" y="2487167"/>
            <a:ext cx="1965961" cy="1828801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  <a:effectLst>
            <a:outerShdw sx="100000" sy="100000" kx="0" ky="0" algn="b" rotWithShape="0" blurRad="76200" dist="25400" dir="8100000">
              <a:srgbClr val="8A9BB0">
                <a:alpha val="1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309" name="Shape 29"/>
          <p:cNvSpPr/>
          <p:nvPr/>
        </p:nvSpPr>
        <p:spPr>
          <a:xfrm>
            <a:off x="6858000" y="2487167"/>
            <a:ext cx="1965961" cy="54865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10" name="Text 30"/>
          <p:cNvSpPr txBox="1"/>
          <p:nvPr/>
        </p:nvSpPr>
        <p:spPr>
          <a:xfrm>
            <a:off x="6949440" y="2638088"/>
            <a:ext cx="1783080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D04F18"/>
                </a:solidFill>
              </a:defRPr>
            </a:lvl1pPr>
          </a:lstStyle>
          <a:p>
            <a:pPr/>
            <a:r>
              <a:t>Kontrol Testi</a:t>
            </a:r>
          </a:p>
        </p:txBody>
      </p:sp>
      <p:sp>
        <p:nvSpPr>
          <p:cNvPr id="311" name="Text 31"/>
          <p:cNvSpPr txBox="1"/>
          <p:nvPr/>
        </p:nvSpPr>
        <p:spPr>
          <a:xfrm>
            <a:off x="6949440" y="3149391"/>
            <a:ext cx="1783080" cy="8335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5000"/>
              </a:lnSpc>
              <a:defRPr b="1" sz="900">
                <a:solidFill>
                  <a:srgbClr val="1B2A4A"/>
                </a:solidFill>
              </a:defRPr>
            </a:pPr>
            <a:r>
              <a:t>add_to_cart dahil: </a:t>
            </a:r>
            <a:r>
              <a:rPr b="0">
                <a:solidFill>
                  <a:srgbClr val="3D4F66"/>
                </a:solidFill>
              </a:rPr>
              <a:t>AUC 0.954</a:t>
            </a:r>
            <a:endParaRPr b="0">
              <a:solidFill>
                <a:srgbClr val="3D4F66"/>
              </a:solidFill>
            </a:endParaRPr>
          </a:p>
          <a:p>
            <a:pPr>
              <a:lnSpc>
                <a:spcPct val="135000"/>
              </a:lnSpc>
              <a:defRPr b="1" sz="900">
                <a:solidFill>
                  <a:srgbClr val="1B2A4A"/>
                </a:solidFill>
              </a:defRPr>
            </a:pPr>
            <a:r>
              <a:t>add_to_cart hariç: </a:t>
            </a:r>
            <a:r>
              <a:rPr b="0">
                <a:solidFill>
                  <a:srgbClr val="3D4F66"/>
                </a:solidFill>
              </a:rPr>
              <a:t>AUC 0.752</a:t>
            </a:r>
            <a:endParaRPr b="0">
              <a:solidFill>
                <a:srgbClr val="3D4F66"/>
              </a:solidFill>
            </a:endParaRPr>
          </a:p>
          <a:p>
            <a:pPr>
              <a:lnSpc>
                <a:spcPct val="135000"/>
              </a:lnSpc>
              <a:defRPr b="1" sz="900">
                <a:solidFill>
                  <a:srgbClr val="1B2A4A"/>
                </a:solidFill>
              </a:defRPr>
            </a:pPr>
            <a:endParaRPr b="0">
              <a:solidFill>
                <a:srgbClr val="3D4F66"/>
              </a:solidFill>
            </a:endParaRPr>
          </a:p>
          <a:p>
            <a:pPr>
              <a:lnSpc>
                <a:spcPct val="135000"/>
              </a:lnSpc>
              <a:defRPr b="1" sz="900">
                <a:solidFill>
                  <a:srgbClr val="1B2A4A"/>
                </a:solidFill>
              </a:defRPr>
            </a:pPr>
            <a:r>
              <a:rPr b="0" i="1">
                <a:solidFill>
                  <a:srgbClr val="6B7A99"/>
                </a:solidFill>
              </a:rPr>
              <a:t>Özellik önemi %80.7 — leakage değil, davranışsal sinyal.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Shape 0"/>
          <p:cNvSpPr/>
          <p:nvPr/>
        </p:nvSpPr>
        <p:spPr>
          <a:xfrm>
            <a:off x="0" y="-1"/>
            <a:ext cx="9144000" cy="475489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14" name="Shape 1"/>
          <p:cNvSpPr/>
          <p:nvPr/>
        </p:nvSpPr>
        <p:spPr>
          <a:xfrm>
            <a:off x="0" y="-1"/>
            <a:ext cx="256032" cy="475489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15" name="Text 2"/>
          <p:cNvSpPr txBox="1"/>
          <p:nvPr/>
        </p:nvSpPr>
        <p:spPr>
          <a:xfrm>
            <a:off x="347472" y="144465"/>
            <a:ext cx="137160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500">
                <a:solidFill>
                  <a:srgbClr val="1B2A4A"/>
                </a:solidFill>
              </a:defRPr>
            </a:pPr>
            <a:r>
              <a:t>Shop</a:t>
            </a:r>
            <a:r>
              <a:rPr>
                <a:solidFill>
                  <a:srgbClr val="D04F18"/>
                </a:solidFill>
              </a:rPr>
              <a:t>Lens</a:t>
            </a:r>
          </a:p>
        </p:txBody>
      </p:sp>
      <p:sp>
        <p:nvSpPr>
          <p:cNvPr id="316" name="Text 3"/>
          <p:cNvSpPr txBox="1"/>
          <p:nvPr/>
        </p:nvSpPr>
        <p:spPr>
          <a:xfrm>
            <a:off x="7132319" y="174243"/>
            <a:ext cx="192024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6B7A99"/>
                </a:solidFill>
              </a:defRPr>
            </a:lvl1pPr>
          </a:lstStyle>
          <a:p>
            <a:pPr/>
            <a:r>
              <a:t>09 · Model Sinyalleri</a:t>
            </a:r>
          </a:p>
        </p:txBody>
      </p:sp>
      <p:sp>
        <p:nvSpPr>
          <p:cNvPr id="317" name="Text 4"/>
          <p:cNvSpPr txBox="1"/>
          <p:nvPr/>
        </p:nvSpPr>
        <p:spPr>
          <a:xfrm>
            <a:off x="411479" y="677280"/>
            <a:ext cx="8321042" cy="346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600">
                <a:solidFill>
                  <a:srgbClr val="1B2A4A"/>
                </a:solidFill>
              </a:defRPr>
            </a:lvl1pPr>
          </a:lstStyle>
          <a:p>
            <a:pPr/>
            <a:r>
              <a:t>Özellik Önemleri — Her İki Model</a:t>
            </a:r>
          </a:p>
        </p:txBody>
      </p:sp>
      <p:sp>
        <p:nvSpPr>
          <p:cNvPr id="318" name="Text 5"/>
          <p:cNvSpPr txBox="1"/>
          <p:nvPr/>
        </p:nvSpPr>
        <p:spPr>
          <a:xfrm>
            <a:off x="411479" y="1208454"/>
            <a:ext cx="832104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1100">
                <a:solidFill>
                  <a:srgbClr val="6B7A99"/>
                </a:solidFill>
              </a:defRPr>
            </a:lvl1pPr>
          </a:lstStyle>
          <a:p>
            <a:pPr/>
            <a:r>
              <a:t>Hangi değişkenler modelin kararında belirleyici?</a:t>
            </a:r>
          </a:p>
        </p:txBody>
      </p:sp>
      <p:sp>
        <p:nvSpPr>
          <p:cNvPr id="319" name="Shape 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DF0F7"/>
          </a:solidFill>
          <a:ln w="12700">
            <a:solidFill>
              <a:srgbClr val="D4DAE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20" name="Text 7"/>
          <p:cNvSpPr txBox="1"/>
          <p:nvPr/>
        </p:nvSpPr>
        <p:spPr>
          <a:xfrm>
            <a:off x="274320" y="4954269"/>
            <a:ext cx="859536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6B7A99"/>
                </a:solidFill>
              </a:defRPr>
            </a:lvl1pPr>
          </a:lstStyle>
          <a:p>
            <a:pPr/>
            <a:r>
              <a:t>Özge Güneş  ·  İSMEK Yapay Zekâ ve Veri Bilimi  ·  Mayıs 2026</a:t>
            </a:r>
          </a:p>
        </p:txBody>
      </p:sp>
      <p:sp>
        <p:nvSpPr>
          <p:cNvPr id="321" name="Text 8"/>
          <p:cNvSpPr txBox="1"/>
          <p:nvPr/>
        </p:nvSpPr>
        <p:spPr>
          <a:xfrm>
            <a:off x="320040" y="1530911"/>
            <a:ext cx="411480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D04F18"/>
                </a:solidFill>
              </a:defRPr>
            </a:lvl1pPr>
          </a:lstStyle>
          <a:p>
            <a:pPr/>
            <a:r>
              <a:t>Genel Ürün Modeli</a:t>
            </a:r>
          </a:p>
        </p:txBody>
      </p:sp>
      <p:pic>
        <p:nvPicPr>
          <p:cNvPr id="322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74320" y="1783079"/>
            <a:ext cx="4206241" cy="2331721"/>
          </a:xfrm>
          <a:prstGeom prst="rect">
            <a:avLst/>
          </a:prstGeom>
          <a:ln w="12700">
            <a:miter lim="400000"/>
          </a:ln>
        </p:spPr>
      </p:pic>
      <p:sp>
        <p:nvSpPr>
          <p:cNvPr id="323" name="Text 9"/>
          <p:cNvSpPr txBox="1"/>
          <p:nvPr/>
        </p:nvSpPr>
        <p:spPr>
          <a:xfrm>
            <a:off x="4709159" y="1530911"/>
            <a:ext cx="411480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D04F18"/>
                </a:solidFill>
              </a:defRPr>
            </a:lvl1pPr>
          </a:lstStyle>
          <a:p>
            <a:pPr/>
            <a:r>
              <a:t>Kişiye Özel Model</a:t>
            </a:r>
          </a:p>
        </p:txBody>
      </p:sp>
      <p:pic>
        <p:nvPicPr>
          <p:cNvPr id="324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663440" y="1783079"/>
            <a:ext cx="4206241" cy="2331721"/>
          </a:xfrm>
          <a:prstGeom prst="rect">
            <a:avLst/>
          </a:prstGeom>
          <a:ln w="12700">
            <a:miter lim="400000"/>
          </a:ln>
        </p:spPr>
      </p:pic>
      <p:sp>
        <p:nvSpPr>
          <p:cNvPr id="325" name="Text 10"/>
          <p:cNvSpPr txBox="1"/>
          <p:nvPr/>
        </p:nvSpPr>
        <p:spPr>
          <a:xfrm>
            <a:off x="320040" y="4691379"/>
            <a:ext cx="850392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i="1" sz="900">
                <a:solidFill>
                  <a:srgbClr val="6B7A99"/>
                </a:solidFill>
              </a:defRPr>
            </a:lvl1pPr>
          </a:lstStyle>
          <a:p>
            <a:pPr/>
            <a:r>
              <a:t>Kişisel modelde sepete ekleme (%80.5) baskın sinyal — beklenen bir durum. Genel modelde duygu ve rating birlikte güçlü.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Shape 0"/>
          <p:cNvSpPr/>
          <p:nvPr/>
        </p:nvSpPr>
        <p:spPr>
          <a:xfrm>
            <a:off x="0" y="-1"/>
            <a:ext cx="9144000" cy="475489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28" name="Shape 1"/>
          <p:cNvSpPr/>
          <p:nvPr/>
        </p:nvSpPr>
        <p:spPr>
          <a:xfrm>
            <a:off x="0" y="-1"/>
            <a:ext cx="256032" cy="475489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29" name="Text 2"/>
          <p:cNvSpPr txBox="1"/>
          <p:nvPr/>
        </p:nvSpPr>
        <p:spPr>
          <a:xfrm>
            <a:off x="347472" y="144465"/>
            <a:ext cx="137160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500">
                <a:solidFill>
                  <a:srgbClr val="1B2A4A"/>
                </a:solidFill>
              </a:defRPr>
            </a:pPr>
            <a:r>
              <a:t>Shop</a:t>
            </a:r>
            <a:r>
              <a:rPr>
                <a:solidFill>
                  <a:srgbClr val="D04F18"/>
                </a:solidFill>
              </a:rPr>
              <a:t>Lens</a:t>
            </a:r>
          </a:p>
        </p:txBody>
      </p:sp>
      <p:sp>
        <p:nvSpPr>
          <p:cNvPr id="330" name="Text 3"/>
          <p:cNvSpPr txBox="1"/>
          <p:nvPr/>
        </p:nvSpPr>
        <p:spPr>
          <a:xfrm>
            <a:off x="7132319" y="174243"/>
            <a:ext cx="192024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6B7A99"/>
                </a:solidFill>
              </a:defRPr>
            </a:lvl1pPr>
          </a:lstStyle>
          <a:p>
            <a:pPr/>
            <a:r>
              <a:t>10 · Sistem</a:t>
            </a:r>
          </a:p>
        </p:txBody>
      </p:sp>
      <p:sp>
        <p:nvSpPr>
          <p:cNvPr id="331" name="Text 4"/>
          <p:cNvSpPr txBox="1"/>
          <p:nvPr/>
        </p:nvSpPr>
        <p:spPr>
          <a:xfrm>
            <a:off x="411479" y="677280"/>
            <a:ext cx="8321042" cy="346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600">
                <a:solidFill>
                  <a:srgbClr val="1B2A4A"/>
                </a:solidFill>
              </a:defRPr>
            </a:lvl1pPr>
          </a:lstStyle>
          <a:p>
            <a:pPr/>
            <a:r>
              <a:t>İki Katmanlı Öneri Mimarisi</a:t>
            </a:r>
          </a:p>
        </p:txBody>
      </p:sp>
      <p:sp>
        <p:nvSpPr>
          <p:cNvPr id="332" name="Text 5"/>
          <p:cNvSpPr txBox="1"/>
          <p:nvPr/>
        </p:nvSpPr>
        <p:spPr>
          <a:xfrm>
            <a:off x="411479" y="1208454"/>
            <a:ext cx="832104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1100">
                <a:solidFill>
                  <a:srgbClr val="6B7A99"/>
                </a:solidFill>
              </a:defRPr>
            </a:lvl1pPr>
          </a:lstStyle>
          <a:p>
            <a:pPr/>
            <a:r>
              <a:t>Genel ürün kalitesi ile kişisel satın alma tahmini ayrı katmanlarda hesaplanır.</a:t>
            </a:r>
          </a:p>
        </p:txBody>
      </p:sp>
      <p:sp>
        <p:nvSpPr>
          <p:cNvPr id="333" name="Shape 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DF0F7"/>
          </a:solidFill>
          <a:ln w="12700">
            <a:solidFill>
              <a:srgbClr val="D4DAE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34" name="Text 7"/>
          <p:cNvSpPr txBox="1"/>
          <p:nvPr/>
        </p:nvSpPr>
        <p:spPr>
          <a:xfrm>
            <a:off x="274320" y="4954269"/>
            <a:ext cx="859536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6B7A99"/>
                </a:solidFill>
              </a:defRPr>
            </a:lvl1pPr>
          </a:lstStyle>
          <a:p>
            <a:pPr/>
            <a:r>
              <a:t>Özge Güneş  ·  İSMEK Yapay Zekâ ve Veri Bilimi  ·  Mayıs 2026</a:t>
            </a:r>
          </a:p>
        </p:txBody>
      </p:sp>
      <p:sp>
        <p:nvSpPr>
          <p:cNvPr id="335" name="Shape 8"/>
          <p:cNvSpPr/>
          <p:nvPr/>
        </p:nvSpPr>
        <p:spPr>
          <a:xfrm>
            <a:off x="320039" y="1536191"/>
            <a:ext cx="4160522" cy="3035809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  <a:effectLst>
            <a:outerShdw sx="100000" sy="100000" kx="0" ky="0" algn="b" rotWithShape="0" blurRad="76200" dist="25400" dir="8100000">
              <a:srgbClr val="8A9BB0">
                <a:alpha val="1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336" name="Shape 9"/>
          <p:cNvSpPr/>
          <p:nvPr/>
        </p:nvSpPr>
        <p:spPr>
          <a:xfrm>
            <a:off x="320039" y="1536191"/>
            <a:ext cx="4160522" cy="64009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37" name="Text 10"/>
          <p:cNvSpPr txBox="1"/>
          <p:nvPr/>
        </p:nvSpPr>
        <p:spPr>
          <a:xfrm>
            <a:off x="457200" y="1687112"/>
            <a:ext cx="3840480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E8622A"/>
                </a:solidFill>
              </a:defRPr>
            </a:lvl1pPr>
          </a:lstStyle>
          <a:p>
            <a:pPr/>
            <a:r>
              <a:t>Katman 1</a:t>
            </a:r>
          </a:p>
        </p:txBody>
      </p:sp>
      <p:sp>
        <p:nvSpPr>
          <p:cNvPr id="338" name="Text 11"/>
          <p:cNvSpPr txBox="1"/>
          <p:nvPr/>
        </p:nvSpPr>
        <p:spPr>
          <a:xfrm>
            <a:off x="457200" y="1952823"/>
            <a:ext cx="3840480" cy="20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600">
                <a:solidFill>
                  <a:srgbClr val="1B2A4A"/>
                </a:solidFill>
              </a:defRPr>
            </a:lvl1pPr>
          </a:lstStyle>
          <a:p>
            <a:pPr/>
            <a:r>
              <a:t>Genel Ürün Önerisi</a:t>
            </a:r>
          </a:p>
        </p:txBody>
      </p:sp>
      <p:sp>
        <p:nvSpPr>
          <p:cNvPr id="339" name="Shape 12"/>
          <p:cNvSpPr/>
          <p:nvPr/>
        </p:nvSpPr>
        <p:spPr>
          <a:xfrm>
            <a:off x="457200" y="2322576"/>
            <a:ext cx="54864" cy="347473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40" name="Text 13"/>
          <p:cNvSpPr txBox="1"/>
          <p:nvPr/>
        </p:nvSpPr>
        <p:spPr>
          <a:xfrm>
            <a:off x="594359" y="2427776"/>
            <a:ext cx="370332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D4F66"/>
                </a:solidFill>
              </a:defRPr>
            </a:lvl1pPr>
          </a:lstStyle>
          <a:p>
            <a:pPr/>
            <a:r>
              <a:t>Veri seviyesi: ürün (1.197 satır)</a:t>
            </a:r>
          </a:p>
        </p:txBody>
      </p:sp>
      <p:sp>
        <p:nvSpPr>
          <p:cNvPr id="341" name="Shape 14"/>
          <p:cNvSpPr/>
          <p:nvPr/>
        </p:nvSpPr>
        <p:spPr>
          <a:xfrm>
            <a:off x="457200" y="2816351"/>
            <a:ext cx="54864" cy="347473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42" name="Text 15"/>
          <p:cNvSpPr txBox="1"/>
          <p:nvPr/>
        </p:nvSpPr>
        <p:spPr>
          <a:xfrm>
            <a:off x="594359" y="2921552"/>
            <a:ext cx="370332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D4F66"/>
                </a:solidFill>
              </a:defRPr>
            </a:lvl1pPr>
          </a:lstStyle>
          <a:p>
            <a:pPr/>
            <a:r>
              <a:t>Skor: satış, rating, sepet, duygu, gelir, marj</a:t>
            </a:r>
          </a:p>
        </p:txBody>
      </p:sp>
      <p:sp>
        <p:nvSpPr>
          <p:cNvPr id="343" name="Shape 16"/>
          <p:cNvSpPr/>
          <p:nvPr/>
        </p:nvSpPr>
        <p:spPr>
          <a:xfrm>
            <a:off x="457200" y="3310128"/>
            <a:ext cx="54864" cy="347473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44" name="Text 17"/>
          <p:cNvSpPr txBox="1"/>
          <p:nvPr/>
        </p:nvSpPr>
        <p:spPr>
          <a:xfrm>
            <a:off x="594359" y="3415328"/>
            <a:ext cx="370332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D4F66"/>
                </a:solidFill>
              </a:defRPr>
            </a:lvl1pPr>
          </a:lstStyle>
          <a:p>
            <a:pPr/>
            <a:r>
              <a:t>Üst %30 → onerilir = 1  (359 ürün)</a:t>
            </a:r>
          </a:p>
        </p:txBody>
      </p:sp>
      <p:sp>
        <p:nvSpPr>
          <p:cNvPr id="345" name="Shape 18"/>
          <p:cNvSpPr/>
          <p:nvPr/>
        </p:nvSpPr>
        <p:spPr>
          <a:xfrm>
            <a:off x="457200" y="3803903"/>
            <a:ext cx="54864" cy="347473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46" name="Text 19"/>
          <p:cNvSpPr txBox="1"/>
          <p:nvPr/>
        </p:nvSpPr>
        <p:spPr>
          <a:xfrm>
            <a:off x="594359" y="3909104"/>
            <a:ext cx="370332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D4F66"/>
                </a:solidFill>
              </a:defRPr>
            </a:lvl1pPr>
          </a:lstStyle>
          <a:p>
            <a:pPr/>
            <a:r>
              <a:t>Çıktı: kategori bazlı öneri listesi</a:t>
            </a:r>
          </a:p>
        </p:txBody>
      </p:sp>
      <p:sp>
        <p:nvSpPr>
          <p:cNvPr id="347" name="Shape 20"/>
          <p:cNvSpPr/>
          <p:nvPr/>
        </p:nvSpPr>
        <p:spPr>
          <a:xfrm>
            <a:off x="4709159" y="1536191"/>
            <a:ext cx="4160521" cy="3035809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  <a:effectLst>
            <a:outerShdw sx="100000" sy="100000" kx="0" ky="0" algn="b" rotWithShape="0" blurRad="76200" dist="25400" dir="8100000">
              <a:srgbClr val="8A9BB0">
                <a:alpha val="1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348" name="Shape 21"/>
          <p:cNvSpPr/>
          <p:nvPr/>
        </p:nvSpPr>
        <p:spPr>
          <a:xfrm>
            <a:off x="4709159" y="1536191"/>
            <a:ext cx="4160521" cy="64009"/>
          </a:xfrm>
          <a:prstGeom prst="rect">
            <a:avLst/>
          </a:prstGeom>
          <a:solidFill>
            <a:srgbClr val="0E7F7F"/>
          </a:solidFill>
          <a:ln w="12700">
            <a:solidFill>
              <a:srgbClr val="0E7F7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49" name="Text 22"/>
          <p:cNvSpPr txBox="1"/>
          <p:nvPr/>
        </p:nvSpPr>
        <p:spPr>
          <a:xfrm>
            <a:off x="4846320" y="1687112"/>
            <a:ext cx="3840480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0E7F7F"/>
                </a:solidFill>
              </a:defRPr>
            </a:lvl1pPr>
          </a:lstStyle>
          <a:p>
            <a:pPr/>
            <a:r>
              <a:t>Katman 2</a:t>
            </a:r>
          </a:p>
        </p:txBody>
      </p:sp>
      <p:sp>
        <p:nvSpPr>
          <p:cNvPr id="350" name="Text 23"/>
          <p:cNvSpPr txBox="1"/>
          <p:nvPr/>
        </p:nvSpPr>
        <p:spPr>
          <a:xfrm>
            <a:off x="4846320" y="1952823"/>
            <a:ext cx="3840480" cy="20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600">
                <a:solidFill>
                  <a:srgbClr val="1B2A4A"/>
                </a:solidFill>
              </a:defRPr>
            </a:lvl1pPr>
          </a:lstStyle>
          <a:p>
            <a:pPr/>
            <a:r>
              <a:t>Kişiye Özel Tahmin</a:t>
            </a:r>
          </a:p>
        </p:txBody>
      </p:sp>
      <p:sp>
        <p:nvSpPr>
          <p:cNvPr id="351" name="Shape 24"/>
          <p:cNvSpPr/>
          <p:nvPr/>
        </p:nvSpPr>
        <p:spPr>
          <a:xfrm>
            <a:off x="4846320" y="2322576"/>
            <a:ext cx="54865" cy="347473"/>
          </a:xfrm>
          <a:prstGeom prst="rect">
            <a:avLst/>
          </a:prstGeom>
          <a:solidFill>
            <a:srgbClr val="0E7F7F"/>
          </a:solidFill>
          <a:ln w="12700">
            <a:solidFill>
              <a:srgbClr val="0E7F7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52" name="Text 25"/>
          <p:cNvSpPr txBox="1"/>
          <p:nvPr/>
        </p:nvSpPr>
        <p:spPr>
          <a:xfrm>
            <a:off x="4983479" y="2427776"/>
            <a:ext cx="370332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D4F66"/>
                </a:solidFill>
              </a:defRPr>
            </a:lvl1pPr>
          </a:lstStyle>
          <a:p>
            <a:pPr/>
            <a:r>
              <a:t>Veri seviyesi: müşteri × ürün çifti</a:t>
            </a:r>
          </a:p>
        </p:txBody>
      </p:sp>
      <p:sp>
        <p:nvSpPr>
          <p:cNvPr id="353" name="Shape 26"/>
          <p:cNvSpPr/>
          <p:nvPr/>
        </p:nvSpPr>
        <p:spPr>
          <a:xfrm>
            <a:off x="4846320" y="2816351"/>
            <a:ext cx="54865" cy="347473"/>
          </a:xfrm>
          <a:prstGeom prst="rect">
            <a:avLst/>
          </a:prstGeom>
          <a:solidFill>
            <a:srgbClr val="0E7F7F"/>
          </a:solidFill>
          <a:ln w="12700">
            <a:solidFill>
              <a:srgbClr val="0E7F7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54" name="Text 27"/>
          <p:cNvSpPr txBox="1"/>
          <p:nvPr/>
        </p:nvSpPr>
        <p:spPr>
          <a:xfrm>
            <a:off x="4983479" y="2921552"/>
            <a:ext cx="370332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D4F66"/>
                </a:solidFill>
              </a:defRPr>
            </a:lvl1pPr>
          </a:lstStyle>
          <a:p>
            <a:pPr/>
            <a:r>
              <a:t>Model: Random Forest, hedef satın_aldi</a:t>
            </a:r>
          </a:p>
        </p:txBody>
      </p:sp>
      <p:sp>
        <p:nvSpPr>
          <p:cNvPr id="355" name="Shape 28"/>
          <p:cNvSpPr/>
          <p:nvPr/>
        </p:nvSpPr>
        <p:spPr>
          <a:xfrm>
            <a:off x="4846320" y="3310128"/>
            <a:ext cx="54865" cy="347473"/>
          </a:xfrm>
          <a:prstGeom prst="rect">
            <a:avLst/>
          </a:prstGeom>
          <a:solidFill>
            <a:srgbClr val="0E7F7F"/>
          </a:solidFill>
          <a:ln w="12700">
            <a:solidFill>
              <a:srgbClr val="0E7F7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56" name="Text 29"/>
          <p:cNvSpPr txBox="1"/>
          <p:nvPr/>
        </p:nvSpPr>
        <p:spPr>
          <a:xfrm>
            <a:off x="4983479" y="3415328"/>
            <a:ext cx="370332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D4F66"/>
                </a:solidFill>
              </a:defRPr>
            </a:lvl1pPr>
          </a:lstStyle>
          <a:p>
            <a:pPr/>
            <a:r>
              <a:t>Daha önce alınan ürünler listeden çıkarılır</a:t>
            </a:r>
          </a:p>
        </p:txBody>
      </p:sp>
      <p:sp>
        <p:nvSpPr>
          <p:cNvPr id="357" name="Shape 30"/>
          <p:cNvSpPr/>
          <p:nvPr/>
        </p:nvSpPr>
        <p:spPr>
          <a:xfrm>
            <a:off x="4846320" y="3803903"/>
            <a:ext cx="54865" cy="347473"/>
          </a:xfrm>
          <a:prstGeom prst="rect">
            <a:avLst/>
          </a:prstGeom>
          <a:solidFill>
            <a:srgbClr val="0E7F7F"/>
          </a:solidFill>
          <a:ln w="12700">
            <a:solidFill>
              <a:srgbClr val="0E7F7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58" name="Text 31"/>
          <p:cNvSpPr txBox="1"/>
          <p:nvPr/>
        </p:nvSpPr>
        <p:spPr>
          <a:xfrm>
            <a:off x="4983479" y="3909104"/>
            <a:ext cx="370332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D4F66"/>
                </a:solidFill>
              </a:defRPr>
            </a:lvl1pPr>
          </a:lstStyle>
          <a:p>
            <a:pPr/>
            <a:r>
              <a:t>Çıktı: kişisel olasılığa göre sıralı liste</a:t>
            </a:r>
          </a:p>
        </p:txBody>
      </p:sp>
      <p:sp>
        <p:nvSpPr>
          <p:cNvPr id="359" name="Text 32"/>
          <p:cNvSpPr txBox="1"/>
          <p:nvPr/>
        </p:nvSpPr>
        <p:spPr>
          <a:xfrm>
            <a:off x="320040" y="4691379"/>
            <a:ext cx="850392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i="1" sz="900">
                <a:solidFill>
                  <a:srgbClr val="6B7A99"/>
                </a:solidFill>
              </a:defRPr>
            </a:lvl1pPr>
          </a:lstStyle>
          <a:p>
            <a:pPr/>
            <a:r>
              <a:t>Dashboard'da 'Genel Öneriler' sekmesi Katman 1; 'Kişisel Ürün Önerisi' sekmesi Katman 2 tahminlerini gösterir.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Shape 0"/>
          <p:cNvSpPr/>
          <p:nvPr/>
        </p:nvSpPr>
        <p:spPr>
          <a:xfrm>
            <a:off x="0" y="-1"/>
            <a:ext cx="9144000" cy="475489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62" name="Shape 1"/>
          <p:cNvSpPr/>
          <p:nvPr/>
        </p:nvSpPr>
        <p:spPr>
          <a:xfrm>
            <a:off x="0" y="-1"/>
            <a:ext cx="256032" cy="475489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63" name="Text 2"/>
          <p:cNvSpPr txBox="1"/>
          <p:nvPr/>
        </p:nvSpPr>
        <p:spPr>
          <a:xfrm>
            <a:off x="347472" y="144465"/>
            <a:ext cx="137160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500">
                <a:solidFill>
                  <a:srgbClr val="1B2A4A"/>
                </a:solidFill>
              </a:defRPr>
            </a:pPr>
            <a:r>
              <a:t>Shop</a:t>
            </a:r>
            <a:r>
              <a:rPr>
                <a:solidFill>
                  <a:srgbClr val="D04F18"/>
                </a:solidFill>
              </a:rPr>
              <a:t>Lens</a:t>
            </a:r>
          </a:p>
        </p:txBody>
      </p:sp>
      <p:sp>
        <p:nvSpPr>
          <p:cNvPr id="364" name="Text 3"/>
          <p:cNvSpPr txBox="1"/>
          <p:nvPr/>
        </p:nvSpPr>
        <p:spPr>
          <a:xfrm>
            <a:off x="7132319" y="174243"/>
            <a:ext cx="192024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6B7A99"/>
                </a:solidFill>
              </a:defRPr>
            </a:lvl1pPr>
          </a:lstStyle>
          <a:p>
            <a:pPr/>
            <a:r>
              <a:t>11 · Sunum Katmanı</a:t>
            </a:r>
          </a:p>
        </p:txBody>
      </p:sp>
      <p:sp>
        <p:nvSpPr>
          <p:cNvPr id="365" name="Text 4"/>
          <p:cNvSpPr txBox="1"/>
          <p:nvPr/>
        </p:nvSpPr>
        <p:spPr>
          <a:xfrm>
            <a:off x="411479" y="677280"/>
            <a:ext cx="8321042" cy="346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600">
                <a:solidFill>
                  <a:srgbClr val="1B2A4A"/>
                </a:solidFill>
              </a:defRPr>
            </a:lvl1pPr>
          </a:lstStyle>
          <a:p>
            <a:pPr/>
            <a:r>
              <a:t>Dashboard — Streamlit</a:t>
            </a:r>
          </a:p>
        </p:txBody>
      </p:sp>
      <p:sp>
        <p:nvSpPr>
          <p:cNvPr id="366" name="Text 5"/>
          <p:cNvSpPr txBox="1"/>
          <p:nvPr/>
        </p:nvSpPr>
        <p:spPr>
          <a:xfrm>
            <a:off x="411479" y="1208454"/>
            <a:ext cx="832104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1100">
                <a:solidFill>
                  <a:srgbClr val="6B7A99"/>
                </a:solidFill>
              </a:defRPr>
            </a:lvl1pPr>
          </a:lstStyle>
          <a:p>
            <a:pPr/>
            <a:r>
              <a:t>Tüm analizler, segmentler ve öneriler tek arayüzde. Canlı olarak yayında.</a:t>
            </a:r>
          </a:p>
        </p:txBody>
      </p:sp>
      <p:sp>
        <p:nvSpPr>
          <p:cNvPr id="367" name="Shape 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DF0F7"/>
          </a:solidFill>
          <a:ln w="12700">
            <a:solidFill>
              <a:srgbClr val="D4DAE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68" name="Text 7"/>
          <p:cNvSpPr txBox="1"/>
          <p:nvPr/>
        </p:nvSpPr>
        <p:spPr>
          <a:xfrm>
            <a:off x="274320" y="4954269"/>
            <a:ext cx="859536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6B7A99"/>
                </a:solidFill>
              </a:defRPr>
            </a:lvl1pPr>
          </a:lstStyle>
          <a:p>
            <a:pPr/>
            <a:r>
              <a:t>Özge Güneş  ·  İSMEK Yapay Zekâ ve Veri Bilimi  ·  Mayıs 2026</a:t>
            </a:r>
          </a:p>
        </p:txBody>
      </p:sp>
      <p:sp>
        <p:nvSpPr>
          <p:cNvPr id="369" name="Shape 8"/>
          <p:cNvSpPr/>
          <p:nvPr/>
        </p:nvSpPr>
        <p:spPr>
          <a:xfrm>
            <a:off x="320040" y="1536191"/>
            <a:ext cx="2057401" cy="128016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  <a:effectLst>
            <a:outerShdw sx="100000" sy="100000" kx="0" ky="0" algn="b" rotWithShape="0" blurRad="76200" dist="25400" dir="8100000">
              <a:srgbClr val="8A9BB0">
                <a:alpha val="1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370" name="Shape 9"/>
          <p:cNvSpPr/>
          <p:nvPr/>
        </p:nvSpPr>
        <p:spPr>
          <a:xfrm>
            <a:off x="320040" y="1536191"/>
            <a:ext cx="2057401" cy="54865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71" name="Text 10"/>
          <p:cNvSpPr txBox="1"/>
          <p:nvPr/>
        </p:nvSpPr>
        <p:spPr>
          <a:xfrm>
            <a:off x="411479" y="1678432"/>
            <a:ext cx="187452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900">
                <a:solidFill>
                  <a:srgbClr val="D04F18"/>
                </a:solidFill>
              </a:defRPr>
            </a:lvl1pPr>
          </a:lstStyle>
          <a:p>
            <a:pPr/>
            <a:r>
              <a:t>01</a:t>
            </a:r>
          </a:p>
        </p:txBody>
      </p:sp>
      <p:sp>
        <p:nvSpPr>
          <p:cNvPr id="372" name="Text 11"/>
          <p:cNvSpPr txBox="1"/>
          <p:nvPr/>
        </p:nvSpPr>
        <p:spPr>
          <a:xfrm>
            <a:off x="411479" y="1971978"/>
            <a:ext cx="187452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1B2A4A"/>
                </a:solidFill>
              </a:defRPr>
            </a:lvl1pPr>
          </a:lstStyle>
          <a:p>
            <a:pPr/>
            <a:r>
              <a:t>Yönetici Özeti</a:t>
            </a:r>
          </a:p>
        </p:txBody>
      </p:sp>
      <p:sp>
        <p:nvSpPr>
          <p:cNvPr id="373" name="Text 12"/>
          <p:cNvSpPr txBox="1"/>
          <p:nvPr/>
        </p:nvSpPr>
        <p:spPr>
          <a:xfrm>
            <a:off x="411479" y="2423667"/>
            <a:ext cx="187452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30000"/>
              </a:lnSpc>
              <a:defRPr sz="900">
                <a:solidFill>
                  <a:srgbClr val="3D4F66"/>
                </a:solidFill>
              </a:defRPr>
            </a:lvl1pPr>
          </a:lstStyle>
          <a:p>
            <a:pPr/>
            <a:r>
              <a:t>KPI'lar, dönüşüm hunisi, skor özeti</a:t>
            </a:r>
          </a:p>
        </p:txBody>
      </p:sp>
      <p:sp>
        <p:nvSpPr>
          <p:cNvPr id="374" name="Shape 13"/>
          <p:cNvSpPr/>
          <p:nvPr/>
        </p:nvSpPr>
        <p:spPr>
          <a:xfrm>
            <a:off x="2468879" y="1536191"/>
            <a:ext cx="2057401" cy="128016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  <a:effectLst>
            <a:outerShdw sx="100000" sy="100000" kx="0" ky="0" algn="b" rotWithShape="0" blurRad="76200" dist="25400" dir="8100000">
              <a:srgbClr val="8A9BB0">
                <a:alpha val="1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375" name="Shape 14"/>
          <p:cNvSpPr/>
          <p:nvPr/>
        </p:nvSpPr>
        <p:spPr>
          <a:xfrm>
            <a:off x="2468879" y="1536191"/>
            <a:ext cx="2057401" cy="54865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76" name="Text 15"/>
          <p:cNvSpPr txBox="1"/>
          <p:nvPr/>
        </p:nvSpPr>
        <p:spPr>
          <a:xfrm>
            <a:off x="2560320" y="1678432"/>
            <a:ext cx="18745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900">
                <a:solidFill>
                  <a:srgbClr val="D04F18"/>
                </a:solidFill>
              </a:defRPr>
            </a:lvl1pPr>
          </a:lstStyle>
          <a:p>
            <a:pPr/>
            <a:r>
              <a:t>02</a:t>
            </a:r>
          </a:p>
        </p:txBody>
      </p:sp>
      <p:sp>
        <p:nvSpPr>
          <p:cNvPr id="377" name="Text 16"/>
          <p:cNvSpPr txBox="1"/>
          <p:nvPr/>
        </p:nvSpPr>
        <p:spPr>
          <a:xfrm>
            <a:off x="2560320" y="1971978"/>
            <a:ext cx="187452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1B2A4A"/>
                </a:solidFill>
              </a:defRPr>
            </a:lvl1pPr>
          </a:lstStyle>
          <a:p>
            <a:pPr/>
            <a:r>
              <a:t>Veri Keşfi</a:t>
            </a:r>
          </a:p>
        </p:txBody>
      </p:sp>
      <p:sp>
        <p:nvSpPr>
          <p:cNvPr id="378" name="Text 17"/>
          <p:cNvSpPr txBox="1"/>
          <p:nvPr/>
        </p:nvSpPr>
        <p:spPr>
          <a:xfrm>
            <a:off x="2560320" y="2423667"/>
            <a:ext cx="18745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30000"/>
              </a:lnSpc>
              <a:defRPr sz="900">
                <a:solidFill>
                  <a:srgbClr val="3D4F66"/>
                </a:solidFill>
              </a:defRPr>
            </a:lvl1pPr>
          </a:lstStyle>
          <a:p>
            <a:pPr/>
            <a:r>
              <a:t>Tablo boyutları, eksik değer, EDA</a:t>
            </a:r>
          </a:p>
        </p:txBody>
      </p:sp>
      <p:sp>
        <p:nvSpPr>
          <p:cNvPr id="379" name="Shape 18"/>
          <p:cNvSpPr/>
          <p:nvPr/>
        </p:nvSpPr>
        <p:spPr>
          <a:xfrm>
            <a:off x="4617720" y="1536191"/>
            <a:ext cx="2057401" cy="128016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  <a:effectLst>
            <a:outerShdw sx="100000" sy="100000" kx="0" ky="0" algn="b" rotWithShape="0" blurRad="76200" dist="25400" dir="8100000">
              <a:srgbClr val="8A9BB0">
                <a:alpha val="1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380" name="Shape 19"/>
          <p:cNvSpPr/>
          <p:nvPr/>
        </p:nvSpPr>
        <p:spPr>
          <a:xfrm>
            <a:off x="4617720" y="1536191"/>
            <a:ext cx="2057401" cy="54865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81" name="Text 20"/>
          <p:cNvSpPr txBox="1"/>
          <p:nvPr/>
        </p:nvSpPr>
        <p:spPr>
          <a:xfrm>
            <a:off x="4709159" y="1678432"/>
            <a:ext cx="18745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900">
                <a:solidFill>
                  <a:srgbClr val="D04F18"/>
                </a:solidFill>
              </a:defRPr>
            </a:lvl1pPr>
          </a:lstStyle>
          <a:p>
            <a:pPr/>
            <a:r>
              <a:t>03</a:t>
            </a:r>
          </a:p>
        </p:txBody>
      </p:sp>
      <p:sp>
        <p:nvSpPr>
          <p:cNvPr id="382" name="Text 21"/>
          <p:cNvSpPr txBox="1"/>
          <p:nvPr/>
        </p:nvSpPr>
        <p:spPr>
          <a:xfrm>
            <a:off x="4709159" y="1971978"/>
            <a:ext cx="187452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1B2A4A"/>
                </a:solidFill>
              </a:defRPr>
            </a:lvl1pPr>
          </a:lstStyle>
          <a:p>
            <a:pPr/>
            <a:r>
              <a:t>Ürün Davranışı</a:t>
            </a:r>
          </a:p>
        </p:txBody>
      </p:sp>
      <p:sp>
        <p:nvSpPr>
          <p:cNvPr id="383" name="Text 22"/>
          <p:cNvSpPr txBox="1"/>
          <p:nvPr/>
        </p:nvSpPr>
        <p:spPr>
          <a:xfrm>
            <a:off x="4709159" y="2423667"/>
            <a:ext cx="18745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30000"/>
              </a:lnSpc>
              <a:defRPr sz="900">
                <a:solidFill>
                  <a:srgbClr val="3D4F66"/>
                </a:solidFill>
              </a:defRPr>
            </a:lvl1pPr>
          </a:lstStyle>
          <a:p>
            <a:pPr/>
            <a:r>
              <a:t>Fiyat × satış, rating × skor scatter</a:t>
            </a:r>
          </a:p>
        </p:txBody>
      </p:sp>
      <p:sp>
        <p:nvSpPr>
          <p:cNvPr id="384" name="Shape 23"/>
          <p:cNvSpPr/>
          <p:nvPr/>
        </p:nvSpPr>
        <p:spPr>
          <a:xfrm>
            <a:off x="6766559" y="1536191"/>
            <a:ext cx="2057401" cy="128016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  <a:effectLst>
            <a:outerShdw sx="100000" sy="100000" kx="0" ky="0" algn="b" rotWithShape="0" blurRad="76200" dist="25400" dir="8100000">
              <a:srgbClr val="8A9BB0">
                <a:alpha val="1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385" name="Shape 24"/>
          <p:cNvSpPr/>
          <p:nvPr/>
        </p:nvSpPr>
        <p:spPr>
          <a:xfrm>
            <a:off x="6766559" y="1536191"/>
            <a:ext cx="2057401" cy="54865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86" name="Text 25"/>
          <p:cNvSpPr txBox="1"/>
          <p:nvPr/>
        </p:nvSpPr>
        <p:spPr>
          <a:xfrm>
            <a:off x="6858000" y="1678432"/>
            <a:ext cx="18745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900">
                <a:solidFill>
                  <a:srgbClr val="D04F18"/>
                </a:solidFill>
              </a:defRPr>
            </a:lvl1pPr>
          </a:lstStyle>
          <a:p>
            <a:pPr/>
            <a:r>
              <a:t>04</a:t>
            </a:r>
          </a:p>
        </p:txBody>
      </p:sp>
      <p:sp>
        <p:nvSpPr>
          <p:cNvPr id="387" name="Text 26"/>
          <p:cNvSpPr txBox="1"/>
          <p:nvPr/>
        </p:nvSpPr>
        <p:spPr>
          <a:xfrm>
            <a:off x="6858000" y="1971978"/>
            <a:ext cx="187452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1B2A4A"/>
                </a:solidFill>
              </a:defRPr>
            </a:lvl1pPr>
          </a:lstStyle>
          <a:p>
            <a:pPr/>
            <a:r>
              <a:t>Genel Ürün Önerileri</a:t>
            </a:r>
          </a:p>
        </p:txBody>
      </p:sp>
      <p:sp>
        <p:nvSpPr>
          <p:cNvPr id="388" name="Text 27"/>
          <p:cNvSpPr txBox="1"/>
          <p:nvPr/>
        </p:nvSpPr>
        <p:spPr>
          <a:xfrm>
            <a:off x="6858000" y="2423667"/>
            <a:ext cx="18745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30000"/>
              </a:lnSpc>
              <a:defRPr sz="900">
                <a:solidFill>
                  <a:srgbClr val="3D4F66"/>
                </a:solidFill>
              </a:defRPr>
            </a:lvl1pPr>
          </a:lstStyle>
          <a:p>
            <a:pPr/>
            <a:r>
              <a:t>Filtrelenebilir top ürün listesi</a:t>
            </a:r>
          </a:p>
        </p:txBody>
      </p:sp>
      <p:sp>
        <p:nvSpPr>
          <p:cNvPr id="389" name="Shape 28"/>
          <p:cNvSpPr/>
          <p:nvPr/>
        </p:nvSpPr>
        <p:spPr>
          <a:xfrm>
            <a:off x="320040" y="2953511"/>
            <a:ext cx="2057401" cy="128016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  <a:effectLst>
            <a:outerShdw sx="100000" sy="100000" kx="0" ky="0" algn="b" rotWithShape="0" blurRad="76200" dist="25400" dir="8100000">
              <a:srgbClr val="8A9BB0">
                <a:alpha val="1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390" name="Shape 29"/>
          <p:cNvSpPr/>
          <p:nvPr/>
        </p:nvSpPr>
        <p:spPr>
          <a:xfrm>
            <a:off x="320040" y="2953511"/>
            <a:ext cx="2057401" cy="54865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91" name="Text 30"/>
          <p:cNvSpPr txBox="1"/>
          <p:nvPr/>
        </p:nvSpPr>
        <p:spPr>
          <a:xfrm>
            <a:off x="411479" y="3095751"/>
            <a:ext cx="187452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900">
                <a:solidFill>
                  <a:srgbClr val="D04F18"/>
                </a:solidFill>
              </a:defRPr>
            </a:lvl1pPr>
          </a:lstStyle>
          <a:p>
            <a:pPr/>
            <a:r>
              <a:t>05</a:t>
            </a:r>
          </a:p>
        </p:txBody>
      </p:sp>
      <p:sp>
        <p:nvSpPr>
          <p:cNvPr id="392" name="Text 31"/>
          <p:cNvSpPr txBox="1"/>
          <p:nvPr/>
        </p:nvSpPr>
        <p:spPr>
          <a:xfrm>
            <a:off x="411479" y="3389298"/>
            <a:ext cx="187452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1B2A4A"/>
                </a:solidFill>
              </a:defRPr>
            </a:lvl1pPr>
          </a:lstStyle>
          <a:p>
            <a:pPr/>
            <a:r>
              <a:t>Modelleme</a:t>
            </a:r>
          </a:p>
        </p:txBody>
      </p:sp>
      <p:sp>
        <p:nvSpPr>
          <p:cNvPr id="393" name="Text 32"/>
          <p:cNvSpPr txBox="1"/>
          <p:nvPr/>
        </p:nvSpPr>
        <p:spPr>
          <a:xfrm>
            <a:off x="411479" y="3840988"/>
            <a:ext cx="187452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30000"/>
              </a:lnSpc>
              <a:defRPr sz="900">
                <a:solidFill>
                  <a:srgbClr val="3D4F66"/>
                </a:solidFill>
              </a:defRPr>
            </a:lvl1pPr>
          </a:lstStyle>
          <a:p>
            <a:pPr/>
            <a:r>
              <a:t>Metrik karşılaştırması, CM, ROC, önem</a:t>
            </a:r>
          </a:p>
        </p:txBody>
      </p:sp>
      <p:sp>
        <p:nvSpPr>
          <p:cNvPr id="394" name="Shape 33"/>
          <p:cNvSpPr/>
          <p:nvPr/>
        </p:nvSpPr>
        <p:spPr>
          <a:xfrm>
            <a:off x="2468879" y="2953511"/>
            <a:ext cx="2057401" cy="128016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  <a:effectLst>
            <a:outerShdw sx="100000" sy="100000" kx="0" ky="0" algn="b" rotWithShape="0" blurRad="76200" dist="25400" dir="8100000">
              <a:srgbClr val="8A9BB0">
                <a:alpha val="1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395" name="Shape 34"/>
          <p:cNvSpPr/>
          <p:nvPr/>
        </p:nvSpPr>
        <p:spPr>
          <a:xfrm>
            <a:off x="2468879" y="2953511"/>
            <a:ext cx="2057401" cy="54865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96" name="Text 35"/>
          <p:cNvSpPr txBox="1"/>
          <p:nvPr/>
        </p:nvSpPr>
        <p:spPr>
          <a:xfrm>
            <a:off x="2560320" y="3095751"/>
            <a:ext cx="18745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900">
                <a:solidFill>
                  <a:srgbClr val="D04F18"/>
                </a:solidFill>
              </a:defRPr>
            </a:lvl1pPr>
          </a:lstStyle>
          <a:p>
            <a:pPr/>
            <a:r>
              <a:t>06</a:t>
            </a:r>
          </a:p>
        </p:txBody>
      </p:sp>
      <p:sp>
        <p:nvSpPr>
          <p:cNvPr id="397" name="Text 36"/>
          <p:cNvSpPr txBox="1"/>
          <p:nvPr/>
        </p:nvSpPr>
        <p:spPr>
          <a:xfrm>
            <a:off x="2560320" y="3389298"/>
            <a:ext cx="187452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1B2A4A"/>
                </a:solidFill>
              </a:defRPr>
            </a:lvl1pPr>
          </a:lstStyle>
          <a:p>
            <a:pPr/>
            <a:r>
              <a:t>Yorum Duygusu</a:t>
            </a:r>
          </a:p>
        </p:txBody>
      </p:sp>
      <p:sp>
        <p:nvSpPr>
          <p:cNvPr id="398" name="Text 37"/>
          <p:cNvSpPr txBox="1"/>
          <p:nvPr/>
        </p:nvSpPr>
        <p:spPr>
          <a:xfrm>
            <a:off x="2560320" y="3840988"/>
            <a:ext cx="18745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30000"/>
              </a:lnSpc>
              <a:defRPr sz="900">
                <a:solidFill>
                  <a:srgbClr val="3D4F66"/>
                </a:solidFill>
              </a:defRPr>
            </a:lvl1pPr>
          </a:lstStyle>
          <a:p>
            <a:pPr/>
            <a:r>
              <a:t>VADER + rating, örnek yorumlar</a:t>
            </a:r>
          </a:p>
        </p:txBody>
      </p:sp>
      <p:sp>
        <p:nvSpPr>
          <p:cNvPr id="399" name="Shape 38"/>
          <p:cNvSpPr/>
          <p:nvPr/>
        </p:nvSpPr>
        <p:spPr>
          <a:xfrm>
            <a:off x="4617720" y="2953511"/>
            <a:ext cx="2057401" cy="128016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  <a:effectLst>
            <a:outerShdw sx="100000" sy="100000" kx="0" ky="0" algn="b" rotWithShape="0" blurRad="76200" dist="25400" dir="8100000">
              <a:srgbClr val="8A9BB0">
                <a:alpha val="1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400" name="Shape 39"/>
          <p:cNvSpPr/>
          <p:nvPr/>
        </p:nvSpPr>
        <p:spPr>
          <a:xfrm>
            <a:off x="4617720" y="2953511"/>
            <a:ext cx="2057401" cy="54865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01" name="Text 40"/>
          <p:cNvSpPr txBox="1"/>
          <p:nvPr/>
        </p:nvSpPr>
        <p:spPr>
          <a:xfrm>
            <a:off x="4709159" y="3095751"/>
            <a:ext cx="18745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900">
                <a:solidFill>
                  <a:srgbClr val="D04F18"/>
                </a:solidFill>
              </a:defRPr>
            </a:lvl1pPr>
          </a:lstStyle>
          <a:p>
            <a:pPr/>
            <a:r>
              <a:t>07</a:t>
            </a:r>
          </a:p>
        </p:txBody>
      </p:sp>
      <p:sp>
        <p:nvSpPr>
          <p:cNvPr id="402" name="Text 41"/>
          <p:cNvSpPr txBox="1"/>
          <p:nvPr/>
        </p:nvSpPr>
        <p:spPr>
          <a:xfrm>
            <a:off x="4709159" y="3389298"/>
            <a:ext cx="187452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1B2A4A"/>
                </a:solidFill>
              </a:defRPr>
            </a:lvl1pPr>
          </a:lstStyle>
          <a:p>
            <a:pPr/>
            <a:r>
              <a:t>Kişisel Ürün Önerisi</a:t>
            </a:r>
          </a:p>
        </p:txBody>
      </p:sp>
      <p:sp>
        <p:nvSpPr>
          <p:cNvPr id="403" name="Text 42"/>
          <p:cNvSpPr txBox="1"/>
          <p:nvPr/>
        </p:nvSpPr>
        <p:spPr>
          <a:xfrm>
            <a:off x="4709159" y="3840988"/>
            <a:ext cx="18745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30000"/>
              </a:lnSpc>
              <a:defRPr sz="900">
                <a:solidFill>
                  <a:srgbClr val="3D4F66"/>
                </a:solidFill>
              </a:defRPr>
            </a:lvl1pPr>
          </a:lstStyle>
          <a:p>
            <a:pPr/>
            <a:r>
              <a:t>Müşteri seç → kişisel sıralama</a:t>
            </a:r>
          </a:p>
        </p:txBody>
      </p:sp>
      <p:sp>
        <p:nvSpPr>
          <p:cNvPr id="404" name="Shape 43"/>
          <p:cNvSpPr/>
          <p:nvPr/>
        </p:nvSpPr>
        <p:spPr>
          <a:xfrm>
            <a:off x="6766559" y="2953511"/>
            <a:ext cx="2057401" cy="128016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  <a:effectLst>
            <a:outerShdw sx="100000" sy="100000" kx="0" ky="0" algn="b" rotWithShape="0" blurRad="76200" dist="25400" dir="8100000">
              <a:srgbClr val="8A9BB0">
                <a:alpha val="1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405" name="Shape 44"/>
          <p:cNvSpPr/>
          <p:nvPr/>
        </p:nvSpPr>
        <p:spPr>
          <a:xfrm>
            <a:off x="6766559" y="2953511"/>
            <a:ext cx="2057401" cy="54865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06" name="Text 45"/>
          <p:cNvSpPr txBox="1"/>
          <p:nvPr/>
        </p:nvSpPr>
        <p:spPr>
          <a:xfrm>
            <a:off x="6858000" y="3095751"/>
            <a:ext cx="18745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900">
                <a:solidFill>
                  <a:srgbClr val="D04F18"/>
                </a:solidFill>
              </a:defRPr>
            </a:lvl1pPr>
          </a:lstStyle>
          <a:p>
            <a:pPr/>
            <a:r>
              <a:t>08</a:t>
            </a:r>
          </a:p>
        </p:txBody>
      </p:sp>
      <p:sp>
        <p:nvSpPr>
          <p:cNvPr id="407" name="Text 46"/>
          <p:cNvSpPr txBox="1"/>
          <p:nvPr/>
        </p:nvSpPr>
        <p:spPr>
          <a:xfrm>
            <a:off x="6858000" y="3389298"/>
            <a:ext cx="187452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1B2A4A"/>
                </a:solidFill>
              </a:defRPr>
            </a:lvl1pPr>
          </a:lstStyle>
          <a:p>
            <a:pPr/>
            <a:r>
              <a:t>Sistem Özeti</a:t>
            </a:r>
          </a:p>
        </p:txBody>
      </p:sp>
      <p:sp>
        <p:nvSpPr>
          <p:cNvPr id="408" name="Text 47"/>
          <p:cNvSpPr txBox="1"/>
          <p:nvPr/>
        </p:nvSpPr>
        <p:spPr>
          <a:xfrm>
            <a:off x="6858000" y="3840988"/>
            <a:ext cx="18745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30000"/>
              </a:lnSpc>
              <a:defRPr sz="900">
                <a:solidFill>
                  <a:srgbClr val="3D4F66"/>
                </a:solidFill>
              </a:defRPr>
            </a:lvl1pPr>
          </a:lstStyle>
          <a:p>
            <a:pPr/>
            <a:r>
              <a:t>Genel KPI dökümü, kategori radarı</a:t>
            </a:r>
          </a:p>
        </p:txBody>
      </p:sp>
      <p:sp>
        <p:nvSpPr>
          <p:cNvPr id="409" name="Shape 48"/>
          <p:cNvSpPr/>
          <p:nvPr/>
        </p:nvSpPr>
        <p:spPr>
          <a:xfrm>
            <a:off x="320040" y="4526279"/>
            <a:ext cx="8503920" cy="347473"/>
          </a:xfrm>
          <a:prstGeom prst="rect">
            <a:avLst/>
          </a:prstGeom>
          <a:solidFill>
            <a:srgbClr val="EDF0F7"/>
          </a:solidFill>
          <a:ln w="12700">
            <a:solidFill>
              <a:srgbClr val="D4DAE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10" name="Text 49"/>
          <p:cNvSpPr txBox="1"/>
          <p:nvPr/>
        </p:nvSpPr>
        <p:spPr>
          <a:xfrm>
            <a:off x="457200" y="4632881"/>
            <a:ext cx="8229600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1100">
                <a:solidFill>
                  <a:srgbClr val="6B7A99"/>
                </a:solidFill>
              </a:defRPr>
            </a:pPr>
            <a:r>
              <a:t>Canlı: </a:t>
            </a:r>
            <a:r>
              <a:rPr b="1">
                <a:solidFill>
                  <a:srgbClr val="D04F18"/>
                </a:solidFill>
              </a:rPr>
              <a:t>shoplens.streamlit.app</a:t>
            </a:r>
            <a:r>
              <a:t>    Kod: </a:t>
            </a:r>
            <a:r>
              <a:rPr b="1">
                <a:solidFill>
                  <a:srgbClr val="D04F18"/>
                </a:solidFill>
              </a:rPr>
              <a:t>github.com/ozgunes91/ShopLens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Shape 0"/>
          <p:cNvSpPr/>
          <p:nvPr/>
        </p:nvSpPr>
        <p:spPr>
          <a:xfrm>
            <a:off x="0" y="-1"/>
            <a:ext cx="9144000" cy="475489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13" name="Shape 1"/>
          <p:cNvSpPr/>
          <p:nvPr/>
        </p:nvSpPr>
        <p:spPr>
          <a:xfrm>
            <a:off x="0" y="-1"/>
            <a:ext cx="256032" cy="475489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14" name="Text 2"/>
          <p:cNvSpPr txBox="1"/>
          <p:nvPr/>
        </p:nvSpPr>
        <p:spPr>
          <a:xfrm>
            <a:off x="347472" y="144465"/>
            <a:ext cx="137160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500">
                <a:solidFill>
                  <a:srgbClr val="1B2A4A"/>
                </a:solidFill>
              </a:defRPr>
            </a:pPr>
            <a:r>
              <a:t>Shop</a:t>
            </a:r>
            <a:r>
              <a:rPr>
                <a:solidFill>
                  <a:srgbClr val="D04F18"/>
                </a:solidFill>
              </a:rPr>
              <a:t>Lens</a:t>
            </a:r>
          </a:p>
        </p:txBody>
      </p:sp>
      <p:sp>
        <p:nvSpPr>
          <p:cNvPr id="415" name="Text 3"/>
          <p:cNvSpPr txBox="1"/>
          <p:nvPr/>
        </p:nvSpPr>
        <p:spPr>
          <a:xfrm>
            <a:off x="7132319" y="174243"/>
            <a:ext cx="192024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6B7A99"/>
                </a:solidFill>
              </a:defRPr>
            </a:lvl1pPr>
          </a:lstStyle>
          <a:p>
            <a:pPr/>
            <a:r>
              <a:t>12 · Kapanış</a:t>
            </a:r>
          </a:p>
        </p:txBody>
      </p:sp>
      <p:sp>
        <p:nvSpPr>
          <p:cNvPr id="416" name="Text 4"/>
          <p:cNvSpPr txBox="1"/>
          <p:nvPr/>
        </p:nvSpPr>
        <p:spPr>
          <a:xfrm>
            <a:off x="411479" y="677280"/>
            <a:ext cx="8321042" cy="346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600">
                <a:solidFill>
                  <a:srgbClr val="1B2A4A"/>
                </a:solidFill>
              </a:defRPr>
            </a:lvl1pPr>
          </a:lstStyle>
          <a:p>
            <a:pPr/>
            <a:r>
              <a:t>Sonuç ve Geliştirme Önerileri</a:t>
            </a:r>
          </a:p>
        </p:txBody>
      </p:sp>
      <p:sp>
        <p:nvSpPr>
          <p:cNvPr id="417" name="Text 5"/>
          <p:cNvSpPr txBox="1"/>
          <p:nvPr/>
        </p:nvSpPr>
        <p:spPr>
          <a:xfrm>
            <a:off x="411479" y="1208454"/>
            <a:ext cx="832104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1100">
                <a:solidFill>
                  <a:srgbClr val="6B7A99"/>
                </a:solidFill>
              </a:defRPr>
            </a:lvl1pPr>
          </a:lstStyle>
          <a:p>
            <a:pPr/>
            <a:r>
              <a:t>Proje hedeflerinin karşılanma durumu ve sonraki adımlar.</a:t>
            </a:r>
          </a:p>
        </p:txBody>
      </p:sp>
      <p:sp>
        <p:nvSpPr>
          <p:cNvPr id="418" name="Shape 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DF0F7"/>
          </a:solidFill>
          <a:ln w="12700">
            <a:solidFill>
              <a:srgbClr val="D4DAE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19" name="Text 7"/>
          <p:cNvSpPr txBox="1"/>
          <p:nvPr/>
        </p:nvSpPr>
        <p:spPr>
          <a:xfrm>
            <a:off x="274320" y="4954269"/>
            <a:ext cx="859536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6B7A99"/>
                </a:solidFill>
              </a:defRPr>
            </a:lvl1pPr>
          </a:lstStyle>
          <a:p>
            <a:pPr/>
            <a:r>
              <a:t>Özge Güneş  ·  İSMEK Yapay Zekâ ve Veri Bilimi  ·  Mayıs 2026</a:t>
            </a:r>
          </a:p>
        </p:txBody>
      </p:sp>
      <p:sp>
        <p:nvSpPr>
          <p:cNvPr id="420" name="Shape 8"/>
          <p:cNvSpPr/>
          <p:nvPr/>
        </p:nvSpPr>
        <p:spPr>
          <a:xfrm>
            <a:off x="320040" y="1536191"/>
            <a:ext cx="4069080" cy="2944369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  <a:effectLst>
            <a:outerShdw sx="100000" sy="100000" kx="0" ky="0" algn="b" rotWithShape="0" blurRad="76200" dist="25400" dir="8100000">
              <a:srgbClr val="8A9BB0">
                <a:alpha val="1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421" name="Shape 9"/>
          <p:cNvSpPr/>
          <p:nvPr/>
        </p:nvSpPr>
        <p:spPr>
          <a:xfrm>
            <a:off x="320040" y="1536191"/>
            <a:ext cx="4069080" cy="64009"/>
          </a:xfrm>
          <a:prstGeom prst="rect">
            <a:avLst/>
          </a:prstGeom>
          <a:solidFill>
            <a:srgbClr val="1E8A50"/>
          </a:solidFill>
          <a:ln w="12700">
            <a:solidFill>
              <a:srgbClr val="1E8A50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22" name="Text 10"/>
          <p:cNvSpPr txBox="1"/>
          <p:nvPr/>
        </p:nvSpPr>
        <p:spPr>
          <a:xfrm>
            <a:off x="457199" y="1686359"/>
            <a:ext cx="3749042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1E8A50"/>
                </a:solidFill>
              </a:defRPr>
            </a:lvl1pPr>
          </a:lstStyle>
          <a:p>
            <a:pPr/>
            <a:r>
              <a:t>Ne yapıldı?</a:t>
            </a:r>
          </a:p>
        </p:txBody>
      </p:sp>
      <p:sp>
        <p:nvSpPr>
          <p:cNvPr id="423" name="Text 11"/>
          <p:cNvSpPr txBox="1"/>
          <p:nvPr/>
        </p:nvSpPr>
        <p:spPr>
          <a:xfrm>
            <a:off x="457199" y="2051871"/>
            <a:ext cx="3749042" cy="1573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000">
                <a:solidFill>
                  <a:srgbClr val="1E8A5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✓ </a:t>
            </a:r>
            <a:r>
              <a:rPr b="0">
                <a:solidFill>
                  <a:srgbClr val="3D4F66"/>
                </a:solidFill>
              </a:rPr>
              <a:t>7 tablo iş mantığına göre birleştirildi</a:t>
            </a:r>
          </a:p>
        </p:txBody>
      </p:sp>
      <p:sp>
        <p:nvSpPr>
          <p:cNvPr id="424" name="Text 12"/>
          <p:cNvSpPr txBox="1"/>
          <p:nvPr/>
        </p:nvSpPr>
        <p:spPr>
          <a:xfrm>
            <a:off x="457199" y="2454207"/>
            <a:ext cx="3749042" cy="1573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000">
                <a:solidFill>
                  <a:srgbClr val="1E8A5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✓ </a:t>
            </a:r>
            <a:r>
              <a:rPr b="0">
                <a:solidFill>
                  <a:srgbClr val="3D4F66"/>
                </a:solidFill>
              </a:rPr>
              <a:t>Eksik değerler yapısal olarak ele alındı</a:t>
            </a:r>
          </a:p>
        </p:txBody>
      </p:sp>
      <p:sp>
        <p:nvSpPr>
          <p:cNvPr id="425" name="Text 13"/>
          <p:cNvSpPr txBox="1"/>
          <p:nvPr/>
        </p:nvSpPr>
        <p:spPr>
          <a:xfrm>
            <a:off x="457199" y="2856543"/>
            <a:ext cx="3749042" cy="1573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000">
                <a:solidFill>
                  <a:srgbClr val="1E8A5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✓ </a:t>
            </a:r>
            <a:r>
              <a:rPr b="0">
                <a:solidFill>
                  <a:srgbClr val="3D4F66"/>
                </a:solidFill>
              </a:rPr>
              <a:t>VADER + rating hibrit duygu analizi yapıldı</a:t>
            </a:r>
          </a:p>
        </p:txBody>
      </p:sp>
      <p:sp>
        <p:nvSpPr>
          <p:cNvPr id="426" name="Text 14"/>
          <p:cNvSpPr txBox="1"/>
          <p:nvPr/>
        </p:nvSpPr>
        <p:spPr>
          <a:xfrm>
            <a:off x="457199" y="3258879"/>
            <a:ext cx="3749042" cy="1573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000">
                <a:solidFill>
                  <a:srgbClr val="1E8A5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✓ </a:t>
            </a:r>
            <a:r>
              <a:rPr b="0">
                <a:solidFill>
                  <a:srgbClr val="3D4F66"/>
                </a:solidFill>
              </a:rPr>
              <a:t>Ürün ve müşteri seviyeli iki ayrı model kuruldu</a:t>
            </a:r>
          </a:p>
        </p:txBody>
      </p:sp>
      <p:sp>
        <p:nvSpPr>
          <p:cNvPr id="427" name="Text 15"/>
          <p:cNvSpPr txBox="1"/>
          <p:nvPr/>
        </p:nvSpPr>
        <p:spPr>
          <a:xfrm>
            <a:off x="457199" y="3661215"/>
            <a:ext cx="3749042" cy="1573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000">
                <a:solidFill>
                  <a:srgbClr val="1E8A5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✓ </a:t>
            </a:r>
            <a:r>
              <a:rPr b="0">
                <a:solidFill>
                  <a:srgbClr val="3D4F66"/>
                </a:solidFill>
              </a:rPr>
              <a:t>RFM ile 6 segmentlik müşteri haritası çıkarıldı</a:t>
            </a:r>
          </a:p>
        </p:txBody>
      </p:sp>
      <p:sp>
        <p:nvSpPr>
          <p:cNvPr id="428" name="Text 16"/>
          <p:cNvSpPr txBox="1"/>
          <p:nvPr/>
        </p:nvSpPr>
        <p:spPr>
          <a:xfrm>
            <a:off x="457199" y="4063551"/>
            <a:ext cx="3749042" cy="1573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000">
                <a:solidFill>
                  <a:srgbClr val="1E8A5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✓ </a:t>
            </a:r>
            <a:r>
              <a:rPr b="0">
                <a:solidFill>
                  <a:srgbClr val="3D4F66"/>
                </a:solidFill>
              </a:rPr>
              <a:t>Sonuçlar Streamlit dashboard'unda yayınlandı</a:t>
            </a:r>
          </a:p>
        </p:txBody>
      </p:sp>
      <p:sp>
        <p:nvSpPr>
          <p:cNvPr id="429" name="Shape 17"/>
          <p:cNvSpPr/>
          <p:nvPr/>
        </p:nvSpPr>
        <p:spPr>
          <a:xfrm>
            <a:off x="4754879" y="1536191"/>
            <a:ext cx="4069081" cy="2944369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  <a:effectLst>
            <a:outerShdw sx="100000" sy="100000" kx="0" ky="0" algn="b" rotWithShape="0" blurRad="76200" dist="25400" dir="8100000">
              <a:srgbClr val="8A9BB0">
                <a:alpha val="1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430" name="Shape 18"/>
          <p:cNvSpPr/>
          <p:nvPr/>
        </p:nvSpPr>
        <p:spPr>
          <a:xfrm>
            <a:off x="4754879" y="1536191"/>
            <a:ext cx="4069081" cy="64009"/>
          </a:xfrm>
          <a:prstGeom prst="rect">
            <a:avLst/>
          </a:prstGeom>
          <a:solidFill>
            <a:srgbClr val="D04F18"/>
          </a:solidFill>
          <a:ln w="12700">
            <a:solidFill>
              <a:srgbClr val="D04F1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31" name="Text 19"/>
          <p:cNvSpPr txBox="1"/>
          <p:nvPr/>
        </p:nvSpPr>
        <p:spPr>
          <a:xfrm>
            <a:off x="4892040" y="1686359"/>
            <a:ext cx="374904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D04F18"/>
                </a:solidFill>
              </a:defRPr>
            </a:lvl1pPr>
          </a:lstStyle>
          <a:p>
            <a:pPr/>
            <a:r>
              <a:t>Geliştirme önerileri</a:t>
            </a:r>
          </a:p>
        </p:txBody>
      </p:sp>
      <p:sp>
        <p:nvSpPr>
          <p:cNvPr id="432" name="Text 20"/>
          <p:cNvSpPr txBox="1"/>
          <p:nvPr/>
        </p:nvSpPr>
        <p:spPr>
          <a:xfrm>
            <a:off x="4892040" y="2062016"/>
            <a:ext cx="374904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000">
                <a:solidFill>
                  <a:srgbClr val="E8622A"/>
                </a:solidFill>
              </a:defRPr>
            </a:pPr>
            <a:r>
              <a:t>→ </a:t>
            </a:r>
            <a:r>
              <a:rPr b="0">
                <a:solidFill>
                  <a:srgbClr val="3D4F66"/>
                </a:solidFill>
              </a:rPr>
              <a:t>Gerçek mağaza verisiyle zaman bazlı doğrulama</a:t>
            </a:r>
          </a:p>
        </p:txBody>
      </p:sp>
      <p:sp>
        <p:nvSpPr>
          <p:cNvPr id="433" name="Text 21"/>
          <p:cNvSpPr txBox="1"/>
          <p:nvPr/>
        </p:nvSpPr>
        <p:spPr>
          <a:xfrm>
            <a:off x="4892040" y="2464352"/>
            <a:ext cx="374904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000">
                <a:solidFill>
                  <a:srgbClr val="E8622A"/>
                </a:solidFill>
              </a:defRPr>
            </a:pPr>
            <a:r>
              <a:t>→ </a:t>
            </a:r>
            <a:r>
              <a:rPr b="0">
                <a:solidFill>
                  <a:srgbClr val="3D4F66"/>
                </a:solidFill>
              </a:rPr>
              <a:t>Kişisel modelin canlı A/B testi ile sınanması</a:t>
            </a:r>
          </a:p>
        </p:txBody>
      </p:sp>
      <p:sp>
        <p:nvSpPr>
          <p:cNvPr id="434" name="Text 22"/>
          <p:cNvSpPr txBox="1"/>
          <p:nvPr/>
        </p:nvSpPr>
        <p:spPr>
          <a:xfrm>
            <a:off x="4892040" y="2866688"/>
            <a:ext cx="374904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000">
                <a:solidFill>
                  <a:srgbClr val="E8622A"/>
                </a:solidFill>
              </a:defRPr>
            </a:pPr>
            <a:r>
              <a:t>→ </a:t>
            </a:r>
            <a:r>
              <a:rPr b="0">
                <a:solidFill>
                  <a:srgbClr val="3D4F66"/>
                </a:solidFill>
              </a:rPr>
              <a:t>RFM yerine KMeans tabanlı segmentasyon denemesi</a:t>
            </a:r>
          </a:p>
        </p:txBody>
      </p:sp>
      <p:sp>
        <p:nvSpPr>
          <p:cNvPr id="435" name="Text 23"/>
          <p:cNvSpPr txBox="1"/>
          <p:nvPr/>
        </p:nvSpPr>
        <p:spPr>
          <a:xfrm>
            <a:off x="4892040" y="3269024"/>
            <a:ext cx="374904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000">
                <a:solidFill>
                  <a:srgbClr val="E8622A"/>
                </a:solidFill>
              </a:defRPr>
            </a:pPr>
            <a:r>
              <a:t>→ </a:t>
            </a:r>
            <a:r>
              <a:rPr b="0">
                <a:solidFill>
                  <a:srgbClr val="3D4F66"/>
                </a:solidFill>
              </a:rPr>
              <a:t>Çok dilli yorumlar için VADER yerine BERT</a:t>
            </a:r>
          </a:p>
        </p:txBody>
      </p:sp>
      <p:sp>
        <p:nvSpPr>
          <p:cNvPr id="436" name="Text 24"/>
          <p:cNvSpPr txBox="1"/>
          <p:nvPr/>
        </p:nvSpPr>
        <p:spPr>
          <a:xfrm>
            <a:off x="4892040" y="3671360"/>
            <a:ext cx="374904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000">
                <a:solidFill>
                  <a:srgbClr val="E8622A"/>
                </a:solidFill>
              </a:defRPr>
            </a:pPr>
            <a:r>
              <a:t>→ </a:t>
            </a:r>
            <a:r>
              <a:rPr b="0">
                <a:solidFill>
                  <a:srgbClr val="3D4F66"/>
                </a:solidFill>
              </a:rPr>
              <a:t>Soğuk başlangıç için içerik bazlı öneri katmanı</a:t>
            </a:r>
          </a:p>
        </p:txBody>
      </p:sp>
      <p:sp>
        <p:nvSpPr>
          <p:cNvPr id="437" name="Text 25"/>
          <p:cNvSpPr txBox="1"/>
          <p:nvPr/>
        </p:nvSpPr>
        <p:spPr>
          <a:xfrm>
            <a:off x="4892040" y="4073696"/>
            <a:ext cx="374904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000">
                <a:solidFill>
                  <a:srgbClr val="E8622A"/>
                </a:solidFill>
              </a:defRPr>
            </a:pPr>
            <a:r>
              <a:t>→ </a:t>
            </a:r>
            <a:r>
              <a:rPr b="0">
                <a:solidFill>
                  <a:srgbClr val="3D4F66"/>
                </a:solidFill>
              </a:rPr>
              <a:t>Model izleme paneli ve veri kayması kontrolü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Shape 0"/>
          <p:cNvSpPr/>
          <p:nvPr/>
        </p:nvSpPr>
        <p:spPr>
          <a:xfrm>
            <a:off x="0" y="-1"/>
            <a:ext cx="9144000" cy="475489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40" name="Shape 1"/>
          <p:cNvSpPr/>
          <p:nvPr/>
        </p:nvSpPr>
        <p:spPr>
          <a:xfrm>
            <a:off x="0" y="-1"/>
            <a:ext cx="256032" cy="475489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41" name="Text 2"/>
          <p:cNvSpPr txBox="1"/>
          <p:nvPr/>
        </p:nvSpPr>
        <p:spPr>
          <a:xfrm>
            <a:off x="347472" y="144465"/>
            <a:ext cx="1371601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500">
                <a:solidFill>
                  <a:srgbClr val="1B2A4A"/>
                </a:solidFill>
              </a:defRPr>
            </a:pPr>
            <a:r>
              <a:t>Shop</a:t>
            </a:r>
            <a:r>
              <a:rPr>
                <a:solidFill>
                  <a:srgbClr val="D04F18"/>
                </a:solidFill>
              </a:rPr>
              <a:t>Lens</a:t>
            </a:r>
          </a:p>
        </p:txBody>
      </p:sp>
      <p:sp>
        <p:nvSpPr>
          <p:cNvPr id="442" name="Text 3"/>
          <p:cNvSpPr txBox="1"/>
          <p:nvPr/>
        </p:nvSpPr>
        <p:spPr>
          <a:xfrm>
            <a:off x="7132319" y="174243"/>
            <a:ext cx="192024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6B7A99"/>
                </a:solidFill>
              </a:defRPr>
            </a:lvl1pPr>
          </a:lstStyle>
          <a:p>
            <a:pPr/>
            <a:r>
              <a:t>13 · Kaynakça</a:t>
            </a:r>
          </a:p>
        </p:txBody>
      </p:sp>
      <p:sp>
        <p:nvSpPr>
          <p:cNvPr id="443" name="Text 4"/>
          <p:cNvSpPr txBox="1"/>
          <p:nvPr/>
        </p:nvSpPr>
        <p:spPr>
          <a:xfrm>
            <a:off x="411479" y="677280"/>
            <a:ext cx="8321042" cy="3462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600">
                <a:solidFill>
                  <a:srgbClr val="1B2A4A"/>
                </a:solidFill>
              </a:defRPr>
            </a:lvl1pPr>
          </a:lstStyle>
          <a:p>
            <a:pPr/>
            <a:r>
              <a:t>Kaynakça</a:t>
            </a:r>
          </a:p>
        </p:txBody>
      </p:sp>
      <p:sp>
        <p:nvSpPr>
          <p:cNvPr id="444" name="Shape 5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DF0F7"/>
          </a:solidFill>
          <a:ln w="12700">
            <a:solidFill>
              <a:srgbClr val="D4DAE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45" name="Text 6"/>
          <p:cNvSpPr txBox="1"/>
          <p:nvPr/>
        </p:nvSpPr>
        <p:spPr>
          <a:xfrm>
            <a:off x="274320" y="4954269"/>
            <a:ext cx="859536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6B7A99"/>
                </a:solidFill>
              </a:defRPr>
            </a:lvl1pPr>
          </a:lstStyle>
          <a:p>
            <a:pPr/>
            <a:r>
              <a:t>Özge Güneş  ·  İSMEK Yapay Zekâ ve Veri Bilimi  ·  Mayıs 2026</a:t>
            </a:r>
          </a:p>
        </p:txBody>
      </p:sp>
      <p:sp>
        <p:nvSpPr>
          <p:cNvPr id="446" name="Shape 7"/>
          <p:cNvSpPr/>
          <p:nvPr/>
        </p:nvSpPr>
        <p:spPr>
          <a:xfrm>
            <a:off x="320040" y="1508760"/>
            <a:ext cx="8503920" cy="457201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47" name="Text 8"/>
          <p:cNvSpPr txBox="1"/>
          <p:nvPr/>
        </p:nvSpPr>
        <p:spPr>
          <a:xfrm>
            <a:off x="411480" y="1668824"/>
            <a:ext cx="347473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D04F18"/>
                </a:solidFill>
              </a:defRPr>
            </a:lvl1pPr>
          </a:lstStyle>
          <a:p>
            <a:pPr/>
            <a:r>
              <a:t>[1]</a:t>
            </a:r>
          </a:p>
        </p:txBody>
      </p:sp>
      <p:sp>
        <p:nvSpPr>
          <p:cNvPr id="448" name="Text 9"/>
          <p:cNvSpPr txBox="1"/>
          <p:nvPr/>
        </p:nvSpPr>
        <p:spPr>
          <a:xfrm>
            <a:off x="777240" y="1595964"/>
            <a:ext cx="7909560" cy="2827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25000"/>
              </a:lnSpc>
              <a:defRPr sz="900">
                <a:solidFill>
                  <a:srgbClr val="3D4F66"/>
                </a:solidFill>
              </a:defRPr>
            </a:pPr>
            <a:r>
              <a:t>Wafaa El-Husseini. E-commerce Transactions + Clickstream Dataset. Kaggle, 2023.</a:t>
            </a:r>
          </a:p>
          <a:p>
            <a:pPr>
              <a:lnSpc>
                <a:spcPct val="125000"/>
              </a:lnSpc>
              <a:defRPr sz="900">
                <a:solidFill>
                  <a:srgbClr val="3D4F66"/>
                </a:solidFill>
              </a:defRPr>
            </a:pPr>
            <a:r>
              <a:t>https://www.kaggle.com/datasets/wafaaelhusseini/e-commerce-transactions-clickstream</a:t>
            </a:r>
          </a:p>
        </p:txBody>
      </p:sp>
      <p:sp>
        <p:nvSpPr>
          <p:cNvPr id="449" name="Shape 10"/>
          <p:cNvSpPr/>
          <p:nvPr/>
        </p:nvSpPr>
        <p:spPr>
          <a:xfrm>
            <a:off x="320040" y="2039111"/>
            <a:ext cx="8503920" cy="457201"/>
          </a:xfrm>
          <a:prstGeom prst="rect">
            <a:avLst/>
          </a:prstGeom>
          <a:solidFill>
            <a:srgbClr val="EDF0F7"/>
          </a:solidFill>
          <a:ln w="12700">
            <a:solidFill>
              <a:srgbClr val="D4DAE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50" name="Text 11"/>
          <p:cNvSpPr txBox="1"/>
          <p:nvPr/>
        </p:nvSpPr>
        <p:spPr>
          <a:xfrm>
            <a:off x="411480" y="2199176"/>
            <a:ext cx="347473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D04F18"/>
                </a:solidFill>
              </a:defRPr>
            </a:lvl1pPr>
          </a:lstStyle>
          <a:p>
            <a:pPr/>
            <a:r>
              <a:t>[2]</a:t>
            </a:r>
          </a:p>
        </p:txBody>
      </p:sp>
      <p:sp>
        <p:nvSpPr>
          <p:cNvPr id="451" name="Text 12"/>
          <p:cNvSpPr txBox="1"/>
          <p:nvPr/>
        </p:nvSpPr>
        <p:spPr>
          <a:xfrm>
            <a:off x="777240" y="2204211"/>
            <a:ext cx="790956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5000"/>
              </a:lnSpc>
              <a:defRPr sz="900">
                <a:solidFill>
                  <a:srgbClr val="3D4F66"/>
                </a:solidFill>
              </a:defRPr>
            </a:lvl1pPr>
          </a:lstStyle>
          <a:p>
            <a:pPr/>
            <a:r>
              <a:t>C.J. Hutto &amp; E. Gilbert. VADER: A Parsimonious Rule-based Model for Sentiment Analysis of Social Media Text. ICWSM-14, 2014.</a:t>
            </a:r>
          </a:p>
        </p:txBody>
      </p:sp>
      <p:sp>
        <p:nvSpPr>
          <p:cNvPr id="452" name="Shape 13"/>
          <p:cNvSpPr/>
          <p:nvPr/>
        </p:nvSpPr>
        <p:spPr>
          <a:xfrm>
            <a:off x="320040" y="2569464"/>
            <a:ext cx="8503920" cy="457201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53" name="Text 14"/>
          <p:cNvSpPr txBox="1"/>
          <p:nvPr/>
        </p:nvSpPr>
        <p:spPr>
          <a:xfrm>
            <a:off x="411480" y="2729528"/>
            <a:ext cx="347473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D04F18"/>
                </a:solidFill>
              </a:defRPr>
            </a:lvl1pPr>
          </a:lstStyle>
          <a:p>
            <a:pPr/>
            <a:r>
              <a:t>[3]</a:t>
            </a:r>
          </a:p>
        </p:txBody>
      </p:sp>
      <p:sp>
        <p:nvSpPr>
          <p:cNvPr id="454" name="Text 15"/>
          <p:cNvSpPr txBox="1"/>
          <p:nvPr/>
        </p:nvSpPr>
        <p:spPr>
          <a:xfrm>
            <a:off x="777240" y="2734563"/>
            <a:ext cx="790956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5000"/>
              </a:lnSpc>
              <a:defRPr sz="900">
                <a:solidFill>
                  <a:srgbClr val="3D4F66"/>
                </a:solidFill>
              </a:defRPr>
            </a:lvl1pPr>
          </a:lstStyle>
          <a:p>
            <a:pPr/>
            <a:r>
              <a:t>Leo Breiman. Random Forests. Machine Learning, 45(1), 5–32, 2001.</a:t>
            </a:r>
          </a:p>
        </p:txBody>
      </p:sp>
      <p:sp>
        <p:nvSpPr>
          <p:cNvPr id="455" name="Shape 16"/>
          <p:cNvSpPr/>
          <p:nvPr/>
        </p:nvSpPr>
        <p:spPr>
          <a:xfrm>
            <a:off x="320040" y="3099816"/>
            <a:ext cx="8503920" cy="457201"/>
          </a:xfrm>
          <a:prstGeom prst="rect">
            <a:avLst/>
          </a:prstGeom>
          <a:solidFill>
            <a:srgbClr val="EDF0F7"/>
          </a:solidFill>
          <a:ln w="12700">
            <a:solidFill>
              <a:srgbClr val="D4DAE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56" name="Text 17"/>
          <p:cNvSpPr txBox="1"/>
          <p:nvPr/>
        </p:nvSpPr>
        <p:spPr>
          <a:xfrm>
            <a:off x="411480" y="3259880"/>
            <a:ext cx="347473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D04F18"/>
                </a:solidFill>
              </a:defRPr>
            </a:lvl1pPr>
          </a:lstStyle>
          <a:p>
            <a:pPr/>
            <a:r>
              <a:t>[4]</a:t>
            </a:r>
          </a:p>
        </p:txBody>
      </p:sp>
      <p:sp>
        <p:nvSpPr>
          <p:cNvPr id="457" name="Text 18"/>
          <p:cNvSpPr txBox="1"/>
          <p:nvPr/>
        </p:nvSpPr>
        <p:spPr>
          <a:xfrm>
            <a:off x="777240" y="3264916"/>
            <a:ext cx="790956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5000"/>
              </a:lnSpc>
              <a:defRPr sz="900">
                <a:solidFill>
                  <a:srgbClr val="3D4F66"/>
                </a:solidFill>
              </a:defRPr>
            </a:lvl1pPr>
          </a:lstStyle>
          <a:p>
            <a:pPr/>
            <a:r>
              <a:t>V. Kumar &amp; J.A. Petersen. Using a Customer-Level Marketing Strategy to Enhance Firm Performance (RFM Analysis). Journal of the Academy of Marketing Science, 2005.</a:t>
            </a:r>
          </a:p>
        </p:txBody>
      </p:sp>
      <p:sp>
        <p:nvSpPr>
          <p:cNvPr id="458" name="Shape 19"/>
          <p:cNvSpPr/>
          <p:nvPr/>
        </p:nvSpPr>
        <p:spPr>
          <a:xfrm>
            <a:off x="320040" y="3630167"/>
            <a:ext cx="8503920" cy="457201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59" name="Text 20"/>
          <p:cNvSpPr txBox="1"/>
          <p:nvPr/>
        </p:nvSpPr>
        <p:spPr>
          <a:xfrm>
            <a:off x="411480" y="3790232"/>
            <a:ext cx="347473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D04F18"/>
                </a:solidFill>
              </a:defRPr>
            </a:lvl1pPr>
          </a:lstStyle>
          <a:p>
            <a:pPr/>
            <a:r>
              <a:t>[5]</a:t>
            </a:r>
          </a:p>
        </p:txBody>
      </p:sp>
      <p:sp>
        <p:nvSpPr>
          <p:cNvPr id="460" name="Text 21"/>
          <p:cNvSpPr txBox="1"/>
          <p:nvPr/>
        </p:nvSpPr>
        <p:spPr>
          <a:xfrm>
            <a:off x="777240" y="3795267"/>
            <a:ext cx="790956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5000"/>
              </a:lnSpc>
              <a:defRPr sz="900">
                <a:solidFill>
                  <a:srgbClr val="3D4F66"/>
                </a:solidFill>
              </a:defRPr>
            </a:lvl1pPr>
          </a:lstStyle>
          <a:p>
            <a:pPr/>
            <a:r>
              <a:t>Streamlit Inc. Streamlit — A faster way to build and share data apps. https://streamlit.io, 2024.</a:t>
            </a:r>
          </a:p>
        </p:txBody>
      </p:sp>
      <p:sp>
        <p:nvSpPr>
          <p:cNvPr id="461" name="Shape 22"/>
          <p:cNvSpPr/>
          <p:nvPr/>
        </p:nvSpPr>
        <p:spPr>
          <a:xfrm>
            <a:off x="320040" y="4160520"/>
            <a:ext cx="8503920" cy="457201"/>
          </a:xfrm>
          <a:prstGeom prst="rect">
            <a:avLst/>
          </a:prstGeom>
          <a:solidFill>
            <a:srgbClr val="EDF0F7"/>
          </a:solidFill>
          <a:ln w="12700">
            <a:solidFill>
              <a:srgbClr val="D4DAE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62" name="Text 23"/>
          <p:cNvSpPr txBox="1"/>
          <p:nvPr/>
        </p:nvSpPr>
        <p:spPr>
          <a:xfrm>
            <a:off x="411480" y="4320584"/>
            <a:ext cx="347473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D04F18"/>
                </a:solidFill>
              </a:defRPr>
            </a:lvl1pPr>
          </a:lstStyle>
          <a:p>
            <a:pPr/>
            <a:r>
              <a:t>[6]</a:t>
            </a:r>
          </a:p>
        </p:txBody>
      </p:sp>
      <p:sp>
        <p:nvSpPr>
          <p:cNvPr id="463" name="Text 24"/>
          <p:cNvSpPr txBox="1"/>
          <p:nvPr/>
        </p:nvSpPr>
        <p:spPr>
          <a:xfrm>
            <a:off x="777240" y="4325620"/>
            <a:ext cx="790956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5000"/>
              </a:lnSpc>
              <a:defRPr sz="900">
                <a:solidFill>
                  <a:srgbClr val="3D4F66"/>
                </a:solidFill>
              </a:defRPr>
            </a:lvl1pPr>
          </a:lstStyle>
          <a:p>
            <a:pPr/>
            <a:r>
              <a:t>F. Pedregosa et al. Scikit-learn: Machine Learning in Python. JMLR 12, pp. 2825–2830, 2011.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Shape 0"/>
          <p:cNvSpPr/>
          <p:nvPr/>
        </p:nvSpPr>
        <p:spPr>
          <a:xfrm>
            <a:off x="-1" y="0"/>
            <a:ext cx="411482" cy="5143500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66" name="Text 1"/>
          <p:cNvSpPr txBox="1"/>
          <p:nvPr/>
        </p:nvSpPr>
        <p:spPr>
          <a:xfrm>
            <a:off x="640080" y="643061"/>
            <a:ext cx="3657601" cy="5426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4200">
                <a:solidFill>
                  <a:srgbClr val="1B2A4A"/>
                </a:solidFill>
              </a:defRPr>
            </a:pPr>
            <a:r>
              <a:t>Shop</a:t>
            </a:r>
            <a:r>
              <a:rPr>
                <a:solidFill>
                  <a:srgbClr val="D04F18"/>
                </a:solidFill>
              </a:rPr>
              <a:t>Lens</a:t>
            </a:r>
          </a:p>
        </p:txBody>
      </p:sp>
      <p:sp>
        <p:nvSpPr>
          <p:cNvPr id="467" name="Shape 2"/>
          <p:cNvSpPr/>
          <p:nvPr/>
        </p:nvSpPr>
        <p:spPr>
          <a:xfrm>
            <a:off x="640079" y="1325880"/>
            <a:ext cx="7863842" cy="36577"/>
          </a:xfrm>
          <a:prstGeom prst="rect">
            <a:avLst/>
          </a:prstGeom>
          <a:solidFill>
            <a:srgbClr val="C8D0E0"/>
          </a:solidFill>
          <a:ln w="12700">
            <a:solidFill>
              <a:srgbClr val="C8D0E0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68" name="Text 3"/>
          <p:cNvSpPr txBox="1"/>
          <p:nvPr/>
        </p:nvSpPr>
        <p:spPr>
          <a:xfrm>
            <a:off x="640079" y="1802925"/>
            <a:ext cx="7863842" cy="8198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lnSpc>
                <a:spcPct val="150000"/>
              </a:lnSpc>
              <a:defRPr i="1" sz="2400">
                <a:solidFill>
                  <a:srgbClr val="1B2A4A"/>
                </a:solidFill>
              </a:defRPr>
            </a:pPr>
            <a:r>
              <a:t>“Doğru ürün, doğru müşteriye, doğru anda —</a:t>
            </a:r>
          </a:p>
          <a:p>
            <a:pPr algn="ctr">
              <a:lnSpc>
                <a:spcPct val="150000"/>
              </a:lnSpc>
              <a:defRPr i="1" sz="2400">
                <a:solidFill>
                  <a:srgbClr val="1B2A4A"/>
                </a:solidFill>
              </a:defRPr>
            </a:pPr>
            <a:r>
              <a:t>veri bunu mümkün kılar.”</a:t>
            </a:r>
          </a:p>
        </p:txBody>
      </p:sp>
      <p:sp>
        <p:nvSpPr>
          <p:cNvPr id="469" name="Shape 4"/>
          <p:cNvSpPr/>
          <p:nvPr/>
        </p:nvSpPr>
        <p:spPr>
          <a:xfrm>
            <a:off x="3474720" y="2788920"/>
            <a:ext cx="2194561" cy="45721"/>
          </a:xfrm>
          <a:prstGeom prst="rect">
            <a:avLst/>
          </a:prstGeom>
          <a:solidFill>
            <a:srgbClr val="E8622A"/>
          </a:solidFill>
          <a:ln w="12700">
            <a:solidFill>
              <a:srgbClr val="E862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70" name="Text 5"/>
          <p:cNvSpPr txBox="1"/>
          <p:nvPr/>
        </p:nvSpPr>
        <p:spPr>
          <a:xfrm>
            <a:off x="640079" y="3152728"/>
            <a:ext cx="7863842" cy="241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>
                <a:solidFill>
                  <a:srgbClr val="6B7A99"/>
                </a:solidFill>
              </a:defRPr>
            </a:lvl1pPr>
          </a:lstStyle>
          <a:p>
            <a:pPr/>
            <a:r>
              <a:t>Teşekkürler</a:t>
            </a:r>
          </a:p>
        </p:txBody>
      </p:sp>
      <p:sp>
        <p:nvSpPr>
          <p:cNvPr id="471" name="Shape 6"/>
          <p:cNvSpPr/>
          <p:nvPr/>
        </p:nvSpPr>
        <p:spPr>
          <a:xfrm>
            <a:off x="2011679" y="3703320"/>
            <a:ext cx="5120642" cy="566929"/>
          </a:xfrm>
          <a:prstGeom prst="rect">
            <a:avLst/>
          </a:prstGeom>
          <a:solidFill>
            <a:srgbClr val="FFFFFF"/>
          </a:solidFill>
          <a:ln w="12700">
            <a:solidFill>
              <a:srgbClr val="D4DAE8"/>
            </a:solidFill>
          </a:ln>
          <a:effectLst>
            <a:outerShdw sx="100000" sy="100000" kx="0" ky="0" algn="b" rotWithShape="0" blurRad="76200" dist="25400" dir="8100000">
              <a:srgbClr val="8A9BB0">
                <a:alpha val="18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472" name="Text 7"/>
          <p:cNvSpPr txBox="1"/>
          <p:nvPr/>
        </p:nvSpPr>
        <p:spPr>
          <a:xfrm>
            <a:off x="2011679" y="3919650"/>
            <a:ext cx="5120642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b="1" sz="1100">
                <a:solidFill>
                  <a:srgbClr val="D04F18"/>
                </a:solidFill>
              </a:defRPr>
            </a:pPr>
            <a:r>
              <a:t>shoplens.streamlit.app</a:t>
            </a:r>
            <a:r>
              <a:rPr b="0">
                <a:solidFill>
                  <a:srgbClr val="C8D0E0"/>
                </a:solidFill>
              </a:rPr>
              <a:t>   ·   </a:t>
            </a:r>
            <a:r>
              <a:t>github.com/ozgunes91/ShopLens</a:t>
            </a:r>
          </a:p>
        </p:txBody>
      </p:sp>
      <p:sp>
        <p:nvSpPr>
          <p:cNvPr id="473" name="Text 8"/>
          <p:cNvSpPr txBox="1"/>
          <p:nvPr/>
        </p:nvSpPr>
        <p:spPr>
          <a:xfrm>
            <a:off x="640079" y="4535931"/>
            <a:ext cx="786384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>
                <a:solidFill>
                  <a:srgbClr val="6B7A99"/>
                </a:solidFill>
              </a:defRPr>
            </a:lvl1pPr>
          </a:lstStyle>
          <a:p>
            <a:pPr/>
            <a:r>
              <a:t>Özge Güneş  ·  İSMEK Yapay Zekâ ve Veri Bilimi  ·  Mayıs 2026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