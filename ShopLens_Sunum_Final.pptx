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Metni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Başlık Metni</a:t>
            </a:r>
          </a:p>
        </p:txBody>
      </p:sp>
      <p:sp>
        <p:nvSpPr>
          <p:cNvPr id="3" name="Gövde Düzeyi Bir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4" name="Slayt Numarası"/>
          <p:cNvSpPr txBox="1"/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E68">
              <a:alpha val="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4" name="Grupla"/>
          <p:cNvGrpSpPr/>
          <p:nvPr/>
        </p:nvGrpSpPr>
        <p:grpSpPr>
          <a:xfrm>
            <a:off x="742950" y="819149"/>
            <a:ext cx="1524000" cy="514351"/>
            <a:chOff x="0" y="0"/>
            <a:chExt cx="1524000" cy="514350"/>
          </a:xfrm>
        </p:grpSpPr>
        <p:sp>
          <p:nvSpPr>
            <p:cNvPr id="22" name="Dikdörtgen"/>
            <p:cNvSpPr/>
            <p:nvPr/>
          </p:nvSpPr>
          <p:spPr>
            <a:xfrm>
              <a:off x="0" y="0"/>
              <a:ext cx="1524000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31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23" name="Shop"/>
            <p:cNvSpPr txBox="1"/>
            <p:nvPr/>
          </p:nvSpPr>
          <p:spPr>
            <a:xfrm>
              <a:off x="0" y="-1"/>
              <a:ext cx="1524000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31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Shop</a:t>
              </a:r>
            </a:p>
          </p:txBody>
        </p:sp>
      </p:grpSp>
      <p:grpSp>
        <p:nvGrpSpPr>
          <p:cNvPr id="27" name="Grupla"/>
          <p:cNvGrpSpPr/>
          <p:nvPr/>
        </p:nvGrpSpPr>
        <p:grpSpPr>
          <a:xfrm>
            <a:off x="1739762" y="819149"/>
            <a:ext cx="1524003" cy="514351"/>
            <a:chOff x="0" y="0"/>
            <a:chExt cx="1524001" cy="514350"/>
          </a:xfrm>
        </p:grpSpPr>
        <p:sp>
          <p:nvSpPr>
            <p:cNvPr id="25" name="Dikdörtgen"/>
            <p:cNvSpPr/>
            <p:nvPr/>
          </p:nvSpPr>
          <p:spPr>
            <a:xfrm>
              <a:off x="-1" y="0"/>
              <a:ext cx="1524003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3100">
                  <a:solidFill>
                    <a:srgbClr val="F47C2C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26" name="Lens"/>
            <p:cNvSpPr txBox="1"/>
            <p:nvPr/>
          </p:nvSpPr>
          <p:spPr>
            <a:xfrm>
              <a:off x="-1" y="-1"/>
              <a:ext cx="1524003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3100">
                  <a:solidFill>
                    <a:srgbClr val="F47C2C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Lens</a:t>
              </a:r>
            </a:p>
          </p:txBody>
        </p:sp>
      </p:grpSp>
      <p:grpSp>
        <p:nvGrpSpPr>
          <p:cNvPr id="30" name="Grupla"/>
          <p:cNvGrpSpPr/>
          <p:nvPr/>
        </p:nvGrpSpPr>
        <p:grpSpPr>
          <a:xfrm>
            <a:off x="762000" y="1466849"/>
            <a:ext cx="7239000" cy="1066801"/>
            <a:chOff x="0" y="0"/>
            <a:chExt cx="7239000" cy="1066800"/>
          </a:xfrm>
        </p:grpSpPr>
        <p:sp>
          <p:nvSpPr>
            <p:cNvPr id="28" name="Dikdörtgen"/>
            <p:cNvSpPr/>
            <p:nvPr/>
          </p:nvSpPr>
          <p:spPr>
            <a:xfrm>
              <a:off x="0" y="0"/>
              <a:ext cx="7239000" cy="1066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4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29" name="E-Ticaret Davranış Analizi ve Akıllı Ürün Öneri Sistemi"/>
            <p:cNvSpPr txBox="1"/>
            <p:nvPr/>
          </p:nvSpPr>
          <p:spPr>
            <a:xfrm>
              <a:off x="0" y="-1"/>
              <a:ext cx="7239000" cy="736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4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E-Ticaret Davranış Analizi ve Akıllı Ürün Öneri Sistemi</a:t>
              </a:r>
            </a:p>
          </p:txBody>
        </p:sp>
      </p:grpSp>
      <p:grpSp>
        <p:nvGrpSpPr>
          <p:cNvPr id="33" name="Grupla"/>
          <p:cNvGrpSpPr/>
          <p:nvPr/>
        </p:nvGrpSpPr>
        <p:grpSpPr>
          <a:xfrm>
            <a:off x="781050" y="2571749"/>
            <a:ext cx="6667500" cy="666751"/>
            <a:chOff x="0" y="0"/>
            <a:chExt cx="6667500" cy="666750"/>
          </a:xfrm>
        </p:grpSpPr>
        <p:sp>
          <p:nvSpPr>
            <p:cNvPr id="31" name="Dikdörtgen"/>
            <p:cNvSpPr/>
            <p:nvPr/>
          </p:nvSpPr>
          <p:spPr>
            <a:xfrm>
              <a:off x="0" y="0"/>
              <a:ext cx="6667500" cy="666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2" name="Clickstream, sipariş, yorum ve müşteri segmentasyonu verileriyle kişiye özel satın alma olasılığı üreten açıklanabilir analiz projesi"/>
            <p:cNvSpPr txBox="1"/>
            <p:nvPr/>
          </p:nvSpPr>
          <p:spPr>
            <a:xfrm>
              <a:off x="0" y="-1"/>
              <a:ext cx="6667500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5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Clickstream, sipariş, yorum ve müşteri segmentasyonu verileriyle kişiye özel satın alma olasılığı üreten açıklanabilir analiz projesi</a:t>
              </a:r>
            </a:p>
          </p:txBody>
        </p:sp>
      </p:grpSp>
      <p:sp>
        <p:nvSpPr>
          <p:cNvPr id="34" name="Dikdörtgen"/>
          <p:cNvSpPr/>
          <p:nvPr/>
        </p:nvSpPr>
        <p:spPr>
          <a:xfrm>
            <a:off x="7705725" y="1162050"/>
            <a:ext cx="1428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" name="Dikdörtgen"/>
          <p:cNvSpPr/>
          <p:nvPr/>
        </p:nvSpPr>
        <p:spPr>
          <a:xfrm>
            <a:off x="7667625" y="1104900"/>
            <a:ext cx="1428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" name="Dikdörtgen"/>
          <p:cNvSpPr/>
          <p:nvPr/>
        </p:nvSpPr>
        <p:spPr>
          <a:xfrm>
            <a:off x="7667625" y="1104900"/>
            <a:ext cx="57150" cy="10287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9" name="Grupla"/>
          <p:cNvGrpSpPr/>
          <p:nvPr/>
        </p:nvGrpSpPr>
        <p:grpSpPr>
          <a:xfrm>
            <a:off x="7858125" y="1276349"/>
            <a:ext cx="1047750" cy="152401"/>
            <a:chOff x="0" y="0"/>
            <a:chExt cx="1047750" cy="152400"/>
          </a:xfrm>
        </p:grpSpPr>
        <p:sp>
          <p:nvSpPr>
            <p:cNvPr id="37" name="Dikdörtgen"/>
            <p:cNvSpPr/>
            <p:nvPr/>
          </p:nvSpPr>
          <p:spPr>
            <a:xfrm>
              <a:off x="0" y="0"/>
              <a:ext cx="1047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8" name="GÖZLEM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GÖZLEM</a:t>
              </a:r>
            </a:p>
          </p:txBody>
        </p:sp>
      </p:grpSp>
      <p:grpSp>
        <p:nvGrpSpPr>
          <p:cNvPr id="42" name="Grupla"/>
          <p:cNvGrpSpPr/>
          <p:nvPr/>
        </p:nvGrpSpPr>
        <p:grpSpPr>
          <a:xfrm>
            <a:off x="7858125" y="1504949"/>
            <a:ext cx="1047750" cy="361951"/>
            <a:chOff x="0" y="0"/>
            <a:chExt cx="1047750" cy="361950"/>
          </a:xfrm>
        </p:grpSpPr>
        <p:sp>
          <p:nvSpPr>
            <p:cNvPr id="40" name="Dikdörtgen"/>
            <p:cNvSpPr/>
            <p:nvPr/>
          </p:nvSpPr>
          <p:spPr>
            <a:xfrm>
              <a:off x="0" y="0"/>
              <a:ext cx="1047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1" name="1.0M"/>
            <p:cNvSpPr txBox="1"/>
            <p:nvPr/>
          </p:nvSpPr>
          <p:spPr>
            <a:xfrm>
              <a:off x="0" y="-1"/>
              <a:ext cx="1047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1.0M</a:t>
              </a:r>
            </a:p>
          </p:txBody>
        </p:sp>
      </p:grpSp>
      <p:grpSp>
        <p:nvGrpSpPr>
          <p:cNvPr id="45" name="Grupla"/>
          <p:cNvGrpSpPr/>
          <p:nvPr/>
        </p:nvGrpSpPr>
        <p:grpSpPr>
          <a:xfrm>
            <a:off x="7858125" y="1885949"/>
            <a:ext cx="1047750" cy="171451"/>
            <a:chOff x="0" y="0"/>
            <a:chExt cx="1047750" cy="171450"/>
          </a:xfrm>
        </p:grpSpPr>
        <p:sp>
          <p:nvSpPr>
            <p:cNvPr id="43" name="Dikdörtgen"/>
            <p:cNvSpPr/>
            <p:nvPr/>
          </p:nvSpPr>
          <p:spPr>
            <a:xfrm>
              <a:off x="0" y="0"/>
              <a:ext cx="1047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4" name="ham kayıt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ham kayıt</a:t>
              </a:r>
            </a:p>
          </p:txBody>
        </p:sp>
      </p:grpSp>
      <p:sp>
        <p:nvSpPr>
          <p:cNvPr id="46" name="Dikdörtgen"/>
          <p:cNvSpPr/>
          <p:nvPr/>
        </p:nvSpPr>
        <p:spPr>
          <a:xfrm>
            <a:off x="9324975" y="1162050"/>
            <a:ext cx="1428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Dikdörtgen"/>
          <p:cNvSpPr/>
          <p:nvPr/>
        </p:nvSpPr>
        <p:spPr>
          <a:xfrm>
            <a:off x="9286875" y="1104900"/>
            <a:ext cx="1428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" name="Dikdörtgen"/>
          <p:cNvSpPr/>
          <p:nvPr/>
        </p:nvSpPr>
        <p:spPr>
          <a:xfrm>
            <a:off x="9286875" y="1104900"/>
            <a:ext cx="57150" cy="10287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1" name="Grupla"/>
          <p:cNvGrpSpPr/>
          <p:nvPr/>
        </p:nvGrpSpPr>
        <p:grpSpPr>
          <a:xfrm>
            <a:off x="9477375" y="1276349"/>
            <a:ext cx="1047750" cy="152401"/>
            <a:chOff x="0" y="0"/>
            <a:chExt cx="1047750" cy="152400"/>
          </a:xfrm>
        </p:grpSpPr>
        <p:sp>
          <p:nvSpPr>
            <p:cNvPr id="49" name="Dikdörtgen"/>
            <p:cNvSpPr/>
            <p:nvPr/>
          </p:nvSpPr>
          <p:spPr>
            <a:xfrm>
              <a:off x="0" y="0"/>
              <a:ext cx="1047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0" name="VERİ SETİ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VERİ SETİ</a:t>
              </a:r>
            </a:p>
          </p:txBody>
        </p:sp>
      </p:grpSp>
      <p:grpSp>
        <p:nvGrpSpPr>
          <p:cNvPr id="54" name="Grupla"/>
          <p:cNvGrpSpPr/>
          <p:nvPr/>
        </p:nvGrpSpPr>
        <p:grpSpPr>
          <a:xfrm>
            <a:off x="9477375" y="1504949"/>
            <a:ext cx="1047750" cy="361951"/>
            <a:chOff x="0" y="0"/>
            <a:chExt cx="1047750" cy="361950"/>
          </a:xfrm>
        </p:grpSpPr>
        <p:sp>
          <p:nvSpPr>
            <p:cNvPr id="52" name="Dikdörtgen"/>
            <p:cNvSpPr/>
            <p:nvPr/>
          </p:nvSpPr>
          <p:spPr>
            <a:xfrm>
              <a:off x="0" y="0"/>
              <a:ext cx="1047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3" name="7"/>
            <p:cNvSpPr txBox="1"/>
            <p:nvPr/>
          </p:nvSpPr>
          <p:spPr>
            <a:xfrm>
              <a:off x="0" y="-1"/>
              <a:ext cx="1047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57" name="Grupla"/>
          <p:cNvGrpSpPr/>
          <p:nvPr/>
        </p:nvGrpSpPr>
        <p:grpSpPr>
          <a:xfrm>
            <a:off x="9477375" y="1885949"/>
            <a:ext cx="1047750" cy="171451"/>
            <a:chOff x="0" y="0"/>
            <a:chExt cx="1047750" cy="171450"/>
          </a:xfrm>
        </p:grpSpPr>
        <p:sp>
          <p:nvSpPr>
            <p:cNvPr id="55" name="Dikdörtgen"/>
            <p:cNvSpPr/>
            <p:nvPr/>
          </p:nvSpPr>
          <p:spPr>
            <a:xfrm>
              <a:off x="0" y="0"/>
              <a:ext cx="1047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6" name="ilişkili tablo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ilişkili tablo</a:t>
              </a:r>
            </a:p>
          </p:txBody>
        </p:sp>
      </p:grpSp>
      <p:sp>
        <p:nvSpPr>
          <p:cNvPr id="58" name="Dikdörtgen"/>
          <p:cNvSpPr/>
          <p:nvPr/>
        </p:nvSpPr>
        <p:spPr>
          <a:xfrm>
            <a:off x="7705725" y="2438400"/>
            <a:ext cx="1428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" name="Dikdörtgen"/>
          <p:cNvSpPr/>
          <p:nvPr/>
        </p:nvSpPr>
        <p:spPr>
          <a:xfrm>
            <a:off x="7667625" y="2381250"/>
            <a:ext cx="1428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" name="Dikdörtgen"/>
          <p:cNvSpPr/>
          <p:nvPr/>
        </p:nvSpPr>
        <p:spPr>
          <a:xfrm>
            <a:off x="7667625" y="2381250"/>
            <a:ext cx="57150" cy="10287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3" name="Grupla"/>
          <p:cNvGrpSpPr/>
          <p:nvPr/>
        </p:nvGrpSpPr>
        <p:grpSpPr>
          <a:xfrm>
            <a:off x="7858125" y="2552699"/>
            <a:ext cx="1047750" cy="152401"/>
            <a:chOff x="0" y="0"/>
            <a:chExt cx="1047750" cy="152400"/>
          </a:xfrm>
        </p:grpSpPr>
        <p:sp>
          <p:nvSpPr>
            <p:cNvPr id="61" name="Dikdörtgen"/>
            <p:cNvSpPr/>
            <p:nvPr/>
          </p:nvSpPr>
          <p:spPr>
            <a:xfrm>
              <a:off x="0" y="0"/>
              <a:ext cx="1047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2" name="AUC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AUC</a:t>
              </a:r>
            </a:p>
          </p:txBody>
        </p:sp>
      </p:grpSp>
      <p:grpSp>
        <p:nvGrpSpPr>
          <p:cNvPr id="66" name="Grupla"/>
          <p:cNvGrpSpPr/>
          <p:nvPr/>
        </p:nvGrpSpPr>
        <p:grpSpPr>
          <a:xfrm>
            <a:off x="7858125" y="2781299"/>
            <a:ext cx="1047750" cy="361951"/>
            <a:chOff x="0" y="0"/>
            <a:chExt cx="1047750" cy="361950"/>
          </a:xfrm>
        </p:grpSpPr>
        <p:sp>
          <p:nvSpPr>
            <p:cNvPr id="64" name="Dikdörtgen"/>
            <p:cNvSpPr/>
            <p:nvPr/>
          </p:nvSpPr>
          <p:spPr>
            <a:xfrm>
              <a:off x="0" y="0"/>
              <a:ext cx="1047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5" name="0.954"/>
            <p:cNvSpPr txBox="1"/>
            <p:nvPr/>
          </p:nvSpPr>
          <p:spPr>
            <a:xfrm>
              <a:off x="0" y="-1"/>
              <a:ext cx="1047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0.954</a:t>
              </a:r>
            </a:p>
          </p:txBody>
        </p:sp>
      </p:grpSp>
      <p:grpSp>
        <p:nvGrpSpPr>
          <p:cNvPr id="69" name="Grupla"/>
          <p:cNvGrpSpPr/>
          <p:nvPr/>
        </p:nvGrpSpPr>
        <p:grpSpPr>
          <a:xfrm>
            <a:off x="7858125" y="3162299"/>
            <a:ext cx="1047750" cy="171451"/>
            <a:chOff x="0" y="0"/>
            <a:chExt cx="1047750" cy="171450"/>
          </a:xfrm>
        </p:grpSpPr>
        <p:sp>
          <p:nvSpPr>
            <p:cNvPr id="67" name="Dikdörtgen"/>
            <p:cNvSpPr/>
            <p:nvPr/>
          </p:nvSpPr>
          <p:spPr>
            <a:xfrm>
              <a:off x="0" y="0"/>
              <a:ext cx="1047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8" name="kişisel model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kişisel model</a:t>
              </a:r>
            </a:p>
          </p:txBody>
        </p:sp>
      </p:grpSp>
      <p:sp>
        <p:nvSpPr>
          <p:cNvPr id="70" name="Dikdörtgen"/>
          <p:cNvSpPr/>
          <p:nvPr/>
        </p:nvSpPr>
        <p:spPr>
          <a:xfrm>
            <a:off x="9324975" y="2438400"/>
            <a:ext cx="1428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Dikdörtgen"/>
          <p:cNvSpPr/>
          <p:nvPr/>
        </p:nvSpPr>
        <p:spPr>
          <a:xfrm>
            <a:off x="9286875" y="2381250"/>
            <a:ext cx="1428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" name="Dikdörtgen"/>
          <p:cNvSpPr/>
          <p:nvPr/>
        </p:nvSpPr>
        <p:spPr>
          <a:xfrm>
            <a:off x="9286875" y="2381250"/>
            <a:ext cx="57150" cy="1028700"/>
          </a:xfrm>
          <a:prstGeom prst="rect">
            <a:avLst/>
          </a:prstGeom>
          <a:solidFill>
            <a:srgbClr val="F2B632"/>
          </a:solidFill>
          <a:ln w="3175">
            <a:solidFill>
              <a:srgbClr val="F2B632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5" name="Grupla"/>
          <p:cNvGrpSpPr/>
          <p:nvPr/>
        </p:nvGrpSpPr>
        <p:grpSpPr>
          <a:xfrm>
            <a:off x="9477375" y="2552699"/>
            <a:ext cx="1047750" cy="152401"/>
            <a:chOff x="0" y="0"/>
            <a:chExt cx="1047750" cy="152400"/>
          </a:xfrm>
        </p:grpSpPr>
        <p:sp>
          <p:nvSpPr>
            <p:cNvPr id="73" name="Dikdörtgen"/>
            <p:cNvSpPr/>
            <p:nvPr/>
          </p:nvSpPr>
          <p:spPr>
            <a:xfrm>
              <a:off x="0" y="0"/>
              <a:ext cx="1047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4" name="MÜŞTERİ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MÜŞTERİ</a:t>
              </a:r>
            </a:p>
          </p:txBody>
        </p:sp>
      </p:grpSp>
      <p:grpSp>
        <p:nvGrpSpPr>
          <p:cNvPr id="78" name="Grupla"/>
          <p:cNvGrpSpPr/>
          <p:nvPr/>
        </p:nvGrpSpPr>
        <p:grpSpPr>
          <a:xfrm>
            <a:off x="9477375" y="2781299"/>
            <a:ext cx="1047750" cy="361951"/>
            <a:chOff x="0" y="0"/>
            <a:chExt cx="1047750" cy="361950"/>
          </a:xfrm>
        </p:grpSpPr>
        <p:sp>
          <p:nvSpPr>
            <p:cNvPr id="76" name="Dikdörtgen"/>
            <p:cNvSpPr/>
            <p:nvPr/>
          </p:nvSpPr>
          <p:spPr>
            <a:xfrm>
              <a:off x="0" y="0"/>
              <a:ext cx="1047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7" name="20K"/>
            <p:cNvSpPr txBox="1"/>
            <p:nvPr/>
          </p:nvSpPr>
          <p:spPr>
            <a:xfrm>
              <a:off x="0" y="-1"/>
              <a:ext cx="1047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20K</a:t>
              </a:r>
            </a:p>
          </p:txBody>
        </p:sp>
      </p:grpSp>
      <p:grpSp>
        <p:nvGrpSpPr>
          <p:cNvPr id="81" name="Grupla"/>
          <p:cNvGrpSpPr/>
          <p:nvPr/>
        </p:nvGrpSpPr>
        <p:grpSpPr>
          <a:xfrm>
            <a:off x="9477375" y="3162299"/>
            <a:ext cx="1047750" cy="171451"/>
            <a:chOff x="0" y="0"/>
            <a:chExt cx="1047750" cy="171450"/>
          </a:xfrm>
        </p:grpSpPr>
        <p:sp>
          <p:nvSpPr>
            <p:cNvPr id="79" name="Dikdörtgen"/>
            <p:cNvSpPr/>
            <p:nvPr/>
          </p:nvSpPr>
          <p:spPr>
            <a:xfrm>
              <a:off x="0" y="0"/>
              <a:ext cx="1047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0" name="kayıt"/>
            <p:cNvSpPr txBox="1"/>
            <p:nvPr/>
          </p:nvSpPr>
          <p:spPr>
            <a:xfrm>
              <a:off x="0" y="-1"/>
              <a:ext cx="1047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kayıt</a:t>
              </a:r>
            </a:p>
          </p:txBody>
        </p:sp>
      </p:grpSp>
      <p:grpSp>
        <p:nvGrpSpPr>
          <p:cNvPr id="84" name="Grupla"/>
          <p:cNvGrpSpPr/>
          <p:nvPr/>
        </p:nvGrpSpPr>
        <p:grpSpPr>
          <a:xfrm>
            <a:off x="781050" y="5333999"/>
            <a:ext cx="4095750" cy="247651"/>
            <a:chOff x="0" y="0"/>
            <a:chExt cx="4095750" cy="247650"/>
          </a:xfrm>
        </p:grpSpPr>
        <p:sp>
          <p:nvSpPr>
            <p:cNvPr id="82" name="Dikdörtgen"/>
            <p:cNvSpPr/>
            <p:nvPr/>
          </p:nvSpPr>
          <p:spPr>
            <a:xfrm>
              <a:off x="0" y="0"/>
              <a:ext cx="40957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3" name="Hazırlayan: Özge Güneş"/>
            <p:cNvSpPr txBox="1"/>
            <p:nvPr/>
          </p:nvSpPr>
          <p:spPr>
            <a:xfrm>
              <a:off x="0" y="-1"/>
              <a:ext cx="409575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Hazırlayan: Özge Güneş</a:t>
              </a:r>
            </a:p>
          </p:txBody>
        </p:sp>
      </p:grpSp>
      <p:grpSp>
        <p:nvGrpSpPr>
          <p:cNvPr id="87" name="Grupla"/>
          <p:cNvGrpSpPr/>
          <p:nvPr/>
        </p:nvGrpSpPr>
        <p:grpSpPr>
          <a:xfrm>
            <a:off x="781050" y="5657849"/>
            <a:ext cx="4953000" cy="228601"/>
            <a:chOff x="0" y="0"/>
            <a:chExt cx="4953000" cy="228600"/>
          </a:xfrm>
        </p:grpSpPr>
        <p:sp>
          <p:nvSpPr>
            <p:cNvPr id="85" name="Dikdörtgen"/>
            <p:cNvSpPr/>
            <p:nvPr/>
          </p:nvSpPr>
          <p:spPr>
            <a:xfrm>
              <a:off x="0" y="0"/>
              <a:ext cx="4953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C4D2E6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6" name="İSMEK Yapay Zekâ ve Veri Bilimi | Mayıs 2026"/>
            <p:cNvSpPr txBox="1"/>
            <p:nvPr/>
          </p:nvSpPr>
          <p:spPr>
            <a:xfrm>
              <a:off x="0" y="-1"/>
              <a:ext cx="495300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C4D2E6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İSMEK Yapay Zekâ ve Veri Bilimi | Mayıs 2026</a:t>
              </a:r>
            </a:p>
          </p:txBody>
        </p:sp>
      </p:grpSp>
      <p:sp>
        <p:nvSpPr>
          <p:cNvPr id="88" name="Dikdörtgen"/>
          <p:cNvSpPr/>
          <p:nvPr/>
        </p:nvSpPr>
        <p:spPr>
          <a:xfrm>
            <a:off x="7639049" y="3848100"/>
            <a:ext cx="1282068" cy="266700"/>
          </a:xfrm>
          <a:prstGeom prst="rect">
            <a:avLst/>
          </a:prstGeom>
          <a:solidFill>
            <a:srgbClr val="FFF4EC"/>
          </a:solidFill>
          <a:ln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1" name="Grupla"/>
          <p:cNvGrpSpPr/>
          <p:nvPr/>
        </p:nvGrpSpPr>
        <p:grpSpPr>
          <a:xfrm>
            <a:off x="7772399" y="3905249"/>
            <a:ext cx="1072517" cy="171451"/>
            <a:chOff x="0" y="0"/>
            <a:chExt cx="1072516" cy="171450"/>
          </a:xfrm>
        </p:grpSpPr>
        <p:sp>
          <p:nvSpPr>
            <p:cNvPr id="89" name="Dikdörtgen"/>
            <p:cNvSpPr/>
            <p:nvPr/>
          </p:nvSpPr>
          <p:spPr>
            <a:xfrm>
              <a:off x="-1" y="0"/>
              <a:ext cx="1072517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4F83F1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0" name="Sınıflandırma"/>
            <p:cNvSpPr txBox="1"/>
            <p:nvPr/>
          </p:nvSpPr>
          <p:spPr>
            <a:xfrm>
              <a:off x="-1" y="-1"/>
              <a:ext cx="1072517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4F83F1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Sınıflandırma</a:t>
              </a:r>
            </a:p>
          </p:txBody>
        </p:sp>
      </p:grpSp>
      <p:sp>
        <p:nvSpPr>
          <p:cNvPr id="92" name="Dikdörtgen"/>
          <p:cNvSpPr/>
          <p:nvPr/>
        </p:nvSpPr>
        <p:spPr>
          <a:xfrm>
            <a:off x="8972549" y="3848100"/>
            <a:ext cx="1282068" cy="266700"/>
          </a:xfrm>
          <a:prstGeom prst="rect">
            <a:avLst/>
          </a:prstGeom>
          <a:solidFill>
            <a:srgbClr val="FFF4EC"/>
          </a:solidFill>
          <a:ln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5" name="Grupla"/>
          <p:cNvGrpSpPr/>
          <p:nvPr/>
        </p:nvGrpSpPr>
        <p:grpSpPr>
          <a:xfrm>
            <a:off x="9105899" y="3905249"/>
            <a:ext cx="1072517" cy="171451"/>
            <a:chOff x="0" y="0"/>
            <a:chExt cx="1072516" cy="171450"/>
          </a:xfrm>
        </p:grpSpPr>
        <p:sp>
          <p:nvSpPr>
            <p:cNvPr id="93" name="Dikdörtgen"/>
            <p:cNvSpPr/>
            <p:nvPr/>
          </p:nvSpPr>
          <p:spPr>
            <a:xfrm>
              <a:off x="-1" y="0"/>
              <a:ext cx="1072517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4" name="Random Forest"/>
            <p:cNvSpPr txBox="1"/>
            <p:nvPr/>
          </p:nvSpPr>
          <p:spPr>
            <a:xfrm>
              <a:off x="-1" y="-1"/>
              <a:ext cx="1072517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Random Forest</a:t>
              </a:r>
            </a:p>
          </p:txBody>
        </p:sp>
      </p:grpSp>
      <p:sp>
        <p:nvSpPr>
          <p:cNvPr id="96" name="Dikdörtgen"/>
          <p:cNvSpPr/>
          <p:nvPr/>
        </p:nvSpPr>
        <p:spPr>
          <a:xfrm>
            <a:off x="7639049" y="4229100"/>
            <a:ext cx="1750698" cy="266700"/>
          </a:xfrm>
          <a:prstGeom prst="rect">
            <a:avLst/>
          </a:prstGeom>
          <a:solidFill>
            <a:srgbClr val="FFF4EC"/>
          </a:solidFill>
          <a:ln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9" name="Grupla"/>
          <p:cNvGrpSpPr/>
          <p:nvPr/>
        </p:nvGrpSpPr>
        <p:grpSpPr>
          <a:xfrm>
            <a:off x="7772399" y="4286249"/>
            <a:ext cx="1541147" cy="171451"/>
            <a:chOff x="0" y="0"/>
            <a:chExt cx="1541146" cy="171450"/>
          </a:xfrm>
        </p:grpSpPr>
        <p:sp>
          <p:nvSpPr>
            <p:cNvPr id="97" name="Dikdörtgen"/>
            <p:cNvSpPr/>
            <p:nvPr/>
          </p:nvSpPr>
          <p:spPr>
            <a:xfrm>
              <a:off x="-1" y="0"/>
              <a:ext cx="1541147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3FA65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8" name="VADER Duygu Analizi"/>
            <p:cNvSpPr txBox="1"/>
            <p:nvPr/>
          </p:nvSpPr>
          <p:spPr>
            <a:xfrm>
              <a:off x="-1" y="-1"/>
              <a:ext cx="1541147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3FA65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VADER Duygu Analizi</a:t>
              </a:r>
            </a:p>
          </p:txBody>
        </p:sp>
      </p:grpSp>
      <p:sp>
        <p:nvSpPr>
          <p:cNvPr id="100" name="Dikdörtgen"/>
          <p:cNvSpPr/>
          <p:nvPr/>
        </p:nvSpPr>
        <p:spPr>
          <a:xfrm>
            <a:off x="9544049" y="4229100"/>
            <a:ext cx="1594488" cy="266700"/>
          </a:xfrm>
          <a:prstGeom prst="rect">
            <a:avLst/>
          </a:prstGeom>
          <a:solidFill>
            <a:srgbClr val="FFF4EC"/>
          </a:solidFill>
          <a:ln>
            <a:solidFill>
              <a:srgbClr val="F2B632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3" name="Grupla"/>
          <p:cNvGrpSpPr/>
          <p:nvPr/>
        </p:nvGrpSpPr>
        <p:grpSpPr>
          <a:xfrm>
            <a:off x="9677398" y="4286249"/>
            <a:ext cx="1384939" cy="171451"/>
            <a:chOff x="0" y="0"/>
            <a:chExt cx="1384938" cy="171450"/>
          </a:xfrm>
        </p:grpSpPr>
        <p:sp>
          <p:nvSpPr>
            <p:cNvPr id="101" name="Dikdörtgen"/>
            <p:cNvSpPr/>
            <p:nvPr/>
          </p:nvSpPr>
          <p:spPr>
            <a:xfrm>
              <a:off x="-1" y="0"/>
              <a:ext cx="1384939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F2B632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2" name="RFM Segmentasyonu"/>
            <p:cNvSpPr txBox="1"/>
            <p:nvPr/>
          </p:nvSpPr>
          <p:spPr>
            <a:xfrm>
              <a:off x="-1" y="-1"/>
              <a:ext cx="1384939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F2B632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RFM Segmentasyonu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9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07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8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12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10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1" name="Problem ve Amaç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Problem ve Amaç</a:t>
              </a:r>
            </a:p>
          </p:txBody>
        </p:sp>
      </p:grpSp>
      <p:grpSp>
        <p:nvGrpSpPr>
          <p:cNvPr id="115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13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14" name="Problem: Çok ürün var, doğru müşteriye doğru ürünü göstermek zor"/>
            <p:cNvSpPr txBox="1"/>
            <p:nvPr/>
          </p:nvSpPr>
          <p:spPr>
            <a:xfrm>
              <a:off x="0" y="-1"/>
              <a:ext cx="9239250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Problem: Çok ürün var, doğru müşteriye doğru ürünü göstermek zor</a:t>
              </a:r>
            </a:p>
          </p:txBody>
        </p:sp>
      </p:grpSp>
      <p:grpSp>
        <p:nvGrpSpPr>
          <p:cNvPr id="118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116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7" name="Bu proje yalnızca en çok satan ürünleri listelemez; müşteri davranışıyla ürün sinyallerini birlikte oku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proje yalnızca en çok satan ürünleri listelemez; müşteri davranışıyla ürün sinyallerini birlikte okur.</a:t>
              </a:r>
            </a:p>
          </p:txBody>
        </p:sp>
      </p:grpSp>
      <p:sp>
        <p:nvSpPr>
          <p:cNvPr id="119" name="Dikdörtgen"/>
          <p:cNvSpPr/>
          <p:nvPr/>
        </p:nvSpPr>
        <p:spPr>
          <a:xfrm>
            <a:off x="704850" y="2152650"/>
            <a:ext cx="3143250" cy="24765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" name="Dikdörtgen"/>
          <p:cNvSpPr/>
          <p:nvPr/>
        </p:nvSpPr>
        <p:spPr>
          <a:xfrm>
            <a:off x="666750" y="2095500"/>
            <a:ext cx="3143250" cy="24765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Dikdörtgen"/>
          <p:cNvSpPr/>
          <p:nvPr/>
        </p:nvSpPr>
        <p:spPr>
          <a:xfrm>
            <a:off x="666750" y="2095500"/>
            <a:ext cx="57150" cy="2476500"/>
          </a:xfrm>
          <a:prstGeom prst="rect">
            <a:avLst/>
          </a:prstGeom>
          <a:solidFill>
            <a:srgbClr val="D6453D"/>
          </a:solidFill>
          <a:ln w="3175">
            <a:solidFill>
              <a:srgbClr val="D6453D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Dikdörtgen"/>
          <p:cNvSpPr/>
          <p:nvPr/>
        </p:nvSpPr>
        <p:spPr>
          <a:xfrm>
            <a:off x="4562475" y="2152650"/>
            <a:ext cx="3143250" cy="24765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Dikdörtgen"/>
          <p:cNvSpPr/>
          <p:nvPr/>
        </p:nvSpPr>
        <p:spPr>
          <a:xfrm>
            <a:off x="4524375" y="2095500"/>
            <a:ext cx="3143250" cy="24765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" name="Dikdörtgen"/>
          <p:cNvSpPr/>
          <p:nvPr/>
        </p:nvSpPr>
        <p:spPr>
          <a:xfrm>
            <a:off x="4524375" y="2095500"/>
            <a:ext cx="57150" cy="24765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" name="Dikdörtgen"/>
          <p:cNvSpPr/>
          <p:nvPr/>
        </p:nvSpPr>
        <p:spPr>
          <a:xfrm>
            <a:off x="8420100" y="2152650"/>
            <a:ext cx="3143250" cy="24765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" name="Dikdörtgen"/>
          <p:cNvSpPr/>
          <p:nvPr/>
        </p:nvSpPr>
        <p:spPr>
          <a:xfrm>
            <a:off x="8382000" y="2095500"/>
            <a:ext cx="3143250" cy="24765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" name="Dikdörtgen"/>
          <p:cNvSpPr/>
          <p:nvPr/>
        </p:nvSpPr>
        <p:spPr>
          <a:xfrm>
            <a:off x="8382000" y="2095500"/>
            <a:ext cx="57150" cy="24765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2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2500" y="2362200"/>
            <a:ext cx="323850" cy="323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10125" y="2362200"/>
            <a:ext cx="323850" cy="323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67750" y="2362200"/>
            <a:ext cx="323850" cy="323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3" name="Grupla"/>
          <p:cNvGrpSpPr/>
          <p:nvPr/>
        </p:nvGrpSpPr>
        <p:grpSpPr>
          <a:xfrm>
            <a:off x="1428750" y="2381249"/>
            <a:ext cx="1905000" cy="266701"/>
            <a:chOff x="0" y="0"/>
            <a:chExt cx="1905000" cy="266700"/>
          </a:xfrm>
        </p:grpSpPr>
        <p:sp>
          <p:nvSpPr>
            <p:cNvPr id="131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2" name="İş Problemi"/>
            <p:cNvSpPr txBox="1"/>
            <p:nvPr/>
          </p:nvSpPr>
          <p:spPr>
            <a:xfrm>
              <a:off x="0" y="-1"/>
              <a:ext cx="190500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İş Problemi</a:t>
              </a:r>
            </a:p>
          </p:txBody>
        </p:sp>
      </p:grpSp>
      <p:grpSp>
        <p:nvGrpSpPr>
          <p:cNvPr id="136" name="Grupla"/>
          <p:cNvGrpSpPr/>
          <p:nvPr/>
        </p:nvGrpSpPr>
        <p:grpSpPr>
          <a:xfrm>
            <a:off x="952500" y="2905124"/>
            <a:ext cx="2381250" cy="1104901"/>
            <a:chOff x="0" y="0"/>
            <a:chExt cx="2381250" cy="1104900"/>
          </a:xfrm>
        </p:grpSpPr>
        <p:sp>
          <p:nvSpPr>
            <p:cNvPr id="134" name="Dikdörtgen"/>
            <p:cNvSpPr/>
            <p:nvPr/>
          </p:nvSpPr>
          <p:spPr>
            <a:xfrm>
              <a:off x="0" y="0"/>
              <a:ext cx="2381250" cy="110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5" name="E-ticaret sitelerinde her müşteriye aynı ürünleri göstermek dönüşümü düşürür. Kullanıcı geçmişi ve ürün kalitesi birlikte değerlendirilmelidir."/>
            <p:cNvSpPr txBox="1"/>
            <p:nvPr/>
          </p:nvSpPr>
          <p:spPr>
            <a:xfrm>
              <a:off x="0" y="-1"/>
              <a:ext cx="2381250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E-ticaret sitelerinde her müşteriye aynı ürünleri göstermek dönüşümü düşürür. Kullanıcı geçmişi ve ürün kalitesi birlikte değerlendirilmelidir.</a:t>
              </a:r>
            </a:p>
          </p:txBody>
        </p:sp>
      </p:grpSp>
      <p:grpSp>
        <p:nvGrpSpPr>
          <p:cNvPr id="139" name="Grupla"/>
          <p:cNvGrpSpPr/>
          <p:nvPr/>
        </p:nvGrpSpPr>
        <p:grpSpPr>
          <a:xfrm>
            <a:off x="5286375" y="2381249"/>
            <a:ext cx="1905000" cy="266701"/>
            <a:chOff x="0" y="0"/>
            <a:chExt cx="1905000" cy="266700"/>
          </a:xfrm>
        </p:grpSpPr>
        <p:sp>
          <p:nvSpPr>
            <p:cNvPr id="137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8" name="Veri Yaklaşımı"/>
            <p:cNvSpPr txBox="1"/>
            <p:nvPr/>
          </p:nvSpPr>
          <p:spPr>
            <a:xfrm>
              <a:off x="0" y="-1"/>
              <a:ext cx="190500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Veri Yaklaşımı</a:t>
              </a:r>
            </a:p>
          </p:txBody>
        </p:sp>
      </p:grpSp>
      <p:grpSp>
        <p:nvGrpSpPr>
          <p:cNvPr id="142" name="Grupla"/>
          <p:cNvGrpSpPr/>
          <p:nvPr/>
        </p:nvGrpSpPr>
        <p:grpSpPr>
          <a:xfrm>
            <a:off x="4810125" y="2905124"/>
            <a:ext cx="2476500" cy="1104901"/>
            <a:chOff x="0" y="0"/>
            <a:chExt cx="2476500" cy="1104900"/>
          </a:xfrm>
        </p:grpSpPr>
        <p:sp>
          <p:nvSpPr>
            <p:cNvPr id="140" name="Dikdörtgen"/>
            <p:cNvSpPr/>
            <p:nvPr/>
          </p:nvSpPr>
          <p:spPr>
            <a:xfrm>
              <a:off x="0" y="0"/>
              <a:ext cx="2476500" cy="110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1" name="Görüntüleme, sepete ekleme, sipariş, ürün bilgisi ve yorumlar ayrı tablolardan kontrollü biçimde birleştirilir."/>
            <p:cNvSpPr txBox="1"/>
            <p:nvPr/>
          </p:nvSpPr>
          <p:spPr>
            <a:xfrm>
              <a:off x="0" y="-1"/>
              <a:ext cx="2476500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Görüntüleme, sepete ekleme, sipariş, ürün bilgisi ve yorumlar ayrı tablolardan kontrollü biçimde birleştirilir.</a:t>
              </a:r>
            </a:p>
          </p:txBody>
        </p:sp>
      </p:grpSp>
      <p:grpSp>
        <p:nvGrpSpPr>
          <p:cNvPr id="145" name="Grupla"/>
          <p:cNvGrpSpPr/>
          <p:nvPr/>
        </p:nvGrpSpPr>
        <p:grpSpPr>
          <a:xfrm>
            <a:off x="9144000" y="2381249"/>
            <a:ext cx="1905000" cy="266701"/>
            <a:chOff x="0" y="0"/>
            <a:chExt cx="1905000" cy="266700"/>
          </a:xfrm>
        </p:grpSpPr>
        <p:sp>
          <p:nvSpPr>
            <p:cNvPr id="143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4" name="Proje Çıktısı"/>
            <p:cNvSpPr txBox="1"/>
            <p:nvPr/>
          </p:nvSpPr>
          <p:spPr>
            <a:xfrm>
              <a:off x="0" y="-1"/>
              <a:ext cx="190500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Proje Çıktısı</a:t>
              </a:r>
            </a:p>
          </p:txBody>
        </p:sp>
      </p:grpSp>
      <p:grpSp>
        <p:nvGrpSpPr>
          <p:cNvPr id="148" name="Grupla"/>
          <p:cNvGrpSpPr/>
          <p:nvPr/>
        </p:nvGrpSpPr>
        <p:grpSpPr>
          <a:xfrm>
            <a:off x="8667750" y="2905124"/>
            <a:ext cx="2476500" cy="1104901"/>
            <a:chOff x="0" y="0"/>
            <a:chExt cx="2476500" cy="1104900"/>
          </a:xfrm>
        </p:grpSpPr>
        <p:sp>
          <p:nvSpPr>
            <p:cNvPr id="146" name="Dikdörtgen"/>
            <p:cNvSpPr/>
            <p:nvPr/>
          </p:nvSpPr>
          <p:spPr>
            <a:xfrm>
              <a:off x="0" y="0"/>
              <a:ext cx="2476500" cy="110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7" name="Dashboard seçilen müşteri için satın alma olasılığı yüksek ürünleri listeler ve model sonuçlarını açıklanabilir grafiklerle gösterir."/>
            <p:cNvSpPr txBox="1"/>
            <p:nvPr/>
          </p:nvSpPr>
          <p:spPr>
            <a:xfrm>
              <a:off x="0" y="-1"/>
              <a:ext cx="2476500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Dashboard seçilen müşteri için satın alma olasılığı yüksek ürünleri listeler ve model sonuçlarını açıklanabilir grafiklerle gösterir.</a:t>
              </a:r>
            </a:p>
          </p:txBody>
        </p:sp>
      </p:grpSp>
      <p:sp>
        <p:nvSpPr>
          <p:cNvPr id="149" name="Dikdörtgen"/>
          <p:cNvSpPr/>
          <p:nvPr/>
        </p:nvSpPr>
        <p:spPr>
          <a:xfrm>
            <a:off x="876300" y="5143500"/>
            <a:ext cx="10287000" cy="59055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2" name="Grupla"/>
          <p:cNvGrpSpPr/>
          <p:nvPr/>
        </p:nvGrpSpPr>
        <p:grpSpPr>
          <a:xfrm>
            <a:off x="1028700" y="5257799"/>
            <a:ext cx="9982200" cy="419101"/>
            <a:chOff x="0" y="0"/>
            <a:chExt cx="9982200" cy="419100"/>
          </a:xfrm>
        </p:grpSpPr>
        <p:sp>
          <p:nvSpPr>
            <p:cNvPr id="150" name="Dikdörtgen"/>
            <p:cNvSpPr/>
            <p:nvPr/>
          </p:nvSpPr>
          <p:spPr>
            <a:xfrm>
              <a:off x="0" y="0"/>
              <a:ext cx="99822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1" name="Bu proje bir ürün listeleme çalışması değil, müşteri-ürün düzeyinde satın alma tahmini yapan öneri sistemidir."/>
            <p:cNvSpPr txBox="1"/>
            <p:nvPr/>
          </p:nvSpPr>
          <p:spPr>
            <a:xfrm>
              <a:off x="0" y="-1"/>
              <a:ext cx="99822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3" indent="1371600"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Bu proje bir ürün listeleme çalışması değil, müşteri-ürün düzeyinde satın alma tahmini yapan öneri sistemidir.</a:t>
              </a:r>
            </a:p>
          </p:txBody>
        </p:sp>
      </p:grpSp>
      <p:grpSp>
        <p:nvGrpSpPr>
          <p:cNvPr id="155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53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4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58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56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7" name="02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4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62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3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67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65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6" name="Veri Kaynağı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Veri Kaynağı</a:t>
              </a:r>
            </a:p>
          </p:txBody>
        </p:sp>
      </p:grpSp>
      <p:grpSp>
        <p:nvGrpSpPr>
          <p:cNvPr id="170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68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69" name="Veri seti: E-commerce Transactions + Clickstream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Veri seti: E-commerce Transactions + Clickstream</a:t>
              </a:r>
            </a:p>
          </p:txBody>
        </p:sp>
      </p:grpSp>
      <p:grpSp>
        <p:nvGrpSpPr>
          <p:cNvPr id="173" name="Grupla"/>
          <p:cNvGrpSpPr/>
          <p:nvPr/>
        </p:nvGrpSpPr>
        <p:grpSpPr>
          <a:xfrm>
            <a:off x="604837" y="1550987"/>
            <a:ext cx="9429751" cy="457202"/>
            <a:chOff x="0" y="0"/>
            <a:chExt cx="9429750" cy="457201"/>
          </a:xfrm>
        </p:grpSpPr>
        <p:sp>
          <p:nvSpPr>
            <p:cNvPr id="171" name="Dikdörtgen"/>
            <p:cNvSpPr/>
            <p:nvPr/>
          </p:nvSpPr>
          <p:spPr>
            <a:xfrm>
              <a:off x="0" y="-1"/>
              <a:ext cx="9429751" cy="45720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2" name="Kaynak Kaggle’dır. Veri sentetiktir; ancak eğitim projesi için gerekli e-ticaret tablolarını birlikte içerir."/>
            <p:cNvSpPr txBox="1"/>
            <p:nvPr/>
          </p:nvSpPr>
          <p:spPr>
            <a:xfrm>
              <a:off x="0" y="0"/>
              <a:ext cx="942975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Kaynak Kaggle’dır. Veri sentetiktir; ancak eğitim projesi için gerekli e-ticaret tablolarını birlikte içerir.</a:t>
              </a:r>
            </a:p>
          </p:txBody>
        </p:sp>
      </p:grpSp>
      <p:sp>
        <p:nvSpPr>
          <p:cNvPr id="174" name="Dikdörtgen"/>
          <p:cNvSpPr/>
          <p:nvPr/>
        </p:nvSpPr>
        <p:spPr>
          <a:xfrm>
            <a:off x="666750" y="2057400"/>
            <a:ext cx="9382125" cy="32004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Dikdörtgen"/>
          <p:cNvSpPr/>
          <p:nvPr/>
        </p:nvSpPr>
        <p:spPr>
          <a:xfrm>
            <a:off x="628650" y="2000250"/>
            <a:ext cx="9382125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Dikdörtgen"/>
          <p:cNvSpPr/>
          <p:nvPr/>
        </p:nvSpPr>
        <p:spPr>
          <a:xfrm>
            <a:off x="628650" y="2000250"/>
            <a:ext cx="9382125" cy="400050"/>
          </a:xfrm>
          <a:prstGeom prst="rect">
            <a:avLst/>
          </a:prstGeom>
          <a:solidFill>
            <a:srgbClr val="EEF3F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79" name="Grupla"/>
          <p:cNvGrpSpPr/>
          <p:nvPr/>
        </p:nvGrpSpPr>
        <p:grpSpPr>
          <a:xfrm>
            <a:off x="723900" y="2085974"/>
            <a:ext cx="1257300" cy="323851"/>
            <a:chOff x="0" y="0"/>
            <a:chExt cx="1257300" cy="323850"/>
          </a:xfrm>
        </p:grpSpPr>
        <p:sp>
          <p:nvSpPr>
            <p:cNvPr id="177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8" name="Tablo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Tablo</a:t>
              </a:r>
            </a:p>
          </p:txBody>
        </p:sp>
      </p:grpSp>
      <p:sp>
        <p:nvSpPr>
          <p:cNvPr id="180" name="Dikdörtgen"/>
          <p:cNvSpPr/>
          <p:nvPr/>
        </p:nvSpPr>
        <p:spPr>
          <a:xfrm>
            <a:off x="2055811" y="20002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83" name="Grupla"/>
          <p:cNvGrpSpPr/>
          <p:nvPr/>
        </p:nvGrpSpPr>
        <p:grpSpPr>
          <a:xfrm>
            <a:off x="2152650" y="2085974"/>
            <a:ext cx="828675" cy="323851"/>
            <a:chOff x="0" y="0"/>
            <a:chExt cx="828675" cy="323850"/>
          </a:xfrm>
        </p:grpSpPr>
        <p:sp>
          <p:nvSpPr>
            <p:cNvPr id="181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2" name="Satır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Satır</a:t>
              </a:r>
            </a:p>
          </p:txBody>
        </p:sp>
      </p:grpSp>
      <p:sp>
        <p:nvSpPr>
          <p:cNvPr id="184" name="Dikdörtgen"/>
          <p:cNvSpPr/>
          <p:nvPr/>
        </p:nvSpPr>
        <p:spPr>
          <a:xfrm>
            <a:off x="3055936" y="20002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87" name="Grupla"/>
          <p:cNvGrpSpPr/>
          <p:nvPr/>
        </p:nvGrpSpPr>
        <p:grpSpPr>
          <a:xfrm>
            <a:off x="3152775" y="2085974"/>
            <a:ext cx="1828800" cy="323851"/>
            <a:chOff x="0" y="0"/>
            <a:chExt cx="1828800" cy="323850"/>
          </a:xfrm>
        </p:grpSpPr>
        <p:sp>
          <p:nvSpPr>
            <p:cNvPr id="185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6" name="Anahtar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Anahtar</a:t>
              </a:r>
            </a:p>
          </p:txBody>
        </p:sp>
      </p:grpSp>
      <p:sp>
        <p:nvSpPr>
          <p:cNvPr id="188" name="Dikdörtgen"/>
          <p:cNvSpPr/>
          <p:nvPr/>
        </p:nvSpPr>
        <p:spPr>
          <a:xfrm>
            <a:off x="5056187" y="20002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91" name="Grupla"/>
          <p:cNvGrpSpPr/>
          <p:nvPr/>
        </p:nvGrpSpPr>
        <p:grpSpPr>
          <a:xfrm>
            <a:off x="5153025" y="2085974"/>
            <a:ext cx="4781550" cy="323851"/>
            <a:chOff x="0" y="0"/>
            <a:chExt cx="4781550" cy="323850"/>
          </a:xfrm>
        </p:grpSpPr>
        <p:sp>
          <p:nvSpPr>
            <p:cNvPr id="189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0" name="Projede Kullanımı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Projede Kullanımı</a:t>
              </a:r>
            </a:p>
          </p:txBody>
        </p:sp>
      </p:grpSp>
      <p:grpSp>
        <p:nvGrpSpPr>
          <p:cNvPr id="194" name="Grupla"/>
          <p:cNvGrpSpPr/>
          <p:nvPr/>
        </p:nvGrpSpPr>
        <p:grpSpPr>
          <a:xfrm>
            <a:off x="723900" y="2486024"/>
            <a:ext cx="1257300" cy="323851"/>
            <a:chOff x="0" y="0"/>
            <a:chExt cx="1257300" cy="323850"/>
          </a:xfrm>
        </p:grpSpPr>
        <p:sp>
          <p:nvSpPr>
            <p:cNvPr id="192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3" name="events.csv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events.csv</a:t>
              </a:r>
            </a:p>
          </p:txBody>
        </p:sp>
      </p:grpSp>
      <p:sp>
        <p:nvSpPr>
          <p:cNvPr id="195" name="Dikdörtgen"/>
          <p:cNvSpPr/>
          <p:nvPr/>
        </p:nvSpPr>
        <p:spPr>
          <a:xfrm>
            <a:off x="2055811" y="24003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98" name="Grupla"/>
          <p:cNvGrpSpPr/>
          <p:nvPr/>
        </p:nvGrpSpPr>
        <p:grpSpPr>
          <a:xfrm>
            <a:off x="2152650" y="2486024"/>
            <a:ext cx="828675" cy="323851"/>
            <a:chOff x="0" y="0"/>
            <a:chExt cx="828675" cy="323850"/>
          </a:xfrm>
        </p:grpSpPr>
        <p:sp>
          <p:nvSpPr>
            <p:cNvPr id="196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7" name="760.958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760.958</a:t>
              </a:r>
            </a:p>
          </p:txBody>
        </p:sp>
      </p:grpSp>
      <p:sp>
        <p:nvSpPr>
          <p:cNvPr id="199" name="Dikdörtgen"/>
          <p:cNvSpPr/>
          <p:nvPr/>
        </p:nvSpPr>
        <p:spPr>
          <a:xfrm>
            <a:off x="3055936" y="24003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02" name="Grupla"/>
          <p:cNvGrpSpPr/>
          <p:nvPr/>
        </p:nvGrpSpPr>
        <p:grpSpPr>
          <a:xfrm>
            <a:off x="3152775" y="2486024"/>
            <a:ext cx="1828800" cy="323851"/>
            <a:chOff x="0" y="0"/>
            <a:chExt cx="1828800" cy="323850"/>
          </a:xfrm>
        </p:grpSpPr>
        <p:sp>
          <p:nvSpPr>
            <p:cNvPr id="200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1" name="session_id, product_id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session_id, product_id</a:t>
              </a:r>
            </a:p>
          </p:txBody>
        </p:sp>
      </p:grpSp>
      <p:sp>
        <p:nvSpPr>
          <p:cNvPr id="203" name="Dikdörtgen"/>
          <p:cNvSpPr/>
          <p:nvPr/>
        </p:nvSpPr>
        <p:spPr>
          <a:xfrm>
            <a:off x="5056187" y="24003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06" name="Grupla"/>
          <p:cNvGrpSpPr/>
          <p:nvPr/>
        </p:nvGrpSpPr>
        <p:grpSpPr>
          <a:xfrm>
            <a:off x="5153025" y="2486024"/>
            <a:ext cx="4781550" cy="323851"/>
            <a:chOff x="0" y="0"/>
            <a:chExt cx="4781550" cy="323850"/>
          </a:xfrm>
        </p:grpSpPr>
        <p:sp>
          <p:nvSpPr>
            <p:cNvPr id="204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5" name="Görüntüleme ve sepete ekleme davranışı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Görüntüleme ve sepete ekleme davranışı</a:t>
              </a:r>
            </a:p>
          </p:txBody>
        </p:sp>
      </p:grpSp>
      <p:sp>
        <p:nvSpPr>
          <p:cNvPr id="207" name="Dikdörtgen"/>
          <p:cNvSpPr/>
          <p:nvPr/>
        </p:nvSpPr>
        <p:spPr>
          <a:xfrm>
            <a:off x="628650" y="2398711"/>
            <a:ext cx="938212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10" name="Grupla"/>
          <p:cNvGrpSpPr/>
          <p:nvPr/>
        </p:nvGrpSpPr>
        <p:grpSpPr>
          <a:xfrm>
            <a:off x="723900" y="2886074"/>
            <a:ext cx="1257300" cy="323851"/>
            <a:chOff x="0" y="0"/>
            <a:chExt cx="1257300" cy="323850"/>
          </a:xfrm>
        </p:grpSpPr>
        <p:sp>
          <p:nvSpPr>
            <p:cNvPr id="208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9" name="sessions.csv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sessions.csv</a:t>
              </a:r>
            </a:p>
          </p:txBody>
        </p:sp>
      </p:grpSp>
      <p:sp>
        <p:nvSpPr>
          <p:cNvPr id="211" name="Dikdörtgen"/>
          <p:cNvSpPr/>
          <p:nvPr/>
        </p:nvSpPr>
        <p:spPr>
          <a:xfrm>
            <a:off x="2055811" y="28003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14" name="Grupla"/>
          <p:cNvGrpSpPr/>
          <p:nvPr/>
        </p:nvGrpSpPr>
        <p:grpSpPr>
          <a:xfrm>
            <a:off x="2152650" y="2886074"/>
            <a:ext cx="828675" cy="323851"/>
            <a:chOff x="0" y="0"/>
            <a:chExt cx="828675" cy="323850"/>
          </a:xfrm>
        </p:grpSpPr>
        <p:sp>
          <p:nvSpPr>
            <p:cNvPr id="212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3" name="120.000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120.000</a:t>
              </a:r>
            </a:p>
          </p:txBody>
        </p:sp>
      </p:grpSp>
      <p:sp>
        <p:nvSpPr>
          <p:cNvPr id="215" name="Dikdörtgen"/>
          <p:cNvSpPr/>
          <p:nvPr/>
        </p:nvSpPr>
        <p:spPr>
          <a:xfrm>
            <a:off x="3055936" y="28003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18" name="Grupla"/>
          <p:cNvGrpSpPr/>
          <p:nvPr/>
        </p:nvGrpSpPr>
        <p:grpSpPr>
          <a:xfrm>
            <a:off x="3152775" y="2886074"/>
            <a:ext cx="1828800" cy="323851"/>
            <a:chOff x="0" y="0"/>
            <a:chExt cx="1828800" cy="323850"/>
          </a:xfrm>
        </p:grpSpPr>
        <p:sp>
          <p:nvSpPr>
            <p:cNvPr id="216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7" name="session_id, customer_id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session_id, customer_id</a:t>
              </a:r>
            </a:p>
          </p:txBody>
        </p:sp>
      </p:grpSp>
      <p:sp>
        <p:nvSpPr>
          <p:cNvPr id="219" name="Dikdörtgen"/>
          <p:cNvSpPr/>
          <p:nvPr/>
        </p:nvSpPr>
        <p:spPr>
          <a:xfrm>
            <a:off x="5056187" y="28003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22" name="Grupla"/>
          <p:cNvGrpSpPr/>
          <p:nvPr/>
        </p:nvGrpSpPr>
        <p:grpSpPr>
          <a:xfrm>
            <a:off x="5153025" y="2886074"/>
            <a:ext cx="4781550" cy="323851"/>
            <a:chOff x="0" y="0"/>
            <a:chExt cx="4781550" cy="323850"/>
          </a:xfrm>
        </p:grpSpPr>
        <p:sp>
          <p:nvSpPr>
            <p:cNvPr id="220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1" name="Eventleri müşteriye bağlama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Eventleri müşteriye bağlama</a:t>
              </a:r>
            </a:p>
          </p:txBody>
        </p:sp>
      </p:grpSp>
      <p:sp>
        <p:nvSpPr>
          <p:cNvPr id="223" name="Dikdörtgen"/>
          <p:cNvSpPr/>
          <p:nvPr/>
        </p:nvSpPr>
        <p:spPr>
          <a:xfrm>
            <a:off x="628650" y="2798761"/>
            <a:ext cx="938212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26" name="Grupla"/>
          <p:cNvGrpSpPr/>
          <p:nvPr/>
        </p:nvGrpSpPr>
        <p:grpSpPr>
          <a:xfrm>
            <a:off x="723900" y="3286124"/>
            <a:ext cx="1257300" cy="323851"/>
            <a:chOff x="0" y="0"/>
            <a:chExt cx="1257300" cy="323850"/>
          </a:xfrm>
        </p:grpSpPr>
        <p:sp>
          <p:nvSpPr>
            <p:cNvPr id="224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5" name="customers.csv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customers.csv</a:t>
              </a:r>
            </a:p>
          </p:txBody>
        </p:sp>
      </p:grpSp>
      <p:sp>
        <p:nvSpPr>
          <p:cNvPr id="227" name="Dikdörtgen"/>
          <p:cNvSpPr/>
          <p:nvPr/>
        </p:nvSpPr>
        <p:spPr>
          <a:xfrm>
            <a:off x="2055811" y="32004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30" name="Grupla"/>
          <p:cNvGrpSpPr/>
          <p:nvPr/>
        </p:nvGrpSpPr>
        <p:grpSpPr>
          <a:xfrm>
            <a:off x="2152650" y="3286124"/>
            <a:ext cx="828675" cy="323851"/>
            <a:chOff x="0" y="0"/>
            <a:chExt cx="828675" cy="323850"/>
          </a:xfrm>
        </p:grpSpPr>
        <p:sp>
          <p:nvSpPr>
            <p:cNvPr id="228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9" name="20.000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20.000</a:t>
              </a:r>
            </a:p>
          </p:txBody>
        </p:sp>
      </p:grpSp>
      <p:sp>
        <p:nvSpPr>
          <p:cNvPr id="231" name="Dikdörtgen"/>
          <p:cNvSpPr/>
          <p:nvPr/>
        </p:nvSpPr>
        <p:spPr>
          <a:xfrm>
            <a:off x="3055936" y="32004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34" name="Grupla"/>
          <p:cNvGrpSpPr/>
          <p:nvPr/>
        </p:nvGrpSpPr>
        <p:grpSpPr>
          <a:xfrm>
            <a:off x="3152775" y="3286124"/>
            <a:ext cx="1828800" cy="323851"/>
            <a:chOff x="0" y="0"/>
            <a:chExt cx="1828800" cy="323850"/>
          </a:xfrm>
        </p:grpSpPr>
        <p:sp>
          <p:nvSpPr>
            <p:cNvPr id="232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3" name="customer_id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customer_id</a:t>
              </a:r>
            </a:p>
          </p:txBody>
        </p:sp>
      </p:grpSp>
      <p:sp>
        <p:nvSpPr>
          <p:cNvPr id="235" name="Dikdörtgen"/>
          <p:cNvSpPr/>
          <p:nvPr/>
        </p:nvSpPr>
        <p:spPr>
          <a:xfrm>
            <a:off x="5056187" y="32004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38" name="Grupla"/>
          <p:cNvGrpSpPr/>
          <p:nvPr/>
        </p:nvGrpSpPr>
        <p:grpSpPr>
          <a:xfrm>
            <a:off x="5153025" y="3286124"/>
            <a:ext cx="4781550" cy="323851"/>
            <a:chOff x="0" y="0"/>
            <a:chExt cx="4781550" cy="323850"/>
          </a:xfrm>
        </p:grpSpPr>
        <p:sp>
          <p:nvSpPr>
            <p:cNvPr id="236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7" name="Müşteri profili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Müşteri profili</a:t>
              </a:r>
            </a:p>
          </p:txBody>
        </p:sp>
      </p:grpSp>
      <p:sp>
        <p:nvSpPr>
          <p:cNvPr id="239" name="Dikdörtgen"/>
          <p:cNvSpPr/>
          <p:nvPr/>
        </p:nvSpPr>
        <p:spPr>
          <a:xfrm>
            <a:off x="628650" y="3198811"/>
            <a:ext cx="938212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42" name="Grupla"/>
          <p:cNvGrpSpPr/>
          <p:nvPr/>
        </p:nvGrpSpPr>
        <p:grpSpPr>
          <a:xfrm>
            <a:off x="723900" y="3686174"/>
            <a:ext cx="1257300" cy="323851"/>
            <a:chOff x="0" y="0"/>
            <a:chExt cx="1257300" cy="323850"/>
          </a:xfrm>
        </p:grpSpPr>
        <p:sp>
          <p:nvSpPr>
            <p:cNvPr id="240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1" name="orders.csv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orders.csv</a:t>
              </a:r>
            </a:p>
          </p:txBody>
        </p:sp>
      </p:grpSp>
      <p:sp>
        <p:nvSpPr>
          <p:cNvPr id="243" name="Dikdörtgen"/>
          <p:cNvSpPr/>
          <p:nvPr/>
        </p:nvSpPr>
        <p:spPr>
          <a:xfrm>
            <a:off x="2055811" y="36004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46" name="Grupla"/>
          <p:cNvGrpSpPr/>
          <p:nvPr/>
        </p:nvGrpSpPr>
        <p:grpSpPr>
          <a:xfrm>
            <a:off x="2152650" y="3686174"/>
            <a:ext cx="828675" cy="323851"/>
            <a:chOff x="0" y="0"/>
            <a:chExt cx="828675" cy="323850"/>
          </a:xfrm>
        </p:grpSpPr>
        <p:sp>
          <p:nvSpPr>
            <p:cNvPr id="244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5" name="33.580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33.580</a:t>
              </a:r>
            </a:p>
          </p:txBody>
        </p:sp>
      </p:grpSp>
      <p:sp>
        <p:nvSpPr>
          <p:cNvPr id="247" name="Dikdörtgen"/>
          <p:cNvSpPr/>
          <p:nvPr/>
        </p:nvSpPr>
        <p:spPr>
          <a:xfrm>
            <a:off x="3055936" y="36004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50" name="Grupla"/>
          <p:cNvGrpSpPr/>
          <p:nvPr/>
        </p:nvGrpSpPr>
        <p:grpSpPr>
          <a:xfrm>
            <a:off x="3152775" y="3686174"/>
            <a:ext cx="1828800" cy="323851"/>
            <a:chOff x="0" y="0"/>
            <a:chExt cx="1828800" cy="323850"/>
          </a:xfrm>
        </p:grpSpPr>
        <p:sp>
          <p:nvSpPr>
            <p:cNvPr id="248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9" name="order_id, customer_id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order_id, customer_id</a:t>
              </a:r>
            </a:p>
          </p:txBody>
        </p:sp>
      </p:grpSp>
      <p:sp>
        <p:nvSpPr>
          <p:cNvPr id="251" name="Dikdörtgen"/>
          <p:cNvSpPr/>
          <p:nvPr/>
        </p:nvSpPr>
        <p:spPr>
          <a:xfrm>
            <a:off x="5056187" y="36004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54" name="Grupla"/>
          <p:cNvGrpSpPr/>
          <p:nvPr/>
        </p:nvGrpSpPr>
        <p:grpSpPr>
          <a:xfrm>
            <a:off x="5153025" y="3686174"/>
            <a:ext cx="4781550" cy="323851"/>
            <a:chOff x="0" y="0"/>
            <a:chExt cx="4781550" cy="323850"/>
          </a:xfrm>
        </p:grpSpPr>
        <p:sp>
          <p:nvSpPr>
            <p:cNvPr id="252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3" name="Sipariş zamanı ve müşteri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Sipariş zamanı ve müşteri</a:t>
              </a:r>
            </a:p>
          </p:txBody>
        </p:sp>
      </p:grpSp>
      <p:sp>
        <p:nvSpPr>
          <p:cNvPr id="255" name="Dikdörtgen"/>
          <p:cNvSpPr/>
          <p:nvPr/>
        </p:nvSpPr>
        <p:spPr>
          <a:xfrm>
            <a:off x="628650" y="3598862"/>
            <a:ext cx="938212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58" name="Grupla"/>
          <p:cNvGrpSpPr/>
          <p:nvPr/>
        </p:nvGrpSpPr>
        <p:grpSpPr>
          <a:xfrm>
            <a:off x="723900" y="4086224"/>
            <a:ext cx="1257300" cy="323851"/>
            <a:chOff x="0" y="0"/>
            <a:chExt cx="1257300" cy="323850"/>
          </a:xfrm>
        </p:grpSpPr>
        <p:sp>
          <p:nvSpPr>
            <p:cNvPr id="256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7" name="order_items.csv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order_items.csv</a:t>
              </a:r>
            </a:p>
          </p:txBody>
        </p:sp>
      </p:grpSp>
      <p:sp>
        <p:nvSpPr>
          <p:cNvPr id="259" name="Dikdörtgen"/>
          <p:cNvSpPr/>
          <p:nvPr/>
        </p:nvSpPr>
        <p:spPr>
          <a:xfrm>
            <a:off x="2055811" y="40005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62" name="Grupla"/>
          <p:cNvGrpSpPr/>
          <p:nvPr/>
        </p:nvGrpSpPr>
        <p:grpSpPr>
          <a:xfrm>
            <a:off x="2152650" y="4086224"/>
            <a:ext cx="828675" cy="323851"/>
            <a:chOff x="0" y="0"/>
            <a:chExt cx="828675" cy="323850"/>
          </a:xfrm>
        </p:grpSpPr>
        <p:sp>
          <p:nvSpPr>
            <p:cNvPr id="260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1" name="59.163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59.163</a:t>
              </a:r>
            </a:p>
          </p:txBody>
        </p:sp>
      </p:grpSp>
      <p:sp>
        <p:nvSpPr>
          <p:cNvPr id="263" name="Dikdörtgen"/>
          <p:cNvSpPr/>
          <p:nvPr/>
        </p:nvSpPr>
        <p:spPr>
          <a:xfrm>
            <a:off x="3055936" y="40005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66" name="Grupla"/>
          <p:cNvGrpSpPr/>
          <p:nvPr/>
        </p:nvGrpSpPr>
        <p:grpSpPr>
          <a:xfrm>
            <a:off x="3152775" y="4086224"/>
            <a:ext cx="1828800" cy="323851"/>
            <a:chOff x="0" y="0"/>
            <a:chExt cx="1828800" cy="323850"/>
          </a:xfrm>
        </p:grpSpPr>
        <p:sp>
          <p:nvSpPr>
            <p:cNvPr id="264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5" name="order_id, product_id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order_id, product_id</a:t>
              </a:r>
            </a:p>
          </p:txBody>
        </p:sp>
      </p:grpSp>
      <p:sp>
        <p:nvSpPr>
          <p:cNvPr id="267" name="Dikdörtgen"/>
          <p:cNvSpPr/>
          <p:nvPr/>
        </p:nvSpPr>
        <p:spPr>
          <a:xfrm>
            <a:off x="5056187" y="40005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70" name="Grupla"/>
          <p:cNvGrpSpPr/>
          <p:nvPr/>
        </p:nvGrpSpPr>
        <p:grpSpPr>
          <a:xfrm>
            <a:off x="5153025" y="4086224"/>
            <a:ext cx="4781550" cy="323851"/>
            <a:chOff x="0" y="0"/>
            <a:chExt cx="4781550" cy="323850"/>
          </a:xfrm>
        </p:grpSpPr>
        <p:sp>
          <p:nvSpPr>
            <p:cNvPr id="268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9" name="Satış adedi ve gelir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Satış adedi ve gelir</a:t>
              </a:r>
            </a:p>
          </p:txBody>
        </p:sp>
      </p:grpSp>
      <p:sp>
        <p:nvSpPr>
          <p:cNvPr id="271" name="Dikdörtgen"/>
          <p:cNvSpPr/>
          <p:nvPr/>
        </p:nvSpPr>
        <p:spPr>
          <a:xfrm>
            <a:off x="628650" y="3998912"/>
            <a:ext cx="938212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74" name="Grupla"/>
          <p:cNvGrpSpPr/>
          <p:nvPr/>
        </p:nvGrpSpPr>
        <p:grpSpPr>
          <a:xfrm>
            <a:off x="723900" y="4486274"/>
            <a:ext cx="1257300" cy="323851"/>
            <a:chOff x="0" y="0"/>
            <a:chExt cx="1257300" cy="323850"/>
          </a:xfrm>
        </p:grpSpPr>
        <p:sp>
          <p:nvSpPr>
            <p:cNvPr id="272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3" name="products.csv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products.csv</a:t>
              </a:r>
            </a:p>
          </p:txBody>
        </p:sp>
      </p:grpSp>
      <p:sp>
        <p:nvSpPr>
          <p:cNvPr id="275" name="Dikdörtgen"/>
          <p:cNvSpPr/>
          <p:nvPr/>
        </p:nvSpPr>
        <p:spPr>
          <a:xfrm>
            <a:off x="2055811" y="44005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78" name="Grupla"/>
          <p:cNvGrpSpPr/>
          <p:nvPr/>
        </p:nvGrpSpPr>
        <p:grpSpPr>
          <a:xfrm>
            <a:off x="2152650" y="4486274"/>
            <a:ext cx="828675" cy="323851"/>
            <a:chOff x="0" y="0"/>
            <a:chExt cx="828675" cy="323850"/>
          </a:xfrm>
        </p:grpSpPr>
        <p:sp>
          <p:nvSpPr>
            <p:cNvPr id="276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7" name="1.197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1.197</a:t>
              </a:r>
            </a:p>
          </p:txBody>
        </p:sp>
      </p:grpSp>
      <p:sp>
        <p:nvSpPr>
          <p:cNvPr id="279" name="Dikdörtgen"/>
          <p:cNvSpPr/>
          <p:nvPr/>
        </p:nvSpPr>
        <p:spPr>
          <a:xfrm>
            <a:off x="3055936" y="44005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82" name="Grupla"/>
          <p:cNvGrpSpPr/>
          <p:nvPr/>
        </p:nvGrpSpPr>
        <p:grpSpPr>
          <a:xfrm>
            <a:off x="3152775" y="4486274"/>
            <a:ext cx="1828800" cy="323851"/>
            <a:chOff x="0" y="0"/>
            <a:chExt cx="1828800" cy="323850"/>
          </a:xfrm>
        </p:grpSpPr>
        <p:sp>
          <p:nvSpPr>
            <p:cNvPr id="280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1" name="product_id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product_id</a:t>
              </a:r>
            </a:p>
          </p:txBody>
        </p:sp>
      </p:grpSp>
      <p:sp>
        <p:nvSpPr>
          <p:cNvPr id="283" name="Dikdörtgen"/>
          <p:cNvSpPr/>
          <p:nvPr/>
        </p:nvSpPr>
        <p:spPr>
          <a:xfrm>
            <a:off x="5056187" y="440055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86" name="Grupla"/>
          <p:cNvGrpSpPr/>
          <p:nvPr/>
        </p:nvGrpSpPr>
        <p:grpSpPr>
          <a:xfrm>
            <a:off x="5153025" y="4486274"/>
            <a:ext cx="4781550" cy="323851"/>
            <a:chOff x="0" y="0"/>
            <a:chExt cx="4781550" cy="323850"/>
          </a:xfrm>
        </p:grpSpPr>
        <p:sp>
          <p:nvSpPr>
            <p:cNvPr id="284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5" name="Ürün kategorisi, fiyat, marj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kategorisi, fiyat, marj</a:t>
              </a:r>
            </a:p>
          </p:txBody>
        </p:sp>
      </p:grpSp>
      <p:sp>
        <p:nvSpPr>
          <p:cNvPr id="287" name="Dikdörtgen"/>
          <p:cNvSpPr/>
          <p:nvPr/>
        </p:nvSpPr>
        <p:spPr>
          <a:xfrm>
            <a:off x="628650" y="4398962"/>
            <a:ext cx="938212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90" name="Grupla"/>
          <p:cNvGrpSpPr/>
          <p:nvPr/>
        </p:nvGrpSpPr>
        <p:grpSpPr>
          <a:xfrm>
            <a:off x="723900" y="4886324"/>
            <a:ext cx="1257300" cy="323851"/>
            <a:chOff x="0" y="0"/>
            <a:chExt cx="1257300" cy="323850"/>
          </a:xfrm>
        </p:grpSpPr>
        <p:sp>
          <p:nvSpPr>
            <p:cNvPr id="288" name="Dikdörtgen"/>
            <p:cNvSpPr/>
            <p:nvPr/>
          </p:nvSpPr>
          <p:spPr>
            <a:xfrm>
              <a:off x="0" y="0"/>
              <a:ext cx="12573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9" name="reviews.csv"/>
            <p:cNvSpPr txBox="1"/>
            <p:nvPr/>
          </p:nvSpPr>
          <p:spPr>
            <a:xfrm>
              <a:off x="0" y="-1"/>
              <a:ext cx="1257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reviews.csv</a:t>
              </a:r>
            </a:p>
          </p:txBody>
        </p:sp>
      </p:grpSp>
      <p:sp>
        <p:nvSpPr>
          <p:cNvPr id="291" name="Dikdörtgen"/>
          <p:cNvSpPr/>
          <p:nvPr/>
        </p:nvSpPr>
        <p:spPr>
          <a:xfrm>
            <a:off x="2055811" y="48006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94" name="Grupla"/>
          <p:cNvGrpSpPr/>
          <p:nvPr/>
        </p:nvGrpSpPr>
        <p:grpSpPr>
          <a:xfrm>
            <a:off x="2152650" y="4886324"/>
            <a:ext cx="828675" cy="323851"/>
            <a:chOff x="0" y="0"/>
            <a:chExt cx="828675" cy="323850"/>
          </a:xfrm>
        </p:grpSpPr>
        <p:sp>
          <p:nvSpPr>
            <p:cNvPr id="292" name="Dikdörtgen"/>
            <p:cNvSpPr/>
            <p:nvPr/>
          </p:nvSpPr>
          <p:spPr>
            <a:xfrm>
              <a:off x="0" y="0"/>
              <a:ext cx="828675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3" name="10.780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10.780</a:t>
              </a:r>
            </a:p>
          </p:txBody>
        </p:sp>
      </p:grpSp>
      <p:sp>
        <p:nvSpPr>
          <p:cNvPr id="295" name="Dikdörtgen"/>
          <p:cNvSpPr/>
          <p:nvPr/>
        </p:nvSpPr>
        <p:spPr>
          <a:xfrm>
            <a:off x="3055936" y="48006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98" name="Grupla"/>
          <p:cNvGrpSpPr/>
          <p:nvPr/>
        </p:nvGrpSpPr>
        <p:grpSpPr>
          <a:xfrm>
            <a:off x="3152775" y="4886324"/>
            <a:ext cx="1828800" cy="323851"/>
            <a:chOff x="0" y="0"/>
            <a:chExt cx="1828800" cy="323850"/>
          </a:xfrm>
        </p:grpSpPr>
        <p:sp>
          <p:nvSpPr>
            <p:cNvPr id="296" name="Dikdörtgen"/>
            <p:cNvSpPr/>
            <p:nvPr/>
          </p:nvSpPr>
          <p:spPr>
            <a:xfrm>
              <a:off x="0" y="0"/>
              <a:ext cx="18288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7" name="product_id"/>
            <p:cNvSpPr txBox="1"/>
            <p:nvPr/>
          </p:nvSpPr>
          <p:spPr>
            <a:xfrm>
              <a:off x="0" y="-1"/>
              <a:ext cx="18288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product_id</a:t>
              </a:r>
            </a:p>
          </p:txBody>
        </p:sp>
      </p:grpSp>
      <p:sp>
        <p:nvSpPr>
          <p:cNvPr id="299" name="Dikdörtgen"/>
          <p:cNvSpPr/>
          <p:nvPr/>
        </p:nvSpPr>
        <p:spPr>
          <a:xfrm>
            <a:off x="5056187" y="4800600"/>
            <a:ext cx="12702" cy="4000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02" name="Grupla"/>
          <p:cNvGrpSpPr/>
          <p:nvPr/>
        </p:nvGrpSpPr>
        <p:grpSpPr>
          <a:xfrm>
            <a:off x="5153025" y="4886324"/>
            <a:ext cx="4781550" cy="323851"/>
            <a:chOff x="0" y="0"/>
            <a:chExt cx="4781550" cy="323850"/>
          </a:xfrm>
        </p:grpSpPr>
        <p:sp>
          <p:nvSpPr>
            <p:cNvPr id="300" name="Dikdörtgen"/>
            <p:cNvSpPr/>
            <p:nvPr/>
          </p:nvSpPr>
          <p:spPr>
            <a:xfrm>
              <a:off x="0" y="0"/>
              <a:ext cx="47815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01" name="Yorum, rating ve duygu analizi"/>
            <p:cNvSpPr txBox="1"/>
            <p:nvPr/>
          </p:nvSpPr>
          <p:spPr>
            <a:xfrm>
              <a:off x="0" y="-1"/>
              <a:ext cx="4781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Yorum, rating ve duygu analizi</a:t>
              </a:r>
            </a:p>
          </p:txBody>
        </p:sp>
      </p:grpSp>
      <p:sp>
        <p:nvSpPr>
          <p:cNvPr id="303" name="Dikdörtgen"/>
          <p:cNvSpPr/>
          <p:nvPr/>
        </p:nvSpPr>
        <p:spPr>
          <a:xfrm>
            <a:off x="628650" y="4799012"/>
            <a:ext cx="938212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Dikdörtgen"/>
          <p:cNvSpPr/>
          <p:nvPr/>
        </p:nvSpPr>
        <p:spPr>
          <a:xfrm>
            <a:off x="628650" y="5810250"/>
            <a:ext cx="10287000" cy="45720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07" name="Grupla"/>
          <p:cNvGrpSpPr/>
          <p:nvPr/>
        </p:nvGrpSpPr>
        <p:grpSpPr>
          <a:xfrm>
            <a:off x="781050" y="5924549"/>
            <a:ext cx="9982200" cy="285751"/>
            <a:chOff x="0" y="0"/>
            <a:chExt cx="9982200" cy="285750"/>
          </a:xfrm>
        </p:grpSpPr>
        <p:sp>
          <p:nvSpPr>
            <p:cNvPr id="305" name="Dikdörtgen"/>
            <p:cNvSpPr/>
            <p:nvPr/>
          </p:nvSpPr>
          <p:spPr>
            <a:xfrm>
              <a:off x="0" y="0"/>
              <a:ext cx="99822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4F83F1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06" name="Kaynak: https://www.kaggle.com/datasets/wafaaelhusseini/e-commerce-transactions-clickstream"/>
            <p:cNvSpPr txBox="1"/>
            <p:nvPr/>
          </p:nvSpPr>
          <p:spPr>
            <a:xfrm>
              <a:off x="0" y="-1"/>
              <a:ext cx="99822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4F83F1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Kaynak: https://www.kaggle.com/datasets/wafaaelhusseini/e-commerce-transactions-clickstream</a:t>
              </a:r>
            </a:p>
          </p:txBody>
        </p:sp>
      </p:grpSp>
      <p:grpSp>
        <p:nvGrpSpPr>
          <p:cNvPr id="310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308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09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313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311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2" name="03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6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19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317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8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322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320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21" name="Metodoloji 1/5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Metodoloji 1/5</a:t>
              </a:r>
            </a:p>
          </p:txBody>
        </p:sp>
      </p:grpSp>
      <p:grpSp>
        <p:nvGrpSpPr>
          <p:cNvPr id="325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323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324" name="Tablolar tek seferde değil, iş sorusuna göre birleştirildi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Tablolar tek seferde değil, iş sorusuna göre birleştirildi</a:t>
              </a:r>
            </a:p>
          </p:txBody>
        </p:sp>
      </p:grpSp>
      <p:grpSp>
        <p:nvGrpSpPr>
          <p:cNvPr id="328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326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27" name="Her tablo farklı seviyede veri tutar. Bu yüzden önce ürün analitiği, sonra müşteri-ürün model tablosu oluşturuldu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Her tablo farklı seviyede veri tutar. Bu yüzden önce ürün analitiği, sonra müşteri-ürün model tablosu oluşturuldu.</a:t>
              </a:r>
            </a:p>
          </p:txBody>
        </p:sp>
      </p:grpSp>
      <p:sp>
        <p:nvSpPr>
          <p:cNvPr id="329" name="Dikdörtgen"/>
          <p:cNvSpPr/>
          <p:nvPr/>
        </p:nvSpPr>
        <p:spPr>
          <a:xfrm>
            <a:off x="800100" y="224790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Dikdörtgen"/>
          <p:cNvSpPr/>
          <p:nvPr/>
        </p:nvSpPr>
        <p:spPr>
          <a:xfrm>
            <a:off x="762000" y="219075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Dikdörtgen"/>
          <p:cNvSpPr/>
          <p:nvPr/>
        </p:nvSpPr>
        <p:spPr>
          <a:xfrm>
            <a:off x="762000" y="2190750"/>
            <a:ext cx="57150" cy="81915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34" name="Grupla"/>
          <p:cNvGrpSpPr/>
          <p:nvPr/>
        </p:nvGrpSpPr>
        <p:grpSpPr>
          <a:xfrm>
            <a:off x="952500" y="2428875"/>
            <a:ext cx="1238250" cy="228600"/>
            <a:chOff x="0" y="0"/>
            <a:chExt cx="1238250" cy="228600"/>
          </a:xfrm>
        </p:grpSpPr>
        <p:sp>
          <p:nvSpPr>
            <p:cNvPr id="332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33" name="events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events</a:t>
              </a:r>
            </a:p>
          </p:txBody>
        </p:sp>
      </p:grpSp>
      <p:grpSp>
        <p:nvGrpSpPr>
          <p:cNvPr id="337" name="Grupla"/>
          <p:cNvGrpSpPr/>
          <p:nvPr/>
        </p:nvGrpSpPr>
        <p:grpSpPr>
          <a:xfrm>
            <a:off x="952500" y="2714624"/>
            <a:ext cx="1238250" cy="171451"/>
            <a:chOff x="0" y="0"/>
            <a:chExt cx="1238250" cy="171450"/>
          </a:xfrm>
        </p:grpSpPr>
        <p:sp>
          <p:nvSpPr>
            <p:cNvPr id="335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36" name="session_id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session_id</a:t>
              </a:r>
            </a:p>
          </p:txBody>
        </p:sp>
      </p:grpSp>
      <p:grpSp>
        <p:nvGrpSpPr>
          <p:cNvPr id="340" name="Grupla"/>
          <p:cNvGrpSpPr/>
          <p:nvPr/>
        </p:nvGrpSpPr>
        <p:grpSpPr>
          <a:xfrm>
            <a:off x="2609850" y="2438399"/>
            <a:ext cx="381000" cy="330201"/>
            <a:chOff x="0" y="0"/>
            <a:chExt cx="381000" cy="330200"/>
          </a:xfrm>
        </p:grpSpPr>
        <p:sp>
          <p:nvSpPr>
            <p:cNvPr id="338" name="Dikdörtgen"/>
            <p:cNvSpPr/>
            <p:nvPr/>
          </p:nvSpPr>
          <p:spPr>
            <a:xfrm>
              <a:off x="0" y="-1"/>
              <a:ext cx="381000" cy="2857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39" name="→"/>
            <p:cNvSpPr txBox="1"/>
            <p:nvPr/>
          </p:nvSpPr>
          <p:spPr>
            <a:xfrm>
              <a:off x="0" y="0"/>
              <a:ext cx="38100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341" name="Dikdörtgen"/>
          <p:cNvSpPr/>
          <p:nvPr/>
        </p:nvSpPr>
        <p:spPr>
          <a:xfrm>
            <a:off x="3181350" y="224790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2" name="Dikdörtgen"/>
          <p:cNvSpPr/>
          <p:nvPr/>
        </p:nvSpPr>
        <p:spPr>
          <a:xfrm>
            <a:off x="3143250" y="219075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Dikdörtgen"/>
          <p:cNvSpPr/>
          <p:nvPr/>
        </p:nvSpPr>
        <p:spPr>
          <a:xfrm>
            <a:off x="3143250" y="2190750"/>
            <a:ext cx="57150" cy="81915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46" name="Grupla"/>
          <p:cNvGrpSpPr/>
          <p:nvPr/>
        </p:nvGrpSpPr>
        <p:grpSpPr>
          <a:xfrm>
            <a:off x="3333750" y="2428875"/>
            <a:ext cx="1238250" cy="228600"/>
            <a:chOff x="0" y="0"/>
            <a:chExt cx="1238250" cy="228600"/>
          </a:xfrm>
        </p:grpSpPr>
        <p:sp>
          <p:nvSpPr>
            <p:cNvPr id="344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45" name="sessions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sessions</a:t>
              </a:r>
            </a:p>
          </p:txBody>
        </p:sp>
      </p:grpSp>
      <p:grpSp>
        <p:nvGrpSpPr>
          <p:cNvPr id="349" name="Grupla"/>
          <p:cNvGrpSpPr/>
          <p:nvPr/>
        </p:nvGrpSpPr>
        <p:grpSpPr>
          <a:xfrm>
            <a:off x="3333750" y="2714624"/>
            <a:ext cx="1238250" cy="171451"/>
            <a:chOff x="0" y="0"/>
            <a:chExt cx="1238250" cy="171450"/>
          </a:xfrm>
        </p:grpSpPr>
        <p:sp>
          <p:nvSpPr>
            <p:cNvPr id="347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48" name="customer_id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customer_id</a:t>
              </a:r>
            </a:p>
          </p:txBody>
        </p:sp>
      </p:grpSp>
      <p:grpSp>
        <p:nvGrpSpPr>
          <p:cNvPr id="352" name="Grupla"/>
          <p:cNvGrpSpPr/>
          <p:nvPr/>
        </p:nvGrpSpPr>
        <p:grpSpPr>
          <a:xfrm>
            <a:off x="4991100" y="2438399"/>
            <a:ext cx="381000" cy="330201"/>
            <a:chOff x="0" y="0"/>
            <a:chExt cx="381000" cy="330200"/>
          </a:xfrm>
        </p:grpSpPr>
        <p:sp>
          <p:nvSpPr>
            <p:cNvPr id="350" name="Dikdörtgen"/>
            <p:cNvSpPr/>
            <p:nvPr/>
          </p:nvSpPr>
          <p:spPr>
            <a:xfrm>
              <a:off x="0" y="-1"/>
              <a:ext cx="381000" cy="2857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51" name="→"/>
            <p:cNvSpPr txBox="1"/>
            <p:nvPr/>
          </p:nvSpPr>
          <p:spPr>
            <a:xfrm>
              <a:off x="0" y="0"/>
              <a:ext cx="38100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353" name="Dikdörtgen"/>
          <p:cNvSpPr/>
          <p:nvPr/>
        </p:nvSpPr>
        <p:spPr>
          <a:xfrm>
            <a:off x="5562600" y="224790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4" name="Dikdörtgen"/>
          <p:cNvSpPr/>
          <p:nvPr/>
        </p:nvSpPr>
        <p:spPr>
          <a:xfrm>
            <a:off x="5524500" y="219075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Dikdörtgen"/>
          <p:cNvSpPr/>
          <p:nvPr/>
        </p:nvSpPr>
        <p:spPr>
          <a:xfrm>
            <a:off x="5524500" y="2190750"/>
            <a:ext cx="57150" cy="81915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58" name="Grupla"/>
          <p:cNvGrpSpPr/>
          <p:nvPr/>
        </p:nvGrpSpPr>
        <p:grpSpPr>
          <a:xfrm>
            <a:off x="5715000" y="2428875"/>
            <a:ext cx="1238250" cy="228600"/>
            <a:chOff x="0" y="0"/>
            <a:chExt cx="1238250" cy="228600"/>
          </a:xfrm>
        </p:grpSpPr>
        <p:sp>
          <p:nvSpPr>
            <p:cNvPr id="356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57" name="customers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customers</a:t>
              </a:r>
            </a:p>
          </p:txBody>
        </p:sp>
      </p:grpSp>
      <p:grpSp>
        <p:nvGrpSpPr>
          <p:cNvPr id="361" name="Grupla"/>
          <p:cNvGrpSpPr/>
          <p:nvPr/>
        </p:nvGrpSpPr>
        <p:grpSpPr>
          <a:xfrm>
            <a:off x="5715000" y="2714624"/>
            <a:ext cx="1238250" cy="171451"/>
            <a:chOff x="0" y="0"/>
            <a:chExt cx="1238250" cy="171450"/>
          </a:xfrm>
        </p:grpSpPr>
        <p:sp>
          <p:nvSpPr>
            <p:cNvPr id="359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60" name="profil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profil</a:t>
              </a:r>
            </a:p>
          </p:txBody>
        </p:sp>
      </p:grpSp>
      <p:grpSp>
        <p:nvGrpSpPr>
          <p:cNvPr id="364" name="Grupla"/>
          <p:cNvGrpSpPr/>
          <p:nvPr/>
        </p:nvGrpSpPr>
        <p:grpSpPr>
          <a:xfrm>
            <a:off x="7372350" y="2438399"/>
            <a:ext cx="381000" cy="330201"/>
            <a:chOff x="0" y="0"/>
            <a:chExt cx="381000" cy="330200"/>
          </a:xfrm>
        </p:grpSpPr>
        <p:sp>
          <p:nvSpPr>
            <p:cNvPr id="362" name="Dikdörtgen"/>
            <p:cNvSpPr/>
            <p:nvPr/>
          </p:nvSpPr>
          <p:spPr>
            <a:xfrm>
              <a:off x="0" y="-1"/>
              <a:ext cx="381000" cy="2857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63" name="→"/>
            <p:cNvSpPr txBox="1"/>
            <p:nvPr/>
          </p:nvSpPr>
          <p:spPr>
            <a:xfrm>
              <a:off x="0" y="0"/>
              <a:ext cx="38100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365" name="Dikdörtgen"/>
          <p:cNvSpPr/>
          <p:nvPr/>
        </p:nvSpPr>
        <p:spPr>
          <a:xfrm>
            <a:off x="7943850" y="224790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6" name="Dikdörtgen"/>
          <p:cNvSpPr/>
          <p:nvPr/>
        </p:nvSpPr>
        <p:spPr>
          <a:xfrm>
            <a:off x="7905750" y="219075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7" name="Dikdörtgen"/>
          <p:cNvSpPr/>
          <p:nvPr/>
        </p:nvSpPr>
        <p:spPr>
          <a:xfrm>
            <a:off x="7905750" y="2190750"/>
            <a:ext cx="57150" cy="81915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70" name="Grupla"/>
          <p:cNvGrpSpPr/>
          <p:nvPr/>
        </p:nvGrpSpPr>
        <p:grpSpPr>
          <a:xfrm>
            <a:off x="8096250" y="2428875"/>
            <a:ext cx="1238250" cy="228600"/>
            <a:chOff x="0" y="0"/>
            <a:chExt cx="1238250" cy="228600"/>
          </a:xfrm>
        </p:grpSpPr>
        <p:sp>
          <p:nvSpPr>
            <p:cNvPr id="368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69" name="kişisel sinyal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kişisel sinyal</a:t>
              </a:r>
            </a:p>
          </p:txBody>
        </p:sp>
      </p:grpSp>
      <p:grpSp>
        <p:nvGrpSpPr>
          <p:cNvPr id="373" name="Grupla"/>
          <p:cNvGrpSpPr/>
          <p:nvPr/>
        </p:nvGrpSpPr>
        <p:grpSpPr>
          <a:xfrm>
            <a:off x="8096250" y="2714624"/>
            <a:ext cx="1238250" cy="171451"/>
            <a:chOff x="0" y="0"/>
            <a:chExt cx="1238250" cy="171450"/>
          </a:xfrm>
        </p:grpSpPr>
        <p:sp>
          <p:nvSpPr>
            <p:cNvPr id="371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72" name="davranış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davranış</a:t>
              </a:r>
            </a:p>
          </p:txBody>
        </p:sp>
      </p:grpSp>
      <p:sp>
        <p:nvSpPr>
          <p:cNvPr id="374" name="Dikdörtgen"/>
          <p:cNvSpPr/>
          <p:nvPr/>
        </p:nvSpPr>
        <p:spPr>
          <a:xfrm>
            <a:off x="800100" y="367665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5" name="Dikdörtgen"/>
          <p:cNvSpPr/>
          <p:nvPr/>
        </p:nvSpPr>
        <p:spPr>
          <a:xfrm>
            <a:off x="762000" y="361950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Dikdörtgen"/>
          <p:cNvSpPr/>
          <p:nvPr/>
        </p:nvSpPr>
        <p:spPr>
          <a:xfrm>
            <a:off x="762000" y="3619500"/>
            <a:ext cx="57150" cy="81915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79" name="Grupla"/>
          <p:cNvGrpSpPr/>
          <p:nvPr/>
        </p:nvGrpSpPr>
        <p:grpSpPr>
          <a:xfrm>
            <a:off x="952500" y="3857625"/>
            <a:ext cx="1238250" cy="228600"/>
            <a:chOff x="0" y="0"/>
            <a:chExt cx="1238250" cy="228600"/>
          </a:xfrm>
        </p:grpSpPr>
        <p:sp>
          <p:nvSpPr>
            <p:cNvPr id="377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78" name="orders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orders</a:t>
              </a:r>
            </a:p>
          </p:txBody>
        </p:sp>
      </p:grpSp>
      <p:grpSp>
        <p:nvGrpSpPr>
          <p:cNvPr id="382" name="Grupla"/>
          <p:cNvGrpSpPr/>
          <p:nvPr/>
        </p:nvGrpSpPr>
        <p:grpSpPr>
          <a:xfrm>
            <a:off x="952500" y="4143374"/>
            <a:ext cx="1238250" cy="171451"/>
            <a:chOff x="0" y="0"/>
            <a:chExt cx="1238250" cy="171450"/>
          </a:xfrm>
        </p:grpSpPr>
        <p:sp>
          <p:nvSpPr>
            <p:cNvPr id="380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81" name="order_id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order_id</a:t>
              </a:r>
            </a:p>
          </p:txBody>
        </p:sp>
      </p:grpSp>
      <p:grpSp>
        <p:nvGrpSpPr>
          <p:cNvPr id="385" name="Grupla"/>
          <p:cNvGrpSpPr/>
          <p:nvPr/>
        </p:nvGrpSpPr>
        <p:grpSpPr>
          <a:xfrm>
            <a:off x="2609850" y="3867149"/>
            <a:ext cx="381000" cy="330201"/>
            <a:chOff x="0" y="0"/>
            <a:chExt cx="381000" cy="330200"/>
          </a:xfrm>
        </p:grpSpPr>
        <p:sp>
          <p:nvSpPr>
            <p:cNvPr id="383" name="Dikdörtgen"/>
            <p:cNvSpPr/>
            <p:nvPr/>
          </p:nvSpPr>
          <p:spPr>
            <a:xfrm>
              <a:off x="0" y="-1"/>
              <a:ext cx="381000" cy="2857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84" name="→"/>
            <p:cNvSpPr txBox="1"/>
            <p:nvPr/>
          </p:nvSpPr>
          <p:spPr>
            <a:xfrm>
              <a:off x="0" y="0"/>
              <a:ext cx="38100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386" name="Dikdörtgen"/>
          <p:cNvSpPr/>
          <p:nvPr/>
        </p:nvSpPr>
        <p:spPr>
          <a:xfrm>
            <a:off x="3181350" y="367665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7" name="Dikdörtgen"/>
          <p:cNvSpPr/>
          <p:nvPr/>
        </p:nvSpPr>
        <p:spPr>
          <a:xfrm>
            <a:off x="3143250" y="361950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Dikdörtgen"/>
          <p:cNvSpPr/>
          <p:nvPr/>
        </p:nvSpPr>
        <p:spPr>
          <a:xfrm>
            <a:off x="3143250" y="3619500"/>
            <a:ext cx="57150" cy="81915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91" name="Grupla"/>
          <p:cNvGrpSpPr/>
          <p:nvPr/>
        </p:nvGrpSpPr>
        <p:grpSpPr>
          <a:xfrm>
            <a:off x="3333750" y="3857625"/>
            <a:ext cx="1238250" cy="228600"/>
            <a:chOff x="0" y="0"/>
            <a:chExt cx="1238250" cy="228600"/>
          </a:xfrm>
        </p:grpSpPr>
        <p:sp>
          <p:nvSpPr>
            <p:cNvPr id="389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90" name="order_items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order_items</a:t>
              </a:r>
            </a:p>
          </p:txBody>
        </p:sp>
      </p:grpSp>
      <p:grpSp>
        <p:nvGrpSpPr>
          <p:cNvPr id="394" name="Grupla"/>
          <p:cNvGrpSpPr/>
          <p:nvPr/>
        </p:nvGrpSpPr>
        <p:grpSpPr>
          <a:xfrm>
            <a:off x="3333750" y="4143374"/>
            <a:ext cx="1238250" cy="171451"/>
            <a:chOff x="0" y="0"/>
            <a:chExt cx="1238250" cy="171450"/>
          </a:xfrm>
        </p:grpSpPr>
        <p:sp>
          <p:nvSpPr>
            <p:cNvPr id="392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93" name="product_id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product_id</a:t>
              </a:r>
            </a:p>
          </p:txBody>
        </p:sp>
      </p:grpSp>
      <p:grpSp>
        <p:nvGrpSpPr>
          <p:cNvPr id="397" name="Grupla"/>
          <p:cNvGrpSpPr/>
          <p:nvPr/>
        </p:nvGrpSpPr>
        <p:grpSpPr>
          <a:xfrm>
            <a:off x="4991100" y="3867149"/>
            <a:ext cx="381000" cy="330201"/>
            <a:chOff x="0" y="0"/>
            <a:chExt cx="381000" cy="330200"/>
          </a:xfrm>
        </p:grpSpPr>
        <p:sp>
          <p:nvSpPr>
            <p:cNvPr id="395" name="Dikdörtgen"/>
            <p:cNvSpPr/>
            <p:nvPr/>
          </p:nvSpPr>
          <p:spPr>
            <a:xfrm>
              <a:off x="0" y="-1"/>
              <a:ext cx="381000" cy="2857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96" name="→"/>
            <p:cNvSpPr txBox="1"/>
            <p:nvPr/>
          </p:nvSpPr>
          <p:spPr>
            <a:xfrm>
              <a:off x="0" y="0"/>
              <a:ext cx="38100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398" name="Dikdörtgen"/>
          <p:cNvSpPr/>
          <p:nvPr/>
        </p:nvSpPr>
        <p:spPr>
          <a:xfrm>
            <a:off x="5562600" y="367665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9" name="Dikdörtgen"/>
          <p:cNvSpPr/>
          <p:nvPr/>
        </p:nvSpPr>
        <p:spPr>
          <a:xfrm>
            <a:off x="5524500" y="361950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Dikdörtgen"/>
          <p:cNvSpPr/>
          <p:nvPr/>
        </p:nvSpPr>
        <p:spPr>
          <a:xfrm>
            <a:off x="5524500" y="3619500"/>
            <a:ext cx="57150" cy="81915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03" name="Grupla"/>
          <p:cNvGrpSpPr/>
          <p:nvPr/>
        </p:nvGrpSpPr>
        <p:grpSpPr>
          <a:xfrm>
            <a:off x="5715000" y="3857625"/>
            <a:ext cx="1238250" cy="228600"/>
            <a:chOff x="0" y="0"/>
            <a:chExt cx="1238250" cy="228600"/>
          </a:xfrm>
        </p:grpSpPr>
        <p:sp>
          <p:nvSpPr>
            <p:cNvPr id="401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02" name="products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products</a:t>
              </a:r>
            </a:p>
          </p:txBody>
        </p:sp>
      </p:grpSp>
      <p:grpSp>
        <p:nvGrpSpPr>
          <p:cNvPr id="406" name="Grupla"/>
          <p:cNvGrpSpPr/>
          <p:nvPr/>
        </p:nvGrpSpPr>
        <p:grpSpPr>
          <a:xfrm>
            <a:off x="5715000" y="4143374"/>
            <a:ext cx="1238250" cy="171451"/>
            <a:chOff x="0" y="0"/>
            <a:chExt cx="1238250" cy="171450"/>
          </a:xfrm>
        </p:grpSpPr>
        <p:sp>
          <p:nvSpPr>
            <p:cNvPr id="404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05" name="ürün bilgi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bilgi</a:t>
              </a:r>
            </a:p>
          </p:txBody>
        </p:sp>
      </p:grpSp>
      <p:grpSp>
        <p:nvGrpSpPr>
          <p:cNvPr id="409" name="Grupla"/>
          <p:cNvGrpSpPr/>
          <p:nvPr/>
        </p:nvGrpSpPr>
        <p:grpSpPr>
          <a:xfrm>
            <a:off x="7372350" y="3867149"/>
            <a:ext cx="381000" cy="330201"/>
            <a:chOff x="0" y="0"/>
            <a:chExt cx="381000" cy="330200"/>
          </a:xfrm>
        </p:grpSpPr>
        <p:sp>
          <p:nvSpPr>
            <p:cNvPr id="407" name="Dikdörtgen"/>
            <p:cNvSpPr/>
            <p:nvPr/>
          </p:nvSpPr>
          <p:spPr>
            <a:xfrm>
              <a:off x="0" y="-1"/>
              <a:ext cx="381000" cy="2857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08" name="→"/>
            <p:cNvSpPr txBox="1"/>
            <p:nvPr/>
          </p:nvSpPr>
          <p:spPr>
            <a:xfrm>
              <a:off x="0" y="0"/>
              <a:ext cx="38100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410" name="Dikdörtgen"/>
          <p:cNvSpPr/>
          <p:nvPr/>
        </p:nvSpPr>
        <p:spPr>
          <a:xfrm>
            <a:off x="7943850" y="3676650"/>
            <a:ext cx="1619250" cy="8191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Dikdörtgen"/>
          <p:cNvSpPr/>
          <p:nvPr/>
        </p:nvSpPr>
        <p:spPr>
          <a:xfrm>
            <a:off x="7905750" y="3619500"/>
            <a:ext cx="1619250" cy="8191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Dikdörtgen"/>
          <p:cNvSpPr/>
          <p:nvPr/>
        </p:nvSpPr>
        <p:spPr>
          <a:xfrm>
            <a:off x="7905750" y="3619500"/>
            <a:ext cx="57150" cy="81915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15" name="Grupla"/>
          <p:cNvGrpSpPr/>
          <p:nvPr/>
        </p:nvGrpSpPr>
        <p:grpSpPr>
          <a:xfrm>
            <a:off x="8096250" y="3857625"/>
            <a:ext cx="1238250" cy="228600"/>
            <a:chOff x="0" y="0"/>
            <a:chExt cx="1238250" cy="228600"/>
          </a:xfrm>
        </p:grpSpPr>
        <p:sp>
          <p:nvSpPr>
            <p:cNvPr id="413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14" name="ürün satışı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satışı</a:t>
              </a:r>
            </a:p>
          </p:txBody>
        </p:sp>
      </p:grpSp>
      <p:grpSp>
        <p:nvGrpSpPr>
          <p:cNvPr id="418" name="Grupla"/>
          <p:cNvGrpSpPr/>
          <p:nvPr/>
        </p:nvGrpSpPr>
        <p:grpSpPr>
          <a:xfrm>
            <a:off x="8096250" y="4143374"/>
            <a:ext cx="1238250" cy="171451"/>
            <a:chOff x="0" y="0"/>
            <a:chExt cx="1238250" cy="171450"/>
          </a:xfrm>
        </p:grpSpPr>
        <p:sp>
          <p:nvSpPr>
            <p:cNvPr id="416" name="Dikdörtgen"/>
            <p:cNvSpPr/>
            <p:nvPr/>
          </p:nvSpPr>
          <p:spPr>
            <a:xfrm>
              <a:off x="0" y="0"/>
              <a:ext cx="1238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17" name="adet + gelir"/>
            <p:cNvSpPr txBox="1"/>
            <p:nvPr/>
          </p:nvSpPr>
          <p:spPr>
            <a:xfrm>
              <a:off x="0" y="-1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adet + gelir</a:t>
              </a:r>
            </a:p>
          </p:txBody>
        </p:sp>
      </p:grpSp>
      <p:sp>
        <p:nvSpPr>
          <p:cNvPr id="419" name="Dikdörtgen"/>
          <p:cNvSpPr/>
          <p:nvPr/>
        </p:nvSpPr>
        <p:spPr>
          <a:xfrm>
            <a:off x="9753600" y="2838450"/>
            <a:ext cx="1809750" cy="1000125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Dikdörtgen"/>
          <p:cNvSpPr/>
          <p:nvPr/>
        </p:nvSpPr>
        <p:spPr>
          <a:xfrm>
            <a:off x="9715500" y="2781300"/>
            <a:ext cx="1809750" cy="1000125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Dikdörtgen"/>
          <p:cNvSpPr/>
          <p:nvPr/>
        </p:nvSpPr>
        <p:spPr>
          <a:xfrm>
            <a:off x="9715500" y="2781300"/>
            <a:ext cx="57150" cy="1000125"/>
          </a:xfrm>
          <a:prstGeom prst="rect">
            <a:avLst/>
          </a:prstGeom>
          <a:solidFill>
            <a:srgbClr val="D6453D"/>
          </a:solidFill>
          <a:ln w="3175">
            <a:solidFill>
              <a:srgbClr val="D6453D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24" name="Grupla"/>
          <p:cNvGrpSpPr/>
          <p:nvPr/>
        </p:nvGrpSpPr>
        <p:grpSpPr>
          <a:xfrm>
            <a:off x="9944100" y="3000375"/>
            <a:ext cx="1238250" cy="228600"/>
            <a:chOff x="0" y="0"/>
            <a:chExt cx="1238250" cy="228600"/>
          </a:xfrm>
        </p:grpSpPr>
        <p:sp>
          <p:nvSpPr>
            <p:cNvPr id="422" name="Dikdörtgen"/>
            <p:cNvSpPr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23" name="reviews"/>
            <p:cNvSpPr txBox="1"/>
            <p:nvPr/>
          </p:nvSpPr>
          <p:spPr>
            <a:xfrm>
              <a:off x="0" y="0"/>
              <a:ext cx="12382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reviews</a:t>
              </a:r>
            </a:p>
          </p:txBody>
        </p:sp>
      </p:grpSp>
      <p:grpSp>
        <p:nvGrpSpPr>
          <p:cNvPr id="427" name="Grupla"/>
          <p:cNvGrpSpPr/>
          <p:nvPr/>
        </p:nvGrpSpPr>
        <p:grpSpPr>
          <a:xfrm>
            <a:off x="9944100" y="3314699"/>
            <a:ext cx="1238250" cy="342901"/>
            <a:chOff x="0" y="0"/>
            <a:chExt cx="1238250" cy="342900"/>
          </a:xfrm>
        </p:grpSpPr>
        <p:sp>
          <p:nvSpPr>
            <p:cNvPr id="425" name="Dikdörtgen"/>
            <p:cNvSpPr/>
            <p:nvPr/>
          </p:nvSpPr>
          <p:spPr>
            <a:xfrm>
              <a:off x="0" y="0"/>
              <a:ext cx="12382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26" name="product_id ile ürün duygu sinyali"/>
            <p:cNvSpPr txBox="1"/>
            <p:nvPr/>
          </p:nvSpPr>
          <p:spPr>
            <a:xfrm>
              <a:off x="0" y="-1"/>
              <a:ext cx="1238250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product_id ile ürün duygu sinyali</a:t>
              </a:r>
            </a:p>
          </p:txBody>
        </p:sp>
      </p:grpSp>
      <p:sp>
        <p:nvSpPr>
          <p:cNvPr id="428" name="Dikdörtgen"/>
          <p:cNvSpPr/>
          <p:nvPr/>
        </p:nvSpPr>
        <p:spPr>
          <a:xfrm>
            <a:off x="819150" y="5143500"/>
            <a:ext cx="9906000" cy="53340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31" name="Grupla"/>
          <p:cNvGrpSpPr/>
          <p:nvPr/>
        </p:nvGrpSpPr>
        <p:grpSpPr>
          <a:xfrm>
            <a:off x="971550" y="5257799"/>
            <a:ext cx="9601200" cy="361951"/>
            <a:chOff x="0" y="0"/>
            <a:chExt cx="9601200" cy="361950"/>
          </a:xfrm>
        </p:grpSpPr>
        <p:sp>
          <p:nvSpPr>
            <p:cNvPr id="429" name="Dikdörtgen"/>
            <p:cNvSpPr/>
            <p:nvPr/>
          </p:nvSpPr>
          <p:spPr>
            <a:xfrm>
              <a:off x="0" y="0"/>
              <a:ext cx="96012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30" name="Mantık: events tablosu önce sessions üzerinden müşteriyle, sipariş kalemleri ise products üzerinden ürünle eşleşir."/>
            <p:cNvSpPr txBox="1"/>
            <p:nvPr/>
          </p:nvSpPr>
          <p:spPr>
            <a:xfrm>
              <a:off x="0" y="-1"/>
              <a:ext cx="96012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Mantık: events tablosu önce sessions üzerinden müşteriyle, sipariş kalemleri ise products üzerinden ürünle eşleşir.</a:t>
              </a:r>
            </a:p>
          </p:txBody>
        </p:sp>
      </p:grpSp>
      <p:grpSp>
        <p:nvGrpSpPr>
          <p:cNvPr id="434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432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33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437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435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36" name="04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43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441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42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446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444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45" name="Metodoloji 2/5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Metodoloji 2/5</a:t>
              </a:r>
            </a:p>
          </p:txBody>
        </p:sp>
      </p:grpSp>
      <p:grpSp>
        <p:nvGrpSpPr>
          <p:cNvPr id="449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447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448" name="Eksik değerler iş anlamına göre ele alındı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Eksik değerler iş anlamına göre ele alındı</a:t>
              </a:r>
            </a:p>
          </p:txBody>
        </p:sp>
      </p:grpSp>
      <p:grpSp>
        <p:nvGrpSpPr>
          <p:cNvPr id="452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450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51" name="Eksikler rastgele silinmedi. Önce alanın neden boş olduğu yorumlandı, sonra uygun işlem seçildi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Eksikler rastgele silinmedi. Önce alanın neden boş olduğu yorumlandı, sonra uygun işlem seçildi.</a:t>
              </a:r>
            </a:p>
          </p:txBody>
        </p:sp>
      </p:grpSp>
      <p:sp>
        <p:nvSpPr>
          <p:cNvPr id="453" name="Dikdörtgen"/>
          <p:cNvSpPr/>
          <p:nvPr/>
        </p:nvSpPr>
        <p:spPr>
          <a:xfrm>
            <a:off x="704850" y="2190750"/>
            <a:ext cx="10572750" cy="28575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Dikdörtgen"/>
          <p:cNvSpPr/>
          <p:nvPr/>
        </p:nvSpPr>
        <p:spPr>
          <a:xfrm>
            <a:off x="666750" y="2133600"/>
            <a:ext cx="10572750" cy="28575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5" name="Dikdörtgen"/>
          <p:cNvSpPr/>
          <p:nvPr/>
        </p:nvSpPr>
        <p:spPr>
          <a:xfrm>
            <a:off x="666750" y="2133600"/>
            <a:ext cx="10572750" cy="476250"/>
          </a:xfrm>
          <a:prstGeom prst="rect">
            <a:avLst/>
          </a:prstGeom>
          <a:solidFill>
            <a:srgbClr val="EEF3F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58" name="Grupla"/>
          <p:cNvGrpSpPr/>
          <p:nvPr/>
        </p:nvGrpSpPr>
        <p:grpSpPr>
          <a:xfrm>
            <a:off x="762000" y="2219324"/>
            <a:ext cx="1924050" cy="400051"/>
            <a:chOff x="0" y="0"/>
            <a:chExt cx="1924050" cy="400050"/>
          </a:xfrm>
        </p:grpSpPr>
        <p:sp>
          <p:nvSpPr>
            <p:cNvPr id="456" name="Dikdörtgen"/>
            <p:cNvSpPr/>
            <p:nvPr/>
          </p:nvSpPr>
          <p:spPr>
            <a:xfrm>
              <a:off x="0" y="0"/>
              <a:ext cx="1924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57" name="Alan"/>
            <p:cNvSpPr txBox="1"/>
            <p:nvPr/>
          </p:nvSpPr>
          <p:spPr>
            <a:xfrm>
              <a:off x="0" y="-1"/>
              <a:ext cx="1924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Alan</a:t>
              </a:r>
            </a:p>
          </p:txBody>
        </p:sp>
      </p:grpSp>
      <p:sp>
        <p:nvSpPr>
          <p:cNvPr id="459" name="Dikdörtgen"/>
          <p:cNvSpPr/>
          <p:nvPr/>
        </p:nvSpPr>
        <p:spPr>
          <a:xfrm>
            <a:off x="2760661" y="213360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62" name="Grupla"/>
          <p:cNvGrpSpPr/>
          <p:nvPr/>
        </p:nvGrpSpPr>
        <p:grpSpPr>
          <a:xfrm>
            <a:off x="2857500" y="2219324"/>
            <a:ext cx="2971800" cy="400051"/>
            <a:chOff x="0" y="0"/>
            <a:chExt cx="2971800" cy="400050"/>
          </a:xfrm>
        </p:grpSpPr>
        <p:sp>
          <p:nvSpPr>
            <p:cNvPr id="460" name="Dikdörtgen"/>
            <p:cNvSpPr/>
            <p:nvPr/>
          </p:nvSpPr>
          <p:spPr>
            <a:xfrm>
              <a:off x="0" y="0"/>
              <a:ext cx="29718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61" name="Durum"/>
            <p:cNvSpPr txBox="1"/>
            <p:nvPr/>
          </p:nvSpPr>
          <p:spPr>
            <a:xfrm>
              <a:off x="0" y="-1"/>
              <a:ext cx="29718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Durum</a:t>
              </a:r>
            </a:p>
          </p:txBody>
        </p:sp>
      </p:grpSp>
      <p:sp>
        <p:nvSpPr>
          <p:cNvPr id="463" name="Dikdörtgen"/>
          <p:cNvSpPr/>
          <p:nvPr/>
        </p:nvSpPr>
        <p:spPr>
          <a:xfrm>
            <a:off x="5903912" y="213360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66" name="Grupla"/>
          <p:cNvGrpSpPr/>
          <p:nvPr/>
        </p:nvGrpSpPr>
        <p:grpSpPr>
          <a:xfrm>
            <a:off x="6000750" y="2219324"/>
            <a:ext cx="5162550" cy="400051"/>
            <a:chOff x="0" y="0"/>
            <a:chExt cx="5162550" cy="400050"/>
          </a:xfrm>
        </p:grpSpPr>
        <p:sp>
          <p:nvSpPr>
            <p:cNvPr id="464" name="Dikdörtgen"/>
            <p:cNvSpPr/>
            <p:nvPr/>
          </p:nvSpPr>
          <p:spPr>
            <a:xfrm>
              <a:off x="0" y="0"/>
              <a:ext cx="5162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65" name="Karar"/>
            <p:cNvSpPr txBox="1"/>
            <p:nvPr/>
          </p:nvSpPr>
          <p:spPr>
            <a:xfrm>
              <a:off x="0" y="-1"/>
              <a:ext cx="51625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Karar</a:t>
              </a:r>
            </a:p>
          </p:txBody>
        </p:sp>
      </p:grpSp>
      <p:grpSp>
        <p:nvGrpSpPr>
          <p:cNvPr id="469" name="Grupla"/>
          <p:cNvGrpSpPr/>
          <p:nvPr/>
        </p:nvGrpSpPr>
        <p:grpSpPr>
          <a:xfrm>
            <a:off x="762000" y="2695574"/>
            <a:ext cx="1924050" cy="400051"/>
            <a:chOff x="0" y="0"/>
            <a:chExt cx="1924050" cy="400050"/>
          </a:xfrm>
        </p:grpSpPr>
        <p:sp>
          <p:nvSpPr>
            <p:cNvPr id="467" name="Dikdörtgen"/>
            <p:cNvSpPr/>
            <p:nvPr/>
          </p:nvSpPr>
          <p:spPr>
            <a:xfrm>
              <a:off x="0" y="0"/>
              <a:ext cx="1924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68" name="events.product_id"/>
            <p:cNvSpPr txBox="1"/>
            <p:nvPr/>
          </p:nvSpPr>
          <p:spPr>
            <a:xfrm>
              <a:off x="0" y="-1"/>
              <a:ext cx="1924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events.product_id</a:t>
              </a:r>
            </a:p>
          </p:txBody>
        </p:sp>
      </p:grpSp>
      <p:sp>
        <p:nvSpPr>
          <p:cNvPr id="470" name="Dikdörtgen"/>
          <p:cNvSpPr/>
          <p:nvPr/>
        </p:nvSpPr>
        <p:spPr>
          <a:xfrm>
            <a:off x="2760661" y="260985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73" name="Grupla"/>
          <p:cNvGrpSpPr/>
          <p:nvPr/>
        </p:nvGrpSpPr>
        <p:grpSpPr>
          <a:xfrm>
            <a:off x="2857500" y="2695574"/>
            <a:ext cx="2971800" cy="400051"/>
            <a:chOff x="0" y="0"/>
            <a:chExt cx="2971800" cy="400050"/>
          </a:xfrm>
        </p:grpSpPr>
        <p:sp>
          <p:nvSpPr>
            <p:cNvPr id="471" name="Dikdörtgen"/>
            <p:cNvSpPr/>
            <p:nvPr/>
          </p:nvSpPr>
          <p:spPr>
            <a:xfrm>
              <a:off x="0" y="0"/>
              <a:ext cx="29718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72" name="checkout/purchase satırlarında boş"/>
            <p:cNvSpPr txBox="1"/>
            <p:nvPr/>
          </p:nvSpPr>
          <p:spPr>
            <a:xfrm>
              <a:off x="0" y="-1"/>
              <a:ext cx="29718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checkout/purchase satırlarında boş</a:t>
              </a:r>
            </a:p>
          </p:txBody>
        </p:sp>
      </p:grpSp>
      <p:sp>
        <p:nvSpPr>
          <p:cNvPr id="474" name="Dikdörtgen"/>
          <p:cNvSpPr/>
          <p:nvPr/>
        </p:nvSpPr>
        <p:spPr>
          <a:xfrm>
            <a:off x="5903912" y="260985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77" name="Grupla"/>
          <p:cNvGrpSpPr/>
          <p:nvPr/>
        </p:nvGrpSpPr>
        <p:grpSpPr>
          <a:xfrm>
            <a:off x="6000750" y="2695574"/>
            <a:ext cx="5162550" cy="400051"/>
            <a:chOff x="0" y="0"/>
            <a:chExt cx="5162550" cy="400050"/>
          </a:xfrm>
        </p:grpSpPr>
        <p:sp>
          <p:nvSpPr>
            <p:cNvPr id="475" name="Dikdörtgen"/>
            <p:cNvSpPr/>
            <p:nvPr/>
          </p:nvSpPr>
          <p:spPr>
            <a:xfrm>
              <a:off x="0" y="0"/>
              <a:ext cx="5162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76" name="Ürün satışı order_items.quantity’den hesaplandı"/>
            <p:cNvSpPr txBox="1"/>
            <p:nvPr/>
          </p:nvSpPr>
          <p:spPr>
            <a:xfrm>
              <a:off x="0" y="-1"/>
              <a:ext cx="51625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satışı order_items.quantity’den hesaplandı</a:t>
              </a:r>
            </a:p>
          </p:txBody>
        </p:sp>
      </p:grpSp>
      <p:sp>
        <p:nvSpPr>
          <p:cNvPr id="478" name="Dikdörtgen"/>
          <p:cNvSpPr/>
          <p:nvPr/>
        </p:nvSpPr>
        <p:spPr>
          <a:xfrm>
            <a:off x="666750" y="2608261"/>
            <a:ext cx="105727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81" name="Grupla"/>
          <p:cNvGrpSpPr/>
          <p:nvPr/>
        </p:nvGrpSpPr>
        <p:grpSpPr>
          <a:xfrm>
            <a:off x="762000" y="3171824"/>
            <a:ext cx="1924050" cy="400051"/>
            <a:chOff x="0" y="0"/>
            <a:chExt cx="1924050" cy="400050"/>
          </a:xfrm>
        </p:grpSpPr>
        <p:sp>
          <p:nvSpPr>
            <p:cNvPr id="479" name="Dikdörtgen"/>
            <p:cNvSpPr/>
            <p:nvPr/>
          </p:nvSpPr>
          <p:spPr>
            <a:xfrm>
              <a:off x="0" y="0"/>
              <a:ext cx="1924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80" name="events.qty"/>
            <p:cNvSpPr txBox="1"/>
            <p:nvPr/>
          </p:nvSpPr>
          <p:spPr>
            <a:xfrm>
              <a:off x="0" y="-1"/>
              <a:ext cx="1924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events.qty</a:t>
              </a:r>
            </a:p>
          </p:txBody>
        </p:sp>
      </p:grpSp>
      <p:sp>
        <p:nvSpPr>
          <p:cNvPr id="482" name="Dikdörtgen"/>
          <p:cNvSpPr/>
          <p:nvPr/>
        </p:nvSpPr>
        <p:spPr>
          <a:xfrm>
            <a:off x="2760661" y="308610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85" name="Grupla"/>
          <p:cNvGrpSpPr/>
          <p:nvPr/>
        </p:nvGrpSpPr>
        <p:grpSpPr>
          <a:xfrm>
            <a:off x="2857500" y="3171824"/>
            <a:ext cx="2971800" cy="400051"/>
            <a:chOff x="0" y="0"/>
            <a:chExt cx="2971800" cy="400050"/>
          </a:xfrm>
        </p:grpSpPr>
        <p:sp>
          <p:nvSpPr>
            <p:cNvPr id="483" name="Dikdörtgen"/>
            <p:cNvSpPr/>
            <p:nvPr/>
          </p:nvSpPr>
          <p:spPr>
            <a:xfrm>
              <a:off x="0" y="0"/>
              <a:ext cx="29718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84" name="Sadece purchase eventinde dolu"/>
            <p:cNvSpPr txBox="1"/>
            <p:nvPr/>
          </p:nvSpPr>
          <p:spPr>
            <a:xfrm>
              <a:off x="0" y="-1"/>
              <a:ext cx="29718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Sadece purchase eventinde dolu</a:t>
              </a:r>
            </a:p>
          </p:txBody>
        </p:sp>
      </p:grpSp>
      <p:sp>
        <p:nvSpPr>
          <p:cNvPr id="486" name="Dikdörtgen"/>
          <p:cNvSpPr/>
          <p:nvPr/>
        </p:nvSpPr>
        <p:spPr>
          <a:xfrm>
            <a:off x="5903912" y="308610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89" name="Grupla"/>
          <p:cNvGrpSpPr/>
          <p:nvPr/>
        </p:nvGrpSpPr>
        <p:grpSpPr>
          <a:xfrm>
            <a:off x="6000750" y="3171824"/>
            <a:ext cx="5162550" cy="400051"/>
            <a:chOff x="0" y="0"/>
            <a:chExt cx="5162550" cy="400050"/>
          </a:xfrm>
        </p:grpSpPr>
        <p:sp>
          <p:nvSpPr>
            <p:cNvPr id="487" name="Dikdörtgen"/>
            <p:cNvSpPr/>
            <p:nvPr/>
          </p:nvSpPr>
          <p:spPr>
            <a:xfrm>
              <a:off x="0" y="0"/>
              <a:ext cx="5162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88" name="Ürün satışında ana kaynak yapılmadı"/>
            <p:cNvSpPr txBox="1"/>
            <p:nvPr/>
          </p:nvSpPr>
          <p:spPr>
            <a:xfrm>
              <a:off x="0" y="-1"/>
              <a:ext cx="51625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satışında ana kaynak yapılmadı</a:t>
              </a:r>
            </a:p>
          </p:txBody>
        </p:sp>
      </p:grpSp>
      <p:sp>
        <p:nvSpPr>
          <p:cNvPr id="490" name="Dikdörtgen"/>
          <p:cNvSpPr/>
          <p:nvPr/>
        </p:nvSpPr>
        <p:spPr>
          <a:xfrm>
            <a:off x="666750" y="3084511"/>
            <a:ext cx="105727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93" name="Grupla"/>
          <p:cNvGrpSpPr/>
          <p:nvPr/>
        </p:nvGrpSpPr>
        <p:grpSpPr>
          <a:xfrm>
            <a:off x="762000" y="3648074"/>
            <a:ext cx="1924050" cy="400051"/>
            <a:chOff x="0" y="0"/>
            <a:chExt cx="1924050" cy="400050"/>
          </a:xfrm>
        </p:grpSpPr>
        <p:sp>
          <p:nvSpPr>
            <p:cNvPr id="491" name="Dikdörtgen"/>
            <p:cNvSpPr/>
            <p:nvPr/>
          </p:nvSpPr>
          <p:spPr>
            <a:xfrm>
              <a:off x="0" y="0"/>
              <a:ext cx="1924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92" name="reviews olmayan ürün"/>
            <p:cNvSpPr txBox="1"/>
            <p:nvPr/>
          </p:nvSpPr>
          <p:spPr>
            <a:xfrm>
              <a:off x="0" y="-1"/>
              <a:ext cx="1924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reviews olmayan ürün</a:t>
              </a:r>
            </a:p>
          </p:txBody>
        </p:sp>
      </p:grpSp>
      <p:sp>
        <p:nvSpPr>
          <p:cNvPr id="494" name="Dikdörtgen"/>
          <p:cNvSpPr/>
          <p:nvPr/>
        </p:nvSpPr>
        <p:spPr>
          <a:xfrm>
            <a:off x="2760661" y="356235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97" name="Grupla"/>
          <p:cNvGrpSpPr/>
          <p:nvPr/>
        </p:nvGrpSpPr>
        <p:grpSpPr>
          <a:xfrm>
            <a:off x="2857500" y="3648074"/>
            <a:ext cx="2971800" cy="400051"/>
            <a:chOff x="0" y="0"/>
            <a:chExt cx="2971800" cy="400050"/>
          </a:xfrm>
        </p:grpSpPr>
        <p:sp>
          <p:nvSpPr>
            <p:cNvPr id="495" name="Dikdörtgen"/>
            <p:cNvSpPr/>
            <p:nvPr/>
          </p:nvSpPr>
          <p:spPr>
            <a:xfrm>
              <a:off x="0" y="0"/>
              <a:ext cx="29718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96" name="Yorum ve rating yok"/>
            <p:cNvSpPr txBox="1"/>
            <p:nvPr/>
          </p:nvSpPr>
          <p:spPr>
            <a:xfrm>
              <a:off x="0" y="-1"/>
              <a:ext cx="29718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Yorum ve rating yok</a:t>
              </a:r>
            </a:p>
          </p:txBody>
        </p:sp>
      </p:grpSp>
      <p:sp>
        <p:nvSpPr>
          <p:cNvPr id="498" name="Dikdörtgen"/>
          <p:cNvSpPr/>
          <p:nvPr/>
        </p:nvSpPr>
        <p:spPr>
          <a:xfrm>
            <a:off x="5903912" y="356235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01" name="Grupla"/>
          <p:cNvGrpSpPr/>
          <p:nvPr/>
        </p:nvGrpSpPr>
        <p:grpSpPr>
          <a:xfrm>
            <a:off x="6000750" y="3648074"/>
            <a:ext cx="5162550" cy="400051"/>
            <a:chOff x="0" y="0"/>
            <a:chExt cx="5162550" cy="400050"/>
          </a:xfrm>
        </p:grpSpPr>
        <p:sp>
          <p:nvSpPr>
            <p:cNvPr id="499" name="Dikdörtgen"/>
            <p:cNvSpPr/>
            <p:nvPr/>
          </p:nvSpPr>
          <p:spPr>
            <a:xfrm>
              <a:off x="0" y="0"/>
              <a:ext cx="5162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00" name="yorum_sayisi=0, pozitif_oran=0 kabul edildi"/>
            <p:cNvSpPr txBox="1"/>
            <p:nvPr/>
          </p:nvSpPr>
          <p:spPr>
            <a:xfrm>
              <a:off x="0" y="-1"/>
              <a:ext cx="51625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yorum_sayisi=0, pozitif_oran=0 kabul edildi</a:t>
              </a:r>
            </a:p>
          </p:txBody>
        </p:sp>
      </p:grpSp>
      <p:sp>
        <p:nvSpPr>
          <p:cNvPr id="502" name="Dikdörtgen"/>
          <p:cNvSpPr/>
          <p:nvPr/>
        </p:nvSpPr>
        <p:spPr>
          <a:xfrm>
            <a:off x="666750" y="3560762"/>
            <a:ext cx="105727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05" name="Grupla"/>
          <p:cNvGrpSpPr/>
          <p:nvPr/>
        </p:nvGrpSpPr>
        <p:grpSpPr>
          <a:xfrm>
            <a:off x="762000" y="4124324"/>
            <a:ext cx="1924050" cy="400051"/>
            <a:chOff x="0" y="0"/>
            <a:chExt cx="1924050" cy="400050"/>
          </a:xfrm>
        </p:grpSpPr>
        <p:sp>
          <p:nvSpPr>
            <p:cNvPr id="503" name="Dikdörtgen"/>
            <p:cNvSpPr/>
            <p:nvPr/>
          </p:nvSpPr>
          <p:spPr>
            <a:xfrm>
              <a:off x="0" y="0"/>
              <a:ext cx="1924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04" name="page_view=0"/>
            <p:cNvSpPr txBox="1"/>
            <p:nvPr/>
          </p:nvSpPr>
          <p:spPr>
            <a:xfrm>
              <a:off x="0" y="-1"/>
              <a:ext cx="1924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page_view=0</a:t>
              </a:r>
            </a:p>
          </p:txBody>
        </p:sp>
      </p:grpSp>
      <p:sp>
        <p:nvSpPr>
          <p:cNvPr id="506" name="Dikdörtgen"/>
          <p:cNvSpPr/>
          <p:nvPr/>
        </p:nvSpPr>
        <p:spPr>
          <a:xfrm>
            <a:off x="2760661" y="403860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09" name="Grupla"/>
          <p:cNvGrpSpPr/>
          <p:nvPr/>
        </p:nvGrpSpPr>
        <p:grpSpPr>
          <a:xfrm>
            <a:off x="2857500" y="4124324"/>
            <a:ext cx="2971800" cy="400051"/>
            <a:chOff x="0" y="0"/>
            <a:chExt cx="2971800" cy="400050"/>
          </a:xfrm>
        </p:grpSpPr>
        <p:sp>
          <p:nvSpPr>
            <p:cNvPr id="507" name="Dikdörtgen"/>
            <p:cNvSpPr/>
            <p:nvPr/>
          </p:nvSpPr>
          <p:spPr>
            <a:xfrm>
              <a:off x="0" y="0"/>
              <a:ext cx="29718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08" name="Oran hesabında risk"/>
            <p:cNvSpPr txBox="1"/>
            <p:nvPr/>
          </p:nvSpPr>
          <p:spPr>
            <a:xfrm>
              <a:off x="0" y="-1"/>
              <a:ext cx="29718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Oran hesabında risk</a:t>
              </a:r>
            </a:p>
          </p:txBody>
        </p:sp>
      </p:grpSp>
      <p:sp>
        <p:nvSpPr>
          <p:cNvPr id="510" name="Dikdörtgen"/>
          <p:cNvSpPr/>
          <p:nvPr/>
        </p:nvSpPr>
        <p:spPr>
          <a:xfrm>
            <a:off x="5903912" y="403860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13" name="Grupla"/>
          <p:cNvGrpSpPr/>
          <p:nvPr/>
        </p:nvGrpSpPr>
        <p:grpSpPr>
          <a:xfrm>
            <a:off x="6000750" y="4124324"/>
            <a:ext cx="5162550" cy="400051"/>
            <a:chOff x="0" y="0"/>
            <a:chExt cx="5162550" cy="400050"/>
          </a:xfrm>
        </p:grpSpPr>
        <p:sp>
          <p:nvSpPr>
            <p:cNvPr id="511" name="Dikdörtgen"/>
            <p:cNvSpPr/>
            <p:nvPr/>
          </p:nvSpPr>
          <p:spPr>
            <a:xfrm>
              <a:off x="0" y="0"/>
              <a:ext cx="5162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12" name="np.where ile sıfıra bölme engellendi"/>
            <p:cNvSpPr txBox="1"/>
            <p:nvPr/>
          </p:nvSpPr>
          <p:spPr>
            <a:xfrm>
              <a:off x="0" y="-1"/>
              <a:ext cx="51625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np.where ile sıfıra bölme engellendi</a:t>
              </a:r>
            </a:p>
          </p:txBody>
        </p:sp>
      </p:grpSp>
      <p:sp>
        <p:nvSpPr>
          <p:cNvPr id="514" name="Dikdörtgen"/>
          <p:cNvSpPr/>
          <p:nvPr/>
        </p:nvSpPr>
        <p:spPr>
          <a:xfrm>
            <a:off x="666750" y="4037012"/>
            <a:ext cx="105727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17" name="Grupla"/>
          <p:cNvGrpSpPr/>
          <p:nvPr/>
        </p:nvGrpSpPr>
        <p:grpSpPr>
          <a:xfrm>
            <a:off x="762000" y="4600574"/>
            <a:ext cx="1924050" cy="400051"/>
            <a:chOff x="0" y="0"/>
            <a:chExt cx="1924050" cy="400050"/>
          </a:xfrm>
        </p:grpSpPr>
        <p:sp>
          <p:nvSpPr>
            <p:cNvPr id="515" name="Dikdörtgen"/>
            <p:cNvSpPr/>
            <p:nvPr/>
          </p:nvSpPr>
          <p:spPr>
            <a:xfrm>
              <a:off x="0" y="0"/>
              <a:ext cx="1924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16" name="RFM geçmişi yok"/>
            <p:cNvSpPr txBox="1"/>
            <p:nvPr/>
          </p:nvSpPr>
          <p:spPr>
            <a:xfrm>
              <a:off x="0" y="-1"/>
              <a:ext cx="1924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RFM geçmişi yok</a:t>
              </a:r>
            </a:p>
          </p:txBody>
        </p:sp>
      </p:grpSp>
      <p:sp>
        <p:nvSpPr>
          <p:cNvPr id="518" name="Dikdörtgen"/>
          <p:cNvSpPr/>
          <p:nvPr/>
        </p:nvSpPr>
        <p:spPr>
          <a:xfrm>
            <a:off x="2760661" y="451485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21" name="Grupla"/>
          <p:cNvGrpSpPr/>
          <p:nvPr/>
        </p:nvGrpSpPr>
        <p:grpSpPr>
          <a:xfrm>
            <a:off x="2857500" y="4600574"/>
            <a:ext cx="2971800" cy="400051"/>
            <a:chOff x="0" y="0"/>
            <a:chExt cx="2971800" cy="400050"/>
          </a:xfrm>
        </p:grpSpPr>
        <p:sp>
          <p:nvSpPr>
            <p:cNvPr id="519" name="Dikdörtgen"/>
            <p:cNvSpPr/>
            <p:nvPr/>
          </p:nvSpPr>
          <p:spPr>
            <a:xfrm>
              <a:off x="0" y="0"/>
              <a:ext cx="29718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20" name="Sipariş vermeyen müşteri"/>
            <p:cNvSpPr txBox="1"/>
            <p:nvPr/>
          </p:nvSpPr>
          <p:spPr>
            <a:xfrm>
              <a:off x="0" y="-1"/>
              <a:ext cx="29718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Sipariş vermeyen müşteri</a:t>
              </a:r>
            </a:p>
          </p:txBody>
        </p:sp>
      </p:grpSp>
      <p:sp>
        <p:nvSpPr>
          <p:cNvPr id="522" name="Dikdörtgen"/>
          <p:cNvSpPr/>
          <p:nvPr/>
        </p:nvSpPr>
        <p:spPr>
          <a:xfrm>
            <a:off x="5903912" y="4514850"/>
            <a:ext cx="12702" cy="4762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25" name="Grupla"/>
          <p:cNvGrpSpPr/>
          <p:nvPr/>
        </p:nvGrpSpPr>
        <p:grpSpPr>
          <a:xfrm>
            <a:off x="6000750" y="4600574"/>
            <a:ext cx="5162550" cy="400051"/>
            <a:chOff x="0" y="0"/>
            <a:chExt cx="5162550" cy="400050"/>
          </a:xfrm>
        </p:grpSpPr>
        <p:sp>
          <p:nvSpPr>
            <p:cNvPr id="523" name="Dikdörtgen"/>
            <p:cNvSpPr/>
            <p:nvPr/>
          </p:nvSpPr>
          <p:spPr>
            <a:xfrm>
              <a:off x="0" y="0"/>
              <a:ext cx="5162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24" name="RFM segmentine dahil edilmedi"/>
            <p:cNvSpPr txBox="1"/>
            <p:nvPr/>
          </p:nvSpPr>
          <p:spPr>
            <a:xfrm>
              <a:off x="0" y="-1"/>
              <a:ext cx="51625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RFM segmentine dahil edilmedi</a:t>
              </a:r>
            </a:p>
          </p:txBody>
        </p:sp>
      </p:grpSp>
      <p:sp>
        <p:nvSpPr>
          <p:cNvPr id="526" name="Dikdörtgen"/>
          <p:cNvSpPr/>
          <p:nvPr/>
        </p:nvSpPr>
        <p:spPr>
          <a:xfrm>
            <a:off x="666750" y="4513262"/>
            <a:ext cx="105727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Dikdörtgen"/>
          <p:cNvSpPr/>
          <p:nvPr/>
        </p:nvSpPr>
        <p:spPr>
          <a:xfrm>
            <a:off x="7143750" y="4857750"/>
            <a:ext cx="3905250" cy="11049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Dikdörtgen"/>
          <p:cNvSpPr/>
          <p:nvPr/>
        </p:nvSpPr>
        <p:spPr>
          <a:xfrm>
            <a:off x="7105650" y="4800600"/>
            <a:ext cx="3905250" cy="11049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31" name="Grupla"/>
          <p:cNvGrpSpPr/>
          <p:nvPr/>
        </p:nvGrpSpPr>
        <p:grpSpPr>
          <a:xfrm>
            <a:off x="7277100" y="4933949"/>
            <a:ext cx="3562350" cy="190501"/>
            <a:chOff x="0" y="0"/>
            <a:chExt cx="3562350" cy="190500"/>
          </a:xfrm>
        </p:grpSpPr>
        <p:sp>
          <p:nvSpPr>
            <p:cNvPr id="529" name="Dikdörtgen"/>
            <p:cNvSpPr/>
            <p:nvPr/>
          </p:nvSpPr>
          <p:spPr>
            <a:xfrm>
              <a:off x="0" y="0"/>
              <a:ext cx="35623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30" name="Sıfıra bölme koruması"/>
            <p:cNvSpPr txBox="1"/>
            <p:nvPr/>
          </p:nvSpPr>
          <p:spPr>
            <a:xfrm>
              <a:off x="0" y="-1"/>
              <a:ext cx="35623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Sıfıra bölme koruması</a:t>
              </a:r>
            </a:p>
          </p:txBody>
        </p:sp>
      </p:grpSp>
      <p:grpSp>
        <p:nvGrpSpPr>
          <p:cNvPr id="534" name="Grupla"/>
          <p:cNvGrpSpPr/>
          <p:nvPr/>
        </p:nvGrpSpPr>
        <p:grpSpPr>
          <a:xfrm>
            <a:off x="7277100" y="5115517"/>
            <a:ext cx="4358334" cy="762001"/>
            <a:chOff x="0" y="0"/>
            <a:chExt cx="4358332" cy="762000"/>
          </a:xfrm>
        </p:grpSpPr>
        <p:sp>
          <p:nvSpPr>
            <p:cNvPr id="532" name="Dikdörtgen"/>
            <p:cNvSpPr/>
            <p:nvPr/>
          </p:nvSpPr>
          <p:spPr>
            <a:xfrm>
              <a:off x="0" y="0"/>
              <a:ext cx="4358333" cy="745812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533" name="df[&quot;satis_orani&quot;] = np.where(…"/>
            <p:cNvSpPr txBox="1"/>
            <p:nvPr/>
          </p:nvSpPr>
          <p:spPr>
            <a:xfrm>
              <a:off x="0" y="0"/>
              <a:ext cx="4358333" cy="762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df["satis_orani"] = np.where(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df["page_view"] &gt; 0,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df["satis_adedi"] / df["page_view"],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0.0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</p:txBody>
        </p:sp>
      </p:grpSp>
      <p:sp>
        <p:nvSpPr>
          <p:cNvPr id="535" name="Dikdörtgen"/>
          <p:cNvSpPr/>
          <p:nvPr/>
        </p:nvSpPr>
        <p:spPr>
          <a:xfrm>
            <a:off x="679831" y="6003925"/>
            <a:ext cx="9525001" cy="40005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38" name="Grupla"/>
          <p:cNvGrpSpPr/>
          <p:nvPr/>
        </p:nvGrpSpPr>
        <p:grpSpPr>
          <a:xfrm>
            <a:off x="832231" y="6118224"/>
            <a:ext cx="9220201" cy="228601"/>
            <a:chOff x="0" y="0"/>
            <a:chExt cx="9220200" cy="228600"/>
          </a:xfrm>
        </p:grpSpPr>
        <p:sp>
          <p:nvSpPr>
            <p:cNvPr id="536" name="Dikdörtgen"/>
            <p:cNvSpPr/>
            <p:nvPr/>
          </p:nvSpPr>
          <p:spPr>
            <a:xfrm>
              <a:off x="0" y="0"/>
              <a:ext cx="9220201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37" name="Bu kararlar modelin uydurma sinyaller öğrenmesini engeller ve dashboard KPI’larını gerçek satış kaynağına bağlar."/>
            <p:cNvSpPr txBox="1"/>
            <p:nvPr/>
          </p:nvSpPr>
          <p:spPr>
            <a:xfrm>
              <a:off x="0" y="-1"/>
              <a:ext cx="92202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kararlar modelin uydurma sinyaller öğrenmesini engeller ve dashboard KPI’larını gerçek satış kaynağına bağlar.</a:t>
              </a:r>
            </a:p>
          </p:txBody>
        </p:sp>
      </p:grpSp>
      <p:grpSp>
        <p:nvGrpSpPr>
          <p:cNvPr id="541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539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40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544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542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43" name="05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7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50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548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49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553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551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52" name="EDA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EDA</a:t>
              </a:r>
            </a:p>
          </p:txBody>
        </p:sp>
      </p:grpSp>
      <p:grpSp>
        <p:nvGrpSpPr>
          <p:cNvPr id="556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554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555" name="Keşifsel analiz: en büyük kayıp görüntülemeden sepete geçişte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Keşifsel analiz: en büyük kayıp görüntülemeden sepete geçişte</a:t>
              </a:r>
            </a:p>
          </p:txBody>
        </p:sp>
      </p:grpSp>
      <p:grpSp>
        <p:nvGrpSpPr>
          <p:cNvPr id="559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557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58" name="Satın alma sürecinin her adımı ayrı incelendi; böylece model öncesi problem alanı netleşti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Satın alma sürecinin her adımı ayrı incelendi; böylece model öncesi problem alanı netleşti.</a:t>
              </a:r>
            </a:p>
          </p:txBody>
        </p:sp>
      </p:grpSp>
      <p:pic>
        <p:nvPicPr>
          <p:cNvPr id="560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2012681"/>
            <a:ext cx="6858000" cy="3080288"/>
          </a:xfrm>
          <a:prstGeom prst="rect">
            <a:avLst/>
          </a:prstGeom>
          <a:ln w="12700">
            <a:miter lim="400000"/>
          </a:ln>
        </p:spPr>
      </p:pic>
      <p:sp>
        <p:nvSpPr>
          <p:cNvPr id="561" name="Dikdörtgen"/>
          <p:cNvSpPr/>
          <p:nvPr/>
        </p:nvSpPr>
        <p:spPr>
          <a:xfrm>
            <a:off x="8058150" y="2133600"/>
            <a:ext cx="20955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Dikdörtgen"/>
          <p:cNvSpPr/>
          <p:nvPr/>
        </p:nvSpPr>
        <p:spPr>
          <a:xfrm>
            <a:off x="8020050" y="2076450"/>
            <a:ext cx="20955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Dikdörtgen"/>
          <p:cNvSpPr/>
          <p:nvPr/>
        </p:nvSpPr>
        <p:spPr>
          <a:xfrm>
            <a:off x="8020050" y="2076450"/>
            <a:ext cx="57150" cy="1028700"/>
          </a:xfrm>
          <a:prstGeom prst="rect">
            <a:avLst/>
          </a:prstGeom>
          <a:solidFill>
            <a:srgbClr val="18345C"/>
          </a:solidFill>
          <a:ln w="3175">
            <a:solidFill>
              <a:srgbClr val="18345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66" name="Grupla"/>
          <p:cNvGrpSpPr/>
          <p:nvPr/>
        </p:nvGrpSpPr>
        <p:grpSpPr>
          <a:xfrm>
            <a:off x="8210550" y="2247899"/>
            <a:ext cx="1714500" cy="152401"/>
            <a:chOff x="0" y="0"/>
            <a:chExt cx="1714500" cy="152400"/>
          </a:xfrm>
        </p:grpSpPr>
        <p:sp>
          <p:nvSpPr>
            <p:cNvPr id="564" name="Dikdörtgen"/>
            <p:cNvSpPr/>
            <p:nvPr/>
          </p:nvSpPr>
          <p:spPr>
            <a:xfrm>
              <a:off x="0" y="0"/>
              <a:ext cx="17145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65" name="SAYFA GÖRÜNTÜLEME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SAYFA GÖRÜNTÜLEME</a:t>
              </a:r>
            </a:p>
          </p:txBody>
        </p:sp>
      </p:grpSp>
      <p:grpSp>
        <p:nvGrpSpPr>
          <p:cNvPr id="569" name="Grupla"/>
          <p:cNvGrpSpPr/>
          <p:nvPr/>
        </p:nvGrpSpPr>
        <p:grpSpPr>
          <a:xfrm>
            <a:off x="8210550" y="2476499"/>
            <a:ext cx="1714500" cy="361951"/>
            <a:chOff x="0" y="0"/>
            <a:chExt cx="1714500" cy="361950"/>
          </a:xfrm>
        </p:grpSpPr>
        <p:sp>
          <p:nvSpPr>
            <p:cNvPr id="567" name="Dikdörtgen"/>
            <p:cNvSpPr/>
            <p:nvPr/>
          </p:nvSpPr>
          <p:spPr>
            <a:xfrm>
              <a:off x="0" y="0"/>
              <a:ext cx="17145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68" name="539K"/>
            <p:cNvSpPr txBox="1"/>
            <p:nvPr/>
          </p:nvSpPr>
          <p:spPr>
            <a:xfrm>
              <a:off x="0" y="-1"/>
              <a:ext cx="17145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539K</a:t>
              </a:r>
            </a:p>
          </p:txBody>
        </p:sp>
      </p:grpSp>
      <p:grpSp>
        <p:nvGrpSpPr>
          <p:cNvPr id="572" name="Grupla"/>
          <p:cNvGrpSpPr/>
          <p:nvPr/>
        </p:nvGrpSpPr>
        <p:grpSpPr>
          <a:xfrm>
            <a:off x="8210550" y="2857499"/>
            <a:ext cx="1714500" cy="171451"/>
            <a:chOff x="0" y="0"/>
            <a:chExt cx="1714500" cy="171450"/>
          </a:xfrm>
        </p:grpSpPr>
        <p:sp>
          <p:nvSpPr>
            <p:cNvPr id="570" name="Dikdörtgen"/>
            <p:cNvSpPr/>
            <p:nvPr/>
          </p:nvSpPr>
          <p:spPr>
            <a:xfrm>
              <a:off x="0" y="0"/>
              <a:ext cx="1714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71" name="başlangıç adımı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başlangıç adımı</a:t>
              </a:r>
            </a:p>
          </p:txBody>
        </p:sp>
      </p:grpSp>
      <p:sp>
        <p:nvSpPr>
          <p:cNvPr id="573" name="Dikdörtgen"/>
          <p:cNvSpPr/>
          <p:nvPr/>
        </p:nvSpPr>
        <p:spPr>
          <a:xfrm>
            <a:off x="8058150" y="3390900"/>
            <a:ext cx="20955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Dikdörtgen"/>
          <p:cNvSpPr/>
          <p:nvPr/>
        </p:nvSpPr>
        <p:spPr>
          <a:xfrm>
            <a:off x="8020050" y="3333750"/>
            <a:ext cx="20955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5" name="Dikdörtgen"/>
          <p:cNvSpPr/>
          <p:nvPr/>
        </p:nvSpPr>
        <p:spPr>
          <a:xfrm>
            <a:off x="8020050" y="3333750"/>
            <a:ext cx="57150" cy="10287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78" name="Grupla"/>
          <p:cNvGrpSpPr/>
          <p:nvPr/>
        </p:nvGrpSpPr>
        <p:grpSpPr>
          <a:xfrm>
            <a:off x="8210550" y="3505199"/>
            <a:ext cx="1714500" cy="152401"/>
            <a:chOff x="0" y="0"/>
            <a:chExt cx="1714500" cy="152400"/>
          </a:xfrm>
        </p:grpSpPr>
        <p:sp>
          <p:nvSpPr>
            <p:cNvPr id="576" name="Dikdörtgen"/>
            <p:cNvSpPr/>
            <p:nvPr/>
          </p:nvSpPr>
          <p:spPr>
            <a:xfrm>
              <a:off x="0" y="0"/>
              <a:ext cx="17145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77" name="SEPETE EKLEME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SEPETE EKLEME</a:t>
              </a:r>
            </a:p>
          </p:txBody>
        </p:sp>
      </p:grpSp>
      <p:grpSp>
        <p:nvGrpSpPr>
          <p:cNvPr id="581" name="Grupla"/>
          <p:cNvGrpSpPr/>
          <p:nvPr/>
        </p:nvGrpSpPr>
        <p:grpSpPr>
          <a:xfrm>
            <a:off x="8210550" y="3733799"/>
            <a:ext cx="1714500" cy="361951"/>
            <a:chOff x="0" y="0"/>
            <a:chExt cx="1714500" cy="361950"/>
          </a:xfrm>
        </p:grpSpPr>
        <p:sp>
          <p:nvSpPr>
            <p:cNvPr id="579" name="Dikdörtgen"/>
            <p:cNvSpPr/>
            <p:nvPr/>
          </p:nvSpPr>
          <p:spPr>
            <a:xfrm>
              <a:off x="0" y="0"/>
              <a:ext cx="17145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80" name="26.5%"/>
            <p:cNvSpPr txBox="1"/>
            <p:nvPr/>
          </p:nvSpPr>
          <p:spPr>
            <a:xfrm>
              <a:off x="0" y="-1"/>
              <a:ext cx="17145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26.5%</a:t>
              </a:r>
            </a:p>
          </p:txBody>
        </p:sp>
      </p:grpSp>
      <p:grpSp>
        <p:nvGrpSpPr>
          <p:cNvPr id="584" name="Grupla"/>
          <p:cNvGrpSpPr/>
          <p:nvPr/>
        </p:nvGrpSpPr>
        <p:grpSpPr>
          <a:xfrm>
            <a:off x="8210550" y="4114799"/>
            <a:ext cx="1714500" cy="171451"/>
            <a:chOff x="0" y="0"/>
            <a:chExt cx="1714500" cy="171450"/>
          </a:xfrm>
        </p:grpSpPr>
        <p:sp>
          <p:nvSpPr>
            <p:cNvPr id="582" name="Dikdörtgen"/>
            <p:cNvSpPr/>
            <p:nvPr/>
          </p:nvSpPr>
          <p:spPr>
            <a:xfrm>
              <a:off x="0" y="0"/>
              <a:ext cx="1714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83" name="görüntülemeden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görüntülemeden</a:t>
              </a:r>
            </a:p>
          </p:txBody>
        </p:sp>
      </p:grpSp>
      <p:sp>
        <p:nvSpPr>
          <p:cNvPr id="585" name="Dikdörtgen"/>
          <p:cNvSpPr/>
          <p:nvPr/>
        </p:nvSpPr>
        <p:spPr>
          <a:xfrm>
            <a:off x="8058150" y="4648200"/>
            <a:ext cx="20955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6" name="Dikdörtgen"/>
          <p:cNvSpPr/>
          <p:nvPr/>
        </p:nvSpPr>
        <p:spPr>
          <a:xfrm>
            <a:off x="8020050" y="4591050"/>
            <a:ext cx="20955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7" name="Dikdörtgen"/>
          <p:cNvSpPr/>
          <p:nvPr/>
        </p:nvSpPr>
        <p:spPr>
          <a:xfrm>
            <a:off x="8020050" y="4591050"/>
            <a:ext cx="57150" cy="10287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590" name="Grupla"/>
          <p:cNvGrpSpPr/>
          <p:nvPr/>
        </p:nvGrpSpPr>
        <p:grpSpPr>
          <a:xfrm>
            <a:off x="8210550" y="4762499"/>
            <a:ext cx="1714500" cy="152401"/>
            <a:chOff x="0" y="0"/>
            <a:chExt cx="1714500" cy="152400"/>
          </a:xfrm>
        </p:grpSpPr>
        <p:sp>
          <p:nvSpPr>
            <p:cNvPr id="588" name="Dikdörtgen"/>
            <p:cNvSpPr/>
            <p:nvPr/>
          </p:nvSpPr>
          <p:spPr>
            <a:xfrm>
              <a:off x="0" y="0"/>
              <a:ext cx="17145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89" name="GENEL DÖNÜŞÜM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GENEL DÖNÜŞÜM</a:t>
              </a:r>
            </a:p>
          </p:txBody>
        </p:sp>
      </p:grpSp>
      <p:grpSp>
        <p:nvGrpSpPr>
          <p:cNvPr id="593" name="Grupla"/>
          <p:cNvGrpSpPr/>
          <p:nvPr/>
        </p:nvGrpSpPr>
        <p:grpSpPr>
          <a:xfrm>
            <a:off x="8210550" y="4991099"/>
            <a:ext cx="1714500" cy="361951"/>
            <a:chOff x="0" y="0"/>
            <a:chExt cx="1714500" cy="361950"/>
          </a:xfrm>
        </p:grpSpPr>
        <p:sp>
          <p:nvSpPr>
            <p:cNvPr id="591" name="Dikdörtgen"/>
            <p:cNvSpPr/>
            <p:nvPr/>
          </p:nvSpPr>
          <p:spPr>
            <a:xfrm>
              <a:off x="0" y="0"/>
              <a:ext cx="17145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92" name="6.23%"/>
            <p:cNvSpPr txBox="1"/>
            <p:nvPr/>
          </p:nvSpPr>
          <p:spPr>
            <a:xfrm>
              <a:off x="0" y="-1"/>
              <a:ext cx="17145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6.23%</a:t>
              </a:r>
            </a:p>
          </p:txBody>
        </p:sp>
      </p:grpSp>
      <p:grpSp>
        <p:nvGrpSpPr>
          <p:cNvPr id="596" name="Grupla"/>
          <p:cNvGrpSpPr/>
          <p:nvPr/>
        </p:nvGrpSpPr>
        <p:grpSpPr>
          <a:xfrm>
            <a:off x="8210550" y="5372099"/>
            <a:ext cx="1714500" cy="171451"/>
            <a:chOff x="0" y="0"/>
            <a:chExt cx="1714500" cy="171450"/>
          </a:xfrm>
        </p:grpSpPr>
        <p:sp>
          <p:nvSpPr>
            <p:cNvPr id="594" name="Dikdörtgen"/>
            <p:cNvSpPr/>
            <p:nvPr/>
          </p:nvSpPr>
          <p:spPr>
            <a:xfrm>
              <a:off x="0" y="0"/>
              <a:ext cx="1714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95" name="purchase/page_view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purchase/page_view</a:t>
              </a:r>
            </a:p>
          </p:txBody>
        </p:sp>
      </p:grpSp>
      <p:sp>
        <p:nvSpPr>
          <p:cNvPr id="597" name="Dikdörtgen"/>
          <p:cNvSpPr/>
          <p:nvPr/>
        </p:nvSpPr>
        <p:spPr>
          <a:xfrm>
            <a:off x="781050" y="5757862"/>
            <a:ext cx="8858250" cy="514352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00" name="Grupla"/>
          <p:cNvGrpSpPr/>
          <p:nvPr/>
        </p:nvGrpSpPr>
        <p:grpSpPr>
          <a:xfrm>
            <a:off x="933450" y="5872162"/>
            <a:ext cx="8553450" cy="342902"/>
            <a:chOff x="0" y="0"/>
            <a:chExt cx="8553450" cy="342900"/>
          </a:xfrm>
        </p:grpSpPr>
        <p:sp>
          <p:nvSpPr>
            <p:cNvPr id="598" name="Dikdörtgen"/>
            <p:cNvSpPr/>
            <p:nvPr/>
          </p:nvSpPr>
          <p:spPr>
            <a:xfrm>
              <a:off x="0" y="0"/>
              <a:ext cx="8553450" cy="3429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99" name="Yorum: Checkout’a gelenlerin %74.8’i satın alıyor. Asıl kayıp ürün görüntülemeden sepete eklemeye geçişte."/>
            <p:cNvSpPr txBox="1"/>
            <p:nvPr/>
          </p:nvSpPr>
          <p:spPr>
            <a:xfrm>
              <a:off x="0" y="0"/>
              <a:ext cx="85534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Yorum: Checkout’a gelenlerin %74.8’i satın alıyor. Asıl kayıp ürün görüntülemeden sepete eklemeye geçişte.</a:t>
              </a:r>
            </a:p>
          </p:txBody>
        </p:sp>
      </p:grpSp>
      <p:grpSp>
        <p:nvGrpSpPr>
          <p:cNvPr id="603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601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02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606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604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05" name="06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9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12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610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11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615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613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14" name="Metodoloji 3/5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Metodoloji 3/5</a:t>
              </a:r>
            </a:p>
          </p:txBody>
        </p:sp>
      </p:grpSp>
      <p:grpSp>
        <p:nvGrpSpPr>
          <p:cNvPr id="618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616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617" name="Ürün bazlı analitik tablo: her satır bir ürünü temsil eder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Ürün bazlı analitik tablo: her satır bir ürünü temsil eder</a:t>
              </a:r>
            </a:p>
          </p:txBody>
        </p:sp>
      </p:grpSp>
      <p:grpSp>
        <p:nvGrpSpPr>
          <p:cNvPr id="621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619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20" name="Bu tablo ürünün genel performansını ölçer; kişisel tahmin modeli için yardımcı ürün sinyali sağla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tablo ürünün genel performansını ölçer; kişisel tahmin modeli için yardımcı ürün sinyali sağlar.</a:t>
              </a:r>
            </a:p>
          </p:txBody>
        </p:sp>
      </p:grpSp>
      <p:sp>
        <p:nvSpPr>
          <p:cNvPr id="622" name="Dikdörtgen"/>
          <p:cNvSpPr/>
          <p:nvPr/>
        </p:nvSpPr>
        <p:spPr>
          <a:xfrm>
            <a:off x="781050" y="2057400"/>
            <a:ext cx="2190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3" name="Dikdörtgen"/>
          <p:cNvSpPr/>
          <p:nvPr/>
        </p:nvSpPr>
        <p:spPr>
          <a:xfrm>
            <a:off x="742950" y="2000250"/>
            <a:ext cx="2190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4" name="Dikdörtgen"/>
          <p:cNvSpPr/>
          <p:nvPr/>
        </p:nvSpPr>
        <p:spPr>
          <a:xfrm>
            <a:off x="742950" y="2000250"/>
            <a:ext cx="57150" cy="10287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27" name="Grupla"/>
          <p:cNvGrpSpPr/>
          <p:nvPr/>
        </p:nvGrpSpPr>
        <p:grpSpPr>
          <a:xfrm>
            <a:off x="933450" y="2171699"/>
            <a:ext cx="1809750" cy="152401"/>
            <a:chOff x="0" y="0"/>
            <a:chExt cx="1809750" cy="152400"/>
          </a:xfrm>
        </p:grpSpPr>
        <p:sp>
          <p:nvSpPr>
            <p:cNvPr id="625" name="Dikdörtgen"/>
            <p:cNvSpPr/>
            <p:nvPr/>
          </p:nvSpPr>
          <p:spPr>
            <a:xfrm>
              <a:off x="0" y="0"/>
              <a:ext cx="1809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26" name="TABLO BOYUTU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TABLO BOYUTU</a:t>
              </a:r>
            </a:p>
          </p:txBody>
        </p:sp>
      </p:grpSp>
      <p:grpSp>
        <p:nvGrpSpPr>
          <p:cNvPr id="630" name="Grupla"/>
          <p:cNvGrpSpPr/>
          <p:nvPr/>
        </p:nvGrpSpPr>
        <p:grpSpPr>
          <a:xfrm>
            <a:off x="933450" y="2400299"/>
            <a:ext cx="1809750" cy="361951"/>
            <a:chOff x="0" y="0"/>
            <a:chExt cx="1809750" cy="361950"/>
          </a:xfrm>
        </p:grpSpPr>
        <p:sp>
          <p:nvSpPr>
            <p:cNvPr id="628" name="Dikdörtgen"/>
            <p:cNvSpPr/>
            <p:nvPr/>
          </p:nvSpPr>
          <p:spPr>
            <a:xfrm>
              <a:off x="0" y="0"/>
              <a:ext cx="1809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29" name="1.197 x 15"/>
            <p:cNvSpPr txBox="1"/>
            <p:nvPr/>
          </p:nvSpPr>
          <p:spPr>
            <a:xfrm>
              <a:off x="0" y="-1"/>
              <a:ext cx="1809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1.197 x 15</a:t>
              </a:r>
            </a:p>
          </p:txBody>
        </p:sp>
      </p:grpSp>
      <p:grpSp>
        <p:nvGrpSpPr>
          <p:cNvPr id="633" name="Grupla"/>
          <p:cNvGrpSpPr/>
          <p:nvPr/>
        </p:nvGrpSpPr>
        <p:grpSpPr>
          <a:xfrm>
            <a:off x="933450" y="2781299"/>
            <a:ext cx="1809750" cy="171451"/>
            <a:chOff x="0" y="0"/>
            <a:chExt cx="1809750" cy="171450"/>
          </a:xfrm>
        </p:grpSpPr>
        <p:sp>
          <p:nvSpPr>
            <p:cNvPr id="631" name="Dikdörtgen"/>
            <p:cNvSpPr/>
            <p:nvPr/>
          </p:nvSpPr>
          <p:spPr>
            <a:xfrm>
              <a:off x="0" y="0"/>
              <a:ext cx="1809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32" name="urun_analitik.csv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urun_analitik.csv</a:t>
              </a:r>
            </a:p>
          </p:txBody>
        </p:sp>
      </p:grpSp>
      <p:sp>
        <p:nvSpPr>
          <p:cNvPr id="634" name="Dikdörtgen"/>
          <p:cNvSpPr/>
          <p:nvPr/>
        </p:nvSpPr>
        <p:spPr>
          <a:xfrm>
            <a:off x="3257550" y="2057400"/>
            <a:ext cx="2190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5" name="Dikdörtgen"/>
          <p:cNvSpPr/>
          <p:nvPr/>
        </p:nvSpPr>
        <p:spPr>
          <a:xfrm>
            <a:off x="3219450" y="2000250"/>
            <a:ext cx="2190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Dikdörtgen"/>
          <p:cNvSpPr/>
          <p:nvPr/>
        </p:nvSpPr>
        <p:spPr>
          <a:xfrm>
            <a:off x="3219450" y="2000250"/>
            <a:ext cx="57150" cy="10287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39" name="Grupla"/>
          <p:cNvGrpSpPr/>
          <p:nvPr/>
        </p:nvGrpSpPr>
        <p:grpSpPr>
          <a:xfrm>
            <a:off x="3409950" y="2171699"/>
            <a:ext cx="1809750" cy="152401"/>
            <a:chOff x="0" y="0"/>
            <a:chExt cx="1809750" cy="152400"/>
          </a:xfrm>
        </p:grpSpPr>
        <p:sp>
          <p:nvSpPr>
            <p:cNvPr id="637" name="Dikdörtgen"/>
            <p:cNvSpPr/>
            <p:nvPr/>
          </p:nvSpPr>
          <p:spPr>
            <a:xfrm>
              <a:off x="0" y="0"/>
              <a:ext cx="1809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38" name="EVENT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EVENT</a:t>
              </a:r>
            </a:p>
          </p:txBody>
        </p:sp>
      </p:grpSp>
      <p:grpSp>
        <p:nvGrpSpPr>
          <p:cNvPr id="642" name="Grupla"/>
          <p:cNvGrpSpPr/>
          <p:nvPr/>
        </p:nvGrpSpPr>
        <p:grpSpPr>
          <a:xfrm>
            <a:off x="3409950" y="2400299"/>
            <a:ext cx="1809750" cy="361951"/>
            <a:chOff x="0" y="0"/>
            <a:chExt cx="1809750" cy="361950"/>
          </a:xfrm>
        </p:grpSpPr>
        <p:sp>
          <p:nvSpPr>
            <p:cNvPr id="640" name="Dikdörtgen"/>
            <p:cNvSpPr/>
            <p:nvPr/>
          </p:nvSpPr>
          <p:spPr>
            <a:xfrm>
              <a:off x="0" y="0"/>
              <a:ext cx="1809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41" name="760.958"/>
            <p:cNvSpPr txBox="1"/>
            <p:nvPr/>
          </p:nvSpPr>
          <p:spPr>
            <a:xfrm>
              <a:off x="0" y="-1"/>
              <a:ext cx="1809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760.958</a:t>
              </a:r>
            </a:p>
          </p:txBody>
        </p:sp>
      </p:grpSp>
      <p:grpSp>
        <p:nvGrpSpPr>
          <p:cNvPr id="645" name="Grupla"/>
          <p:cNvGrpSpPr/>
          <p:nvPr/>
        </p:nvGrpSpPr>
        <p:grpSpPr>
          <a:xfrm>
            <a:off x="3409950" y="2781299"/>
            <a:ext cx="1809750" cy="171451"/>
            <a:chOff x="0" y="0"/>
            <a:chExt cx="1809750" cy="171450"/>
          </a:xfrm>
        </p:grpSpPr>
        <p:sp>
          <p:nvSpPr>
            <p:cNvPr id="643" name="Dikdörtgen"/>
            <p:cNvSpPr/>
            <p:nvPr/>
          </p:nvSpPr>
          <p:spPr>
            <a:xfrm>
              <a:off x="0" y="0"/>
              <a:ext cx="1809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44" name="özetlendi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özetlendi</a:t>
              </a:r>
            </a:p>
          </p:txBody>
        </p:sp>
      </p:grpSp>
      <p:sp>
        <p:nvSpPr>
          <p:cNvPr id="646" name="Dikdörtgen"/>
          <p:cNvSpPr/>
          <p:nvPr/>
        </p:nvSpPr>
        <p:spPr>
          <a:xfrm>
            <a:off x="5734050" y="2057400"/>
            <a:ext cx="2190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7" name="Dikdörtgen"/>
          <p:cNvSpPr/>
          <p:nvPr/>
        </p:nvSpPr>
        <p:spPr>
          <a:xfrm>
            <a:off x="5695950" y="2000250"/>
            <a:ext cx="2190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8" name="Dikdörtgen"/>
          <p:cNvSpPr/>
          <p:nvPr/>
        </p:nvSpPr>
        <p:spPr>
          <a:xfrm>
            <a:off x="5695950" y="2000250"/>
            <a:ext cx="57150" cy="10287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51" name="Grupla"/>
          <p:cNvGrpSpPr/>
          <p:nvPr/>
        </p:nvGrpSpPr>
        <p:grpSpPr>
          <a:xfrm>
            <a:off x="5886450" y="2171699"/>
            <a:ext cx="1809750" cy="152401"/>
            <a:chOff x="0" y="0"/>
            <a:chExt cx="1809750" cy="152400"/>
          </a:xfrm>
        </p:grpSpPr>
        <p:sp>
          <p:nvSpPr>
            <p:cNvPr id="649" name="Dikdörtgen"/>
            <p:cNvSpPr/>
            <p:nvPr/>
          </p:nvSpPr>
          <p:spPr>
            <a:xfrm>
              <a:off x="0" y="0"/>
              <a:ext cx="1809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50" name="SİPARİŞ KALEMİ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SİPARİŞ KALEMİ</a:t>
              </a:r>
            </a:p>
          </p:txBody>
        </p:sp>
      </p:grpSp>
      <p:grpSp>
        <p:nvGrpSpPr>
          <p:cNvPr id="654" name="Grupla"/>
          <p:cNvGrpSpPr/>
          <p:nvPr/>
        </p:nvGrpSpPr>
        <p:grpSpPr>
          <a:xfrm>
            <a:off x="5886450" y="2400299"/>
            <a:ext cx="1809750" cy="361951"/>
            <a:chOff x="0" y="0"/>
            <a:chExt cx="1809750" cy="361950"/>
          </a:xfrm>
        </p:grpSpPr>
        <p:sp>
          <p:nvSpPr>
            <p:cNvPr id="652" name="Dikdörtgen"/>
            <p:cNvSpPr/>
            <p:nvPr/>
          </p:nvSpPr>
          <p:spPr>
            <a:xfrm>
              <a:off x="0" y="0"/>
              <a:ext cx="1809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53" name="59.163"/>
            <p:cNvSpPr txBox="1"/>
            <p:nvPr/>
          </p:nvSpPr>
          <p:spPr>
            <a:xfrm>
              <a:off x="0" y="-1"/>
              <a:ext cx="1809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59.163</a:t>
              </a:r>
            </a:p>
          </p:txBody>
        </p:sp>
      </p:grpSp>
      <p:grpSp>
        <p:nvGrpSpPr>
          <p:cNvPr id="657" name="Grupla"/>
          <p:cNvGrpSpPr/>
          <p:nvPr/>
        </p:nvGrpSpPr>
        <p:grpSpPr>
          <a:xfrm>
            <a:off x="5886450" y="2781299"/>
            <a:ext cx="1809750" cy="171451"/>
            <a:chOff x="0" y="0"/>
            <a:chExt cx="1809750" cy="171450"/>
          </a:xfrm>
        </p:grpSpPr>
        <p:sp>
          <p:nvSpPr>
            <p:cNvPr id="655" name="Dikdörtgen"/>
            <p:cNvSpPr/>
            <p:nvPr/>
          </p:nvSpPr>
          <p:spPr>
            <a:xfrm>
              <a:off x="0" y="0"/>
              <a:ext cx="1809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56" name="satış kaynağı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satış kaynağı</a:t>
              </a:r>
            </a:p>
          </p:txBody>
        </p:sp>
      </p:grpSp>
      <p:sp>
        <p:nvSpPr>
          <p:cNvPr id="658" name="Dikdörtgen"/>
          <p:cNvSpPr/>
          <p:nvPr/>
        </p:nvSpPr>
        <p:spPr>
          <a:xfrm>
            <a:off x="8210550" y="2057400"/>
            <a:ext cx="21907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9" name="Dikdörtgen"/>
          <p:cNvSpPr/>
          <p:nvPr/>
        </p:nvSpPr>
        <p:spPr>
          <a:xfrm>
            <a:off x="8172450" y="2000250"/>
            <a:ext cx="21907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0" name="Dikdörtgen"/>
          <p:cNvSpPr/>
          <p:nvPr/>
        </p:nvSpPr>
        <p:spPr>
          <a:xfrm>
            <a:off x="8172450" y="2000250"/>
            <a:ext cx="57150" cy="1028700"/>
          </a:xfrm>
          <a:prstGeom prst="rect">
            <a:avLst/>
          </a:prstGeom>
          <a:solidFill>
            <a:srgbClr val="F2B632"/>
          </a:solidFill>
          <a:ln w="3175">
            <a:solidFill>
              <a:srgbClr val="F2B632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63" name="Grupla"/>
          <p:cNvGrpSpPr/>
          <p:nvPr/>
        </p:nvGrpSpPr>
        <p:grpSpPr>
          <a:xfrm>
            <a:off x="8362950" y="2171699"/>
            <a:ext cx="1809750" cy="152401"/>
            <a:chOff x="0" y="0"/>
            <a:chExt cx="1809750" cy="152400"/>
          </a:xfrm>
        </p:grpSpPr>
        <p:sp>
          <p:nvSpPr>
            <p:cNvPr id="661" name="Dikdörtgen"/>
            <p:cNvSpPr/>
            <p:nvPr/>
          </p:nvSpPr>
          <p:spPr>
            <a:xfrm>
              <a:off x="0" y="0"/>
              <a:ext cx="18097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62" name="YORUM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YORUM</a:t>
              </a:r>
            </a:p>
          </p:txBody>
        </p:sp>
      </p:grpSp>
      <p:grpSp>
        <p:nvGrpSpPr>
          <p:cNvPr id="666" name="Grupla"/>
          <p:cNvGrpSpPr/>
          <p:nvPr/>
        </p:nvGrpSpPr>
        <p:grpSpPr>
          <a:xfrm>
            <a:off x="8362950" y="2400299"/>
            <a:ext cx="1809750" cy="361951"/>
            <a:chOff x="0" y="0"/>
            <a:chExt cx="1809750" cy="361950"/>
          </a:xfrm>
        </p:grpSpPr>
        <p:sp>
          <p:nvSpPr>
            <p:cNvPr id="664" name="Dikdörtgen"/>
            <p:cNvSpPr/>
            <p:nvPr/>
          </p:nvSpPr>
          <p:spPr>
            <a:xfrm>
              <a:off x="0" y="0"/>
              <a:ext cx="1809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65" name="10.780"/>
            <p:cNvSpPr txBox="1"/>
            <p:nvPr/>
          </p:nvSpPr>
          <p:spPr>
            <a:xfrm>
              <a:off x="0" y="-1"/>
              <a:ext cx="18097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10.780</a:t>
              </a:r>
            </a:p>
          </p:txBody>
        </p:sp>
      </p:grpSp>
      <p:grpSp>
        <p:nvGrpSpPr>
          <p:cNvPr id="669" name="Grupla"/>
          <p:cNvGrpSpPr/>
          <p:nvPr/>
        </p:nvGrpSpPr>
        <p:grpSpPr>
          <a:xfrm>
            <a:off x="8362950" y="2781299"/>
            <a:ext cx="1809750" cy="171451"/>
            <a:chOff x="0" y="0"/>
            <a:chExt cx="1809750" cy="171450"/>
          </a:xfrm>
        </p:grpSpPr>
        <p:sp>
          <p:nvSpPr>
            <p:cNvPr id="667" name="Dikdörtgen"/>
            <p:cNvSpPr/>
            <p:nvPr/>
          </p:nvSpPr>
          <p:spPr>
            <a:xfrm>
              <a:off x="0" y="0"/>
              <a:ext cx="1809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68" name="duygu kaynağı"/>
            <p:cNvSpPr txBox="1"/>
            <p:nvPr/>
          </p:nvSpPr>
          <p:spPr>
            <a:xfrm>
              <a:off x="0" y="-1"/>
              <a:ext cx="1809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duygu kaynağı</a:t>
              </a:r>
            </a:p>
          </p:txBody>
        </p:sp>
      </p:grpSp>
      <p:sp>
        <p:nvSpPr>
          <p:cNvPr id="670" name="Dikdörtgen"/>
          <p:cNvSpPr/>
          <p:nvPr/>
        </p:nvSpPr>
        <p:spPr>
          <a:xfrm>
            <a:off x="895350" y="3676650"/>
            <a:ext cx="4953000" cy="1619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1" name="Dikdörtgen"/>
          <p:cNvSpPr/>
          <p:nvPr/>
        </p:nvSpPr>
        <p:spPr>
          <a:xfrm>
            <a:off x="857250" y="3619500"/>
            <a:ext cx="4953000" cy="16192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74" name="Grupla"/>
          <p:cNvGrpSpPr/>
          <p:nvPr/>
        </p:nvGrpSpPr>
        <p:grpSpPr>
          <a:xfrm>
            <a:off x="1028700" y="3752849"/>
            <a:ext cx="4610100" cy="190501"/>
            <a:chOff x="0" y="0"/>
            <a:chExt cx="4610100" cy="190500"/>
          </a:xfrm>
        </p:grpSpPr>
        <p:sp>
          <p:nvSpPr>
            <p:cNvPr id="672" name="Dikdörtgen"/>
            <p:cNvSpPr/>
            <p:nvPr/>
          </p:nvSpPr>
          <p:spPr>
            <a:xfrm>
              <a:off x="0" y="0"/>
              <a:ext cx="4610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73" name="Ürün tablosu birleştirme kodu"/>
            <p:cNvSpPr txBox="1"/>
            <p:nvPr/>
          </p:nvSpPr>
          <p:spPr>
            <a:xfrm>
              <a:off x="0" y="-1"/>
              <a:ext cx="46101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tablosu birleştirme kodu</a:t>
              </a:r>
            </a:p>
          </p:txBody>
        </p:sp>
      </p:grpSp>
      <p:grpSp>
        <p:nvGrpSpPr>
          <p:cNvPr id="677" name="Grupla"/>
          <p:cNvGrpSpPr/>
          <p:nvPr/>
        </p:nvGrpSpPr>
        <p:grpSpPr>
          <a:xfrm>
            <a:off x="1028700" y="4019549"/>
            <a:ext cx="4610100" cy="1123951"/>
            <a:chOff x="0" y="0"/>
            <a:chExt cx="4610100" cy="1123950"/>
          </a:xfrm>
        </p:grpSpPr>
        <p:sp>
          <p:nvSpPr>
            <p:cNvPr id="675" name="Dikdörtgen"/>
            <p:cNvSpPr/>
            <p:nvPr/>
          </p:nvSpPr>
          <p:spPr>
            <a:xfrm>
              <a:off x="0" y="0"/>
              <a:ext cx="4610100" cy="1123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676" name="urun_analitik = (…"/>
            <p:cNvSpPr txBox="1"/>
            <p:nvPr/>
          </p:nvSpPr>
          <p:spPr>
            <a:xfrm>
              <a:off x="0" y="-1"/>
              <a:ext cx="4610100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urun_analitik = 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products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.merge(event_sayilari, on="product_id", how="left")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.merge(satislar,       on="product_id", how="left")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.merge(yorumlar,       on="product_id", how="left")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</p:txBody>
        </p:sp>
      </p:grpSp>
      <p:sp>
        <p:nvSpPr>
          <p:cNvPr id="678" name="Kare"/>
          <p:cNvSpPr/>
          <p:nvPr/>
        </p:nvSpPr>
        <p:spPr>
          <a:xfrm>
            <a:off x="6477000" y="376237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81" name="Grupla"/>
          <p:cNvGrpSpPr/>
          <p:nvPr/>
        </p:nvGrpSpPr>
        <p:grpSpPr>
          <a:xfrm>
            <a:off x="6648450" y="3695699"/>
            <a:ext cx="4210050" cy="400051"/>
            <a:chOff x="0" y="0"/>
            <a:chExt cx="4210050" cy="400050"/>
          </a:xfrm>
        </p:grpSpPr>
        <p:sp>
          <p:nvSpPr>
            <p:cNvPr id="679" name="Dikdörtgen"/>
            <p:cNvSpPr/>
            <p:nvPr/>
          </p:nvSpPr>
          <p:spPr>
            <a:xfrm>
              <a:off x="0" y="0"/>
              <a:ext cx="4210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80" name="page_view ve add_to_cart eventlerden gelir."/>
            <p:cNvSpPr txBox="1"/>
            <p:nvPr/>
          </p:nvSpPr>
          <p:spPr>
            <a:xfrm>
              <a:off x="0" y="-1"/>
              <a:ext cx="42100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page_view ve add_to_cart eventlerden gelir.</a:t>
              </a:r>
            </a:p>
          </p:txBody>
        </p:sp>
      </p:grpSp>
      <p:sp>
        <p:nvSpPr>
          <p:cNvPr id="682" name="Kare"/>
          <p:cNvSpPr/>
          <p:nvPr/>
        </p:nvSpPr>
        <p:spPr>
          <a:xfrm>
            <a:off x="6477000" y="41243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85" name="Grupla"/>
          <p:cNvGrpSpPr/>
          <p:nvPr/>
        </p:nvGrpSpPr>
        <p:grpSpPr>
          <a:xfrm>
            <a:off x="6648450" y="4057649"/>
            <a:ext cx="4210050" cy="400051"/>
            <a:chOff x="0" y="0"/>
            <a:chExt cx="4210050" cy="400050"/>
          </a:xfrm>
        </p:grpSpPr>
        <p:sp>
          <p:nvSpPr>
            <p:cNvPr id="683" name="Dikdörtgen"/>
            <p:cNvSpPr/>
            <p:nvPr/>
          </p:nvSpPr>
          <p:spPr>
            <a:xfrm>
              <a:off x="0" y="0"/>
              <a:ext cx="4210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84" name="satis_adedi ve gelir order_items tablosundan gelir."/>
            <p:cNvSpPr txBox="1"/>
            <p:nvPr/>
          </p:nvSpPr>
          <p:spPr>
            <a:xfrm>
              <a:off x="0" y="-1"/>
              <a:ext cx="42100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satis_adedi ve gelir order_items tablosundan gelir.</a:t>
              </a:r>
            </a:p>
          </p:txBody>
        </p:sp>
      </p:grpSp>
      <p:sp>
        <p:nvSpPr>
          <p:cNvPr id="686" name="Kare"/>
          <p:cNvSpPr/>
          <p:nvPr/>
        </p:nvSpPr>
        <p:spPr>
          <a:xfrm>
            <a:off x="6477000" y="448627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89" name="Grupla"/>
          <p:cNvGrpSpPr/>
          <p:nvPr/>
        </p:nvGrpSpPr>
        <p:grpSpPr>
          <a:xfrm>
            <a:off x="6648450" y="4419599"/>
            <a:ext cx="4210050" cy="400051"/>
            <a:chOff x="0" y="0"/>
            <a:chExt cx="4210050" cy="400050"/>
          </a:xfrm>
        </p:grpSpPr>
        <p:sp>
          <p:nvSpPr>
            <p:cNvPr id="687" name="Dikdörtgen"/>
            <p:cNvSpPr/>
            <p:nvPr/>
          </p:nvSpPr>
          <p:spPr>
            <a:xfrm>
              <a:off x="0" y="0"/>
              <a:ext cx="4210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88" name="ort_rating ve yorum_sayisi reviews tablosundan gelir."/>
            <p:cNvSpPr txBox="1"/>
            <p:nvPr/>
          </p:nvSpPr>
          <p:spPr>
            <a:xfrm>
              <a:off x="0" y="-1"/>
              <a:ext cx="42100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ort_rating ve yorum_sayisi reviews tablosundan gelir.</a:t>
              </a:r>
            </a:p>
          </p:txBody>
        </p:sp>
      </p:grpSp>
      <p:sp>
        <p:nvSpPr>
          <p:cNvPr id="690" name="Kare"/>
          <p:cNvSpPr/>
          <p:nvPr/>
        </p:nvSpPr>
        <p:spPr>
          <a:xfrm>
            <a:off x="6477000" y="48482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93" name="Grupla"/>
          <p:cNvGrpSpPr/>
          <p:nvPr/>
        </p:nvGrpSpPr>
        <p:grpSpPr>
          <a:xfrm>
            <a:off x="6648450" y="4781549"/>
            <a:ext cx="4210050" cy="400051"/>
            <a:chOff x="0" y="0"/>
            <a:chExt cx="4210050" cy="400050"/>
          </a:xfrm>
        </p:grpSpPr>
        <p:sp>
          <p:nvSpPr>
            <p:cNvPr id="691" name="Dikdörtgen"/>
            <p:cNvSpPr/>
            <p:nvPr/>
          </p:nvSpPr>
          <p:spPr>
            <a:xfrm>
              <a:off x="0" y="0"/>
              <a:ext cx="42100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92" name="sepet_orani ve satis_orani bu özet tablodan türetilir."/>
            <p:cNvSpPr txBox="1"/>
            <p:nvPr/>
          </p:nvSpPr>
          <p:spPr>
            <a:xfrm>
              <a:off x="0" y="-1"/>
              <a:ext cx="42100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sepet_orani ve satis_orani bu özet tablodan türetilir.</a:t>
              </a:r>
            </a:p>
          </p:txBody>
        </p:sp>
      </p:grpSp>
      <p:grpSp>
        <p:nvGrpSpPr>
          <p:cNvPr id="696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694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95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699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697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98" name="07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2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05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703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04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708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706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07" name="Metodoloji 4/5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Metodoloji 4/5</a:t>
              </a:r>
            </a:p>
          </p:txBody>
        </p:sp>
      </p:grpSp>
      <p:grpSp>
        <p:nvGrpSpPr>
          <p:cNvPr id="711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709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710" name="Duygu analizi VADER + rating hibrit yöntemiyle yapıldı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Duygu analizi VADER + rating hibrit yöntemiyle yapıldı</a:t>
              </a:r>
            </a:p>
          </p:txBody>
        </p:sp>
      </p:grpSp>
      <p:grpSp>
        <p:nvGrpSpPr>
          <p:cNvPr id="714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712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13" name="Bu veri setinde yorum metinleri kısa ve tekrarlı olduğu için rating bilgisi karar kuralına özellikle eklendi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veri setinde yorum metinleri kısa ve tekrarlı olduğu için rating bilgisi karar kuralına özellikle eklendi.</a:t>
              </a:r>
            </a:p>
          </p:txBody>
        </p:sp>
      </p:grpSp>
      <p:pic>
        <p:nvPicPr>
          <p:cNvPr id="715" name="image5.png" descr="image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4289" y="2089545"/>
            <a:ext cx="5512590" cy="2447927"/>
          </a:xfrm>
          <a:prstGeom prst="rect">
            <a:avLst/>
          </a:prstGeom>
          <a:ln w="12700">
            <a:miter lim="400000"/>
          </a:ln>
        </p:spPr>
      </p:pic>
      <p:sp>
        <p:nvSpPr>
          <p:cNvPr id="716" name="Dikdörtgen"/>
          <p:cNvSpPr/>
          <p:nvPr/>
        </p:nvSpPr>
        <p:spPr>
          <a:xfrm>
            <a:off x="6482815" y="2151459"/>
            <a:ext cx="3732650" cy="2324101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Dikdörtgen"/>
          <p:cNvSpPr/>
          <p:nvPr/>
        </p:nvSpPr>
        <p:spPr>
          <a:xfrm>
            <a:off x="6444715" y="2094309"/>
            <a:ext cx="3726300" cy="232410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20" name="Grupla"/>
          <p:cNvGrpSpPr/>
          <p:nvPr/>
        </p:nvGrpSpPr>
        <p:grpSpPr>
          <a:xfrm>
            <a:off x="6616165" y="2227658"/>
            <a:ext cx="4991102" cy="190502"/>
            <a:chOff x="0" y="0"/>
            <a:chExt cx="4991101" cy="190501"/>
          </a:xfrm>
        </p:grpSpPr>
        <p:sp>
          <p:nvSpPr>
            <p:cNvPr id="718" name="Dikdörtgen"/>
            <p:cNvSpPr/>
            <p:nvPr/>
          </p:nvSpPr>
          <p:spPr>
            <a:xfrm>
              <a:off x="-1" y="-1"/>
              <a:ext cx="4991103" cy="19050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19" name="Duygu etiketi üretimi"/>
            <p:cNvSpPr txBox="1"/>
            <p:nvPr/>
          </p:nvSpPr>
          <p:spPr>
            <a:xfrm>
              <a:off x="-1" y="-1"/>
              <a:ext cx="4991103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Duygu etiketi üretimi</a:t>
              </a:r>
            </a:p>
          </p:txBody>
        </p:sp>
      </p:grpSp>
      <p:grpSp>
        <p:nvGrpSpPr>
          <p:cNvPr id="723" name="Grupla"/>
          <p:cNvGrpSpPr/>
          <p:nvPr/>
        </p:nvGrpSpPr>
        <p:grpSpPr>
          <a:xfrm>
            <a:off x="6643378" y="2497849"/>
            <a:ext cx="4917626" cy="1801880"/>
            <a:chOff x="0" y="0"/>
            <a:chExt cx="4917625" cy="1801878"/>
          </a:xfrm>
        </p:grpSpPr>
        <p:sp>
          <p:nvSpPr>
            <p:cNvPr id="721" name="Dikdörtgen"/>
            <p:cNvSpPr/>
            <p:nvPr/>
          </p:nvSpPr>
          <p:spPr>
            <a:xfrm>
              <a:off x="-1" y="0"/>
              <a:ext cx="4917626" cy="1801879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722" name="compound = analizci.polarity_scores(metin)[&quot;compound&quot;]…"/>
            <p:cNvSpPr txBox="1"/>
            <p:nvPr/>
          </p:nvSpPr>
          <p:spPr>
            <a:xfrm>
              <a:off x="-1" y="0"/>
              <a:ext cx="4917626" cy="1219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compound = analizci.polarity_scores(metin)["compound"]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if compound &gt; 0.3 and rating &gt;= 4: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etiket = "positive"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elif compound &lt; -0.1 or rating &lt;= 2: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etiket = "negative"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else: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etiket = "neutral"</a:t>
              </a:r>
            </a:p>
          </p:txBody>
        </p:sp>
      </p:grpSp>
      <p:sp>
        <p:nvSpPr>
          <p:cNvPr id="724" name="Dikdörtgen"/>
          <p:cNvSpPr/>
          <p:nvPr/>
        </p:nvSpPr>
        <p:spPr>
          <a:xfrm>
            <a:off x="1986269" y="4715867"/>
            <a:ext cx="1619252" cy="1028702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5" name="Dikdörtgen"/>
          <p:cNvSpPr/>
          <p:nvPr/>
        </p:nvSpPr>
        <p:spPr>
          <a:xfrm>
            <a:off x="1948169" y="4658717"/>
            <a:ext cx="1619252" cy="1028702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6" name="Dikdörtgen"/>
          <p:cNvSpPr/>
          <p:nvPr/>
        </p:nvSpPr>
        <p:spPr>
          <a:xfrm>
            <a:off x="1948169" y="4658717"/>
            <a:ext cx="57152" cy="1028702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29" name="Grupla"/>
          <p:cNvGrpSpPr/>
          <p:nvPr/>
        </p:nvGrpSpPr>
        <p:grpSpPr>
          <a:xfrm>
            <a:off x="2138669" y="4830167"/>
            <a:ext cx="1238252" cy="152402"/>
            <a:chOff x="0" y="0"/>
            <a:chExt cx="1238251" cy="152401"/>
          </a:xfrm>
        </p:grpSpPr>
        <p:sp>
          <p:nvSpPr>
            <p:cNvPr id="727" name="Dikdörtgen"/>
            <p:cNvSpPr/>
            <p:nvPr/>
          </p:nvSpPr>
          <p:spPr>
            <a:xfrm>
              <a:off x="-1" y="-1"/>
              <a:ext cx="1238253" cy="15240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28" name="POZİTİF"/>
            <p:cNvSpPr txBox="1"/>
            <p:nvPr/>
          </p:nvSpPr>
          <p:spPr>
            <a:xfrm>
              <a:off x="-1" y="0"/>
              <a:ext cx="1238253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POZİTİF</a:t>
              </a:r>
            </a:p>
          </p:txBody>
        </p:sp>
      </p:grpSp>
      <p:grpSp>
        <p:nvGrpSpPr>
          <p:cNvPr id="732" name="Grupla"/>
          <p:cNvGrpSpPr/>
          <p:nvPr/>
        </p:nvGrpSpPr>
        <p:grpSpPr>
          <a:xfrm>
            <a:off x="2138669" y="5058767"/>
            <a:ext cx="1238252" cy="361952"/>
            <a:chOff x="0" y="0"/>
            <a:chExt cx="1238251" cy="361950"/>
          </a:xfrm>
        </p:grpSpPr>
        <p:sp>
          <p:nvSpPr>
            <p:cNvPr id="730" name="Dikdörtgen"/>
            <p:cNvSpPr/>
            <p:nvPr/>
          </p:nvSpPr>
          <p:spPr>
            <a:xfrm>
              <a:off x="-1" y="0"/>
              <a:ext cx="1238253" cy="3619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31" name="7.620"/>
            <p:cNvSpPr txBox="1"/>
            <p:nvPr/>
          </p:nvSpPr>
          <p:spPr>
            <a:xfrm>
              <a:off x="-1" y="-1"/>
              <a:ext cx="123825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7.620</a:t>
              </a:r>
            </a:p>
          </p:txBody>
        </p:sp>
      </p:grpSp>
      <p:grpSp>
        <p:nvGrpSpPr>
          <p:cNvPr id="735" name="Grupla"/>
          <p:cNvGrpSpPr/>
          <p:nvPr/>
        </p:nvGrpSpPr>
        <p:grpSpPr>
          <a:xfrm>
            <a:off x="2138669" y="5439767"/>
            <a:ext cx="1238252" cy="171452"/>
            <a:chOff x="0" y="0"/>
            <a:chExt cx="1238251" cy="171451"/>
          </a:xfrm>
        </p:grpSpPr>
        <p:sp>
          <p:nvSpPr>
            <p:cNvPr id="733" name="Dikdörtgen"/>
            <p:cNvSpPr/>
            <p:nvPr/>
          </p:nvSpPr>
          <p:spPr>
            <a:xfrm>
              <a:off x="-1" y="-1"/>
              <a:ext cx="1238253" cy="17145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34" name="%70.7"/>
            <p:cNvSpPr txBox="1"/>
            <p:nvPr/>
          </p:nvSpPr>
          <p:spPr>
            <a:xfrm>
              <a:off x="-1" y="0"/>
              <a:ext cx="1238253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%70.7</a:t>
              </a:r>
            </a:p>
          </p:txBody>
        </p:sp>
      </p:grpSp>
      <p:sp>
        <p:nvSpPr>
          <p:cNvPr id="736" name="Dikdörtgen"/>
          <p:cNvSpPr/>
          <p:nvPr/>
        </p:nvSpPr>
        <p:spPr>
          <a:xfrm>
            <a:off x="4671371" y="4709021"/>
            <a:ext cx="1619252" cy="1028702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7" name="Dikdörtgen"/>
          <p:cNvSpPr/>
          <p:nvPr/>
        </p:nvSpPr>
        <p:spPr>
          <a:xfrm>
            <a:off x="4633271" y="4651871"/>
            <a:ext cx="1619252" cy="1028702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8" name="Dikdörtgen"/>
          <p:cNvSpPr/>
          <p:nvPr/>
        </p:nvSpPr>
        <p:spPr>
          <a:xfrm>
            <a:off x="4633271" y="4651871"/>
            <a:ext cx="57152" cy="1028702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41" name="Grupla"/>
          <p:cNvGrpSpPr/>
          <p:nvPr/>
        </p:nvGrpSpPr>
        <p:grpSpPr>
          <a:xfrm>
            <a:off x="4823771" y="4823321"/>
            <a:ext cx="1238252" cy="152402"/>
            <a:chOff x="0" y="0"/>
            <a:chExt cx="1238251" cy="152401"/>
          </a:xfrm>
        </p:grpSpPr>
        <p:sp>
          <p:nvSpPr>
            <p:cNvPr id="739" name="Dikdörtgen"/>
            <p:cNvSpPr/>
            <p:nvPr/>
          </p:nvSpPr>
          <p:spPr>
            <a:xfrm>
              <a:off x="-1" y="-1"/>
              <a:ext cx="1238253" cy="15240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40" name="NÖTR"/>
            <p:cNvSpPr txBox="1"/>
            <p:nvPr/>
          </p:nvSpPr>
          <p:spPr>
            <a:xfrm>
              <a:off x="-1" y="0"/>
              <a:ext cx="1238253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NÖTR</a:t>
              </a:r>
            </a:p>
          </p:txBody>
        </p:sp>
      </p:grpSp>
      <p:grpSp>
        <p:nvGrpSpPr>
          <p:cNvPr id="744" name="Grupla"/>
          <p:cNvGrpSpPr/>
          <p:nvPr/>
        </p:nvGrpSpPr>
        <p:grpSpPr>
          <a:xfrm>
            <a:off x="4823771" y="5051921"/>
            <a:ext cx="1238252" cy="361952"/>
            <a:chOff x="0" y="0"/>
            <a:chExt cx="1238251" cy="361950"/>
          </a:xfrm>
        </p:grpSpPr>
        <p:sp>
          <p:nvSpPr>
            <p:cNvPr id="742" name="Dikdörtgen"/>
            <p:cNvSpPr/>
            <p:nvPr/>
          </p:nvSpPr>
          <p:spPr>
            <a:xfrm>
              <a:off x="-1" y="0"/>
              <a:ext cx="1238253" cy="3619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43" name="1.980"/>
            <p:cNvSpPr txBox="1"/>
            <p:nvPr/>
          </p:nvSpPr>
          <p:spPr>
            <a:xfrm>
              <a:off x="-1" y="-1"/>
              <a:ext cx="123825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1.980</a:t>
              </a:r>
            </a:p>
          </p:txBody>
        </p:sp>
      </p:grpSp>
      <p:grpSp>
        <p:nvGrpSpPr>
          <p:cNvPr id="747" name="Grupla"/>
          <p:cNvGrpSpPr/>
          <p:nvPr/>
        </p:nvGrpSpPr>
        <p:grpSpPr>
          <a:xfrm>
            <a:off x="4823771" y="5432921"/>
            <a:ext cx="1238252" cy="171452"/>
            <a:chOff x="0" y="0"/>
            <a:chExt cx="1238251" cy="171451"/>
          </a:xfrm>
        </p:grpSpPr>
        <p:sp>
          <p:nvSpPr>
            <p:cNvPr id="745" name="Dikdörtgen"/>
            <p:cNvSpPr/>
            <p:nvPr/>
          </p:nvSpPr>
          <p:spPr>
            <a:xfrm>
              <a:off x="-1" y="-1"/>
              <a:ext cx="1238253" cy="17145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46" name="%18.4"/>
            <p:cNvSpPr txBox="1"/>
            <p:nvPr/>
          </p:nvSpPr>
          <p:spPr>
            <a:xfrm>
              <a:off x="-1" y="0"/>
              <a:ext cx="1238253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%18.4</a:t>
              </a:r>
            </a:p>
          </p:txBody>
        </p:sp>
      </p:grpSp>
      <p:sp>
        <p:nvSpPr>
          <p:cNvPr id="748" name="Dikdörtgen"/>
          <p:cNvSpPr/>
          <p:nvPr/>
        </p:nvSpPr>
        <p:spPr>
          <a:xfrm>
            <a:off x="7359650" y="4722712"/>
            <a:ext cx="1619250" cy="1028702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9" name="Dikdörtgen"/>
          <p:cNvSpPr/>
          <p:nvPr/>
        </p:nvSpPr>
        <p:spPr>
          <a:xfrm>
            <a:off x="7321550" y="4665562"/>
            <a:ext cx="1619250" cy="1028702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0" name="Dikdörtgen"/>
          <p:cNvSpPr/>
          <p:nvPr/>
        </p:nvSpPr>
        <p:spPr>
          <a:xfrm>
            <a:off x="7321550" y="4665562"/>
            <a:ext cx="57150" cy="1028702"/>
          </a:xfrm>
          <a:prstGeom prst="rect">
            <a:avLst/>
          </a:prstGeom>
          <a:solidFill>
            <a:srgbClr val="D6453D"/>
          </a:solidFill>
          <a:ln w="3175">
            <a:solidFill>
              <a:srgbClr val="D6453D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53" name="Grupla"/>
          <p:cNvGrpSpPr/>
          <p:nvPr/>
        </p:nvGrpSpPr>
        <p:grpSpPr>
          <a:xfrm>
            <a:off x="7512050" y="4837012"/>
            <a:ext cx="1238250" cy="152402"/>
            <a:chOff x="0" y="0"/>
            <a:chExt cx="1238250" cy="152401"/>
          </a:xfrm>
        </p:grpSpPr>
        <p:sp>
          <p:nvSpPr>
            <p:cNvPr id="751" name="Dikdörtgen"/>
            <p:cNvSpPr/>
            <p:nvPr/>
          </p:nvSpPr>
          <p:spPr>
            <a:xfrm>
              <a:off x="0" y="-1"/>
              <a:ext cx="1238250" cy="15240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52" name="NEGATİF"/>
            <p:cNvSpPr txBox="1"/>
            <p:nvPr/>
          </p:nvSpPr>
          <p:spPr>
            <a:xfrm>
              <a:off x="0" y="0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NEGATİF</a:t>
              </a:r>
            </a:p>
          </p:txBody>
        </p:sp>
      </p:grpSp>
      <p:grpSp>
        <p:nvGrpSpPr>
          <p:cNvPr id="756" name="Grupla"/>
          <p:cNvGrpSpPr/>
          <p:nvPr/>
        </p:nvGrpSpPr>
        <p:grpSpPr>
          <a:xfrm>
            <a:off x="7512050" y="5065612"/>
            <a:ext cx="1238250" cy="361952"/>
            <a:chOff x="0" y="0"/>
            <a:chExt cx="1238250" cy="361950"/>
          </a:xfrm>
        </p:grpSpPr>
        <p:sp>
          <p:nvSpPr>
            <p:cNvPr id="754" name="Dikdörtgen"/>
            <p:cNvSpPr/>
            <p:nvPr/>
          </p:nvSpPr>
          <p:spPr>
            <a:xfrm>
              <a:off x="0" y="0"/>
              <a:ext cx="1238250" cy="3619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55" name="1.180"/>
            <p:cNvSpPr txBox="1"/>
            <p:nvPr/>
          </p:nvSpPr>
          <p:spPr>
            <a:xfrm>
              <a:off x="0" y="-1"/>
              <a:ext cx="12382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1.180</a:t>
              </a:r>
            </a:p>
          </p:txBody>
        </p:sp>
      </p:grpSp>
      <p:grpSp>
        <p:nvGrpSpPr>
          <p:cNvPr id="759" name="Grupla"/>
          <p:cNvGrpSpPr/>
          <p:nvPr/>
        </p:nvGrpSpPr>
        <p:grpSpPr>
          <a:xfrm>
            <a:off x="7512050" y="5446612"/>
            <a:ext cx="1238250" cy="171452"/>
            <a:chOff x="0" y="0"/>
            <a:chExt cx="1238250" cy="171451"/>
          </a:xfrm>
        </p:grpSpPr>
        <p:sp>
          <p:nvSpPr>
            <p:cNvPr id="757" name="Dikdörtgen"/>
            <p:cNvSpPr/>
            <p:nvPr/>
          </p:nvSpPr>
          <p:spPr>
            <a:xfrm>
              <a:off x="0" y="-1"/>
              <a:ext cx="1238250" cy="17145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58" name="%10.9"/>
            <p:cNvSpPr txBox="1"/>
            <p:nvPr/>
          </p:nvSpPr>
          <p:spPr>
            <a:xfrm>
              <a:off x="0" y="0"/>
              <a:ext cx="1238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%10.9</a:t>
              </a:r>
            </a:p>
          </p:txBody>
        </p:sp>
      </p:grpSp>
      <p:sp>
        <p:nvSpPr>
          <p:cNvPr id="760" name="Dikdörtgen"/>
          <p:cNvSpPr/>
          <p:nvPr/>
        </p:nvSpPr>
        <p:spPr>
          <a:xfrm>
            <a:off x="723899" y="5867400"/>
            <a:ext cx="9437997" cy="45720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63" name="Grupla"/>
          <p:cNvGrpSpPr/>
          <p:nvPr/>
        </p:nvGrpSpPr>
        <p:grpSpPr>
          <a:xfrm>
            <a:off x="3400425" y="6015830"/>
            <a:ext cx="9029700" cy="285752"/>
            <a:chOff x="0" y="0"/>
            <a:chExt cx="9029700" cy="285750"/>
          </a:xfrm>
        </p:grpSpPr>
        <p:sp>
          <p:nvSpPr>
            <p:cNvPr id="761" name="Dikdörtgen"/>
            <p:cNvSpPr/>
            <p:nvPr/>
          </p:nvSpPr>
          <p:spPr>
            <a:xfrm>
              <a:off x="0" y="0"/>
              <a:ext cx="9029700" cy="2857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D6453D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62" name="Bu sunumda duygu analizi yöntemi VADER + rating hibrittir."/>
            <p:cNvSpPr txBox="1"/>
            <p:nvPr/>
          </p:nvSpPr>
          <p:spPr>
            <a:xfrm>
              <a:off x="0" y="0"/>
              <a:ext cx="90297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D6453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sunumda duygu analizi yöntemi VADER + rating hibrittir.</a:t>
              </a:r>
            </a:p>
          </p:txBody>
        </p:sp>
      </p:grpSp>
      <p:grpSp>
        <p:nvGrpSpPr>
          <p:cNvPr id="766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764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65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769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767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68" name="08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2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75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773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74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778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776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77" name="Metodoloji 5/5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Metodoloji 5/5</a:t>
              </a:r>
            </a:p>
          </p:txBody>
        </p:sp>
      </p:grpSp>
      <p:grpSp>
        <p:nvGrpSpPr>
          <p:cNvPr id="781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779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780" name="Genel ürün öneri skoru şeffaf bir ağırlıklı formülle hesaplandı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Genel ürün öneri skoru şeffaf bir ağırlıklı formülle hesaplandı</a:t>
              </a:r>
            </a:p>
          </p:txBody>
        </p:sp>
      </p:grpSp>
      <p:grpSp>
        <p:nvGrpSpPr>
          <p:cNvPr id="784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782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83" name="Skor, ürünün satış, ilgi, memnuniyet, duygu, gelir ve marj sinyallerini tek puanda topla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Skor, ürünün satış, ilgi, memnuniyet, duygu, gelir ve marj sinyallerini tek puanda toplar.</a:t>
              </a:r>
            </a:p>
          </p:txBody>
        </p:sp>
      </p:grpSp>
      <p:sp>
        <p:nvSpPr>
          <p:cNvPr id="785" name="Dikdörtgen"/>
          <p:cNvSpPr/>
          <p:nvPr/>
        </p:nvSpPr>
        <p:spPr>
          <a:xfrm>
            <a:off x="647700" y="2057400"/>
            <a:ext cx="5619750" cy="29527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6" name="Dikdörtgen"/>
          <p:cNvSpPr/>
          <p:nvPr/>
        </p:nvSpPr>
        <p:spPr>
          <a:xfrm>
            <a:off x="609600" y="2000250"/>
            <a:ext cx="5619750" cy="29527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89" name="Grupla"/>
          <p:cNvGrpSpPr/>
          <p:nvPr/>
        </p:nvGrpSpPr>
        <p:grpSpPr>
          <a:xfrm>
            <a:off x="781050" y="2133599"/>
            <a:ext cx="5276850" cy="190501"/>
            <a:chOff x="0" y="0"/>
            <a:chExt cx="5276850" cy="190500"/>
          </a:xfrm>
        </p:grpSpPr>
        <p:sp>
          <p:nvSpPr>
            <p:cNvPr id="787" name="Dikdörtgen"/>
            <p:cNvSpPr/>
            <p:nvPr/>
          </p:nvSpPr>
          <p:spPr>
            <a:xfrm>
              <a:off x="0" y="0"/>
              <a:ext cx="52768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88" name="Öneri skoru ve hedef etiket"/>
            <p:cNvSpPr txBox="1"/>
            <p:nvPr/>
          </p:nvSpPr>
          <p:spPr>
            <a:xfrm>
              <a:off x="0" y="-1"/>
              <a:ext cx="52768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Öneri skoru ve hedef etiket</a:t>
              </a:r>
            </a:p>
          </p:txBody>
        </p:sp>
      </p:grpSp>
      <p:grpSp>
        <p:nvGrpSpPr>
          <p:cNvPr id="792" name="Grupla"/>
          <p:cNvGrpSpPr/>
          <p:nvPr/>
        </p:nvGrpSpPr>
        <p:grpSpPr>
          <a:xfrm>
            <a:off x="781050" y="2400299"/>
            <a:ext cx="5276850" cy="2457451"/>
            <a:chOff x="0" y="0"/>
            <a:chExt cx="5276850" cy="2457450"/>
          </a:xfrm>
        </p:grpSpPr>
        <p:sp>
          <p:nvSpPr>
            <p:cNvPr id="790" name="Dikdörtgen"/>
            <p:cNvSpPr/>
            <p:nvPr/>
          </p:nvSpPr>
          <p:spPr>
            <a:xfrm>
              <a:off x="0" y="0"/>
              <a:ext cx="5276850" cy="2457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791" name="veri[&quot;oneri_skoru&quot;] = (…"/>
            <p:cNvSpPr txBox="1"/>
            <p:nvPr/>
          </p:nvSpPr>
          <p:spPr>
            <a:xfrm>
              <a:off x="0" y="-1"/>
              <a:ext cx="5276850" cy="167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veri["oneri_skoru"] = 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norm(satis_orani)  * 0.28 +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norm(ort_rating)   * 0.20 +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norm(sepet_orani)  * 0.18 +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norm(pozitif_oran) * 0.18 +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norm(gelir)        * 0.08 +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norm(margin_usd)   * 0.08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esik = veri["oneri_skoru"].quantile(0.70)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veri["onerilir"] = (veri["oneri_skoru"] &gt;= esik).astype(int)</a:t>
              </a:r>
            </a:p>
          </p:txBody>
        </p:sp>
      </p:grpSp>
      <p:pic>
        <p:nvPicPr>
          <p:cNvPr id="793" name="image6.png" descr="image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54366" y="2013024"/>
            <a:ext cx="5118120" cy="2128690"/>
          </a:xfrm>
          <a:prstGeom prst="rect">
            <a:avLst/>
          </a:prstGeom>
          <a:ln w="12700">
            <a:miter lim="400000"/>
          </a:ln>
        </p:spPr>
      </p:pic>
      <p:sp>
        <p:nvSpPr>
          <p:cNvPr id="794" name="Dikdörtgen"/>
          <p:cNvSpPr/>
          <p:nvPr/>
        </p:nvSpPr>
        <p:spPr>
          <a:xfrm>
            <a:off x="6991350" y="4819650"/>
            <a:ext cx="20002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5" name="Dikdörtgen"/>
          <p:cNvSpPr/>
          <p:nvPr/>
        </p:nvSpPr>
        <p:spPr>
          <a:xfrm>
            <a:off x="6953250" y="4762500"/>
            <a:ext cx="20002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6" name="Dikdörtgen"/>
          <p:cNvSpPr/>
          <p:nvPr/>
        </p:nvSpPr>
        <p:spPr>
          <a:xfrm>
            <a:off x="6953250" y="4762500"/>
            <a:ext cx="57150" cy="10287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99" name="Grupla"/>
          <p:cNvGrpSpPr/>
          <p:nvPr/>
        </p:nvGrpSpPr>
        <p:grpSpPr>
          <a:xfrm>
            <a:off x="7143750" y="4933949"/>
            <a:ext cx="1619250" cy="152401"/>
            <a:chOff x="0" y="0"/>
            <a:chExt cx="1619250" cy="152400"/>
          </a:xfrm>
        </p:grpSpPr>
        <p:sp>
          <p:nvSpPr>
            <p:cNvPr id="797" name="Dikdörtgen"/>
            <p:cNvSpPr/>
            <p:nvPr/>
          </p:nvSpPr>
          <p:spPr>
            <a:xfrm>
              <a:off x="0" y="0"/>
              <a:ext cx="16192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98" name="ÖNERİLİR ÜRÜN"/>
            <p:cNvSpPr txBox="1"/>
            <p:nvPr/>
          </p:nvSpPr>
          <p:spPr>
            <a:xfrm>
              <a:off x="0" y="-1"/>
              <a:ext cx="1619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ÖNERİLİR ÜRÜN</a:t>
              </a:r>
            </a:p>
          </p:txBody>
        </p:sp>
      </p:grpSp>
      <p:grpSp>
        <p:nvGrpSpPr>
          <p:cNvPr id="802" name="Grupla"/>
          <p:cNvGrpSpPr/>
          <p:nvPr/>
        </p:nvGrpSpPr>
        <p:grpSpPr>
          <a:xfrm>
            <a:off x="7143750" y="5162549"/>
            <a:ext cx="1619250" cy="361951"/>
            <a:chOff x="0" y="0"/>
            <a:chExt cx="1619250" cy="361950"/>
          </a:xfrm>
        </p:grpSpPr>
        <p:sp>
          <p:nvSpPr>
            <p:cNvPr id="800" name="Dikdörtgen"/>
            <p:cNvSpPr/>
            <p:nvPr/>
          </p:nvSpPr>
          <p:spPr>
            <a:xfrm>
              <a:off x="0" y="0"/>
              <a:ext cx="16192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01" name="359"/>
            <p:cNvSpPr txBox="1"/>
            <p:nvPr/>
          </p:nvSpPr>
          <p:spPr>
            <a:xfrm>
              <a:off x="0" y="-1"/>
              <a:ext cx="16192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359</a:t>
              </a:r>
            </a:p>
          </p:txBody>
        </p:sp>
      </p:grpSp>
      <p:grpSp>
        <p:nvGrpSpPr>
          <p:cNvPr id="805" name="Grupla"/>
          <p:cNvGrpSpPr/>
          <p:nvPr/>
        </p:nvGrpSpPr>
        <p:grpSpPr>
          <a:xfrm>
            <a:off x="7143750" y="5543549"/>
            <a:ext cx="1619250" cy="171451"/>
            <a:chOff x="0" y="0"/>
            <a:chExt cx="1619250" cy="171450"/>
          </a:xfrm>
        </p:grpSpPr>
        <p:sp>
          <p:nvSpPr>
            <p:cNvPr id="803" name="Dikdörtgen"/>
            <p:cNvSpPr/>
            <p:nvPr/>
          </p:nvSpPr>
          <p:spPr>
            <a:xfrm>
              <a:off x="0" y="0"/>
              <a:ext cx="1619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04" name="üst %30"/>
            <p:cNvSpPr txBox="1"/>
            <p:nvPr/>
          </p:nvSpPr>
          <p:spPr>
            <a:xfrm>
              <a:off x="0" y="-1"/>
              <a:ext cx="1619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üst %30</a:t>
              </a:r>
            </a:p>
          </p:txBody>
        </p:sp>
      </p:grpSp>
      <p:sp>
        <p:nvSpPr>
          <p:cNvPr id="806" name="Dikdörtgen"/>
          <p:cNvSpPr/>
          <p:nvPr/>
        </p:nvSpPr>
        <p:spPr>
          <a:xfrm>
            <a:off x="9182100" y="4819650"/>
            <a:ext cx="20002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7" name="Dikdörtgen"/>
          <p:cNvSpPr/>
          <p:nvPr/>
        </p:nvSpPr>
        <p:spPr>
          <a:xfrm>
            <a:off x="9144000" y="4762500"/>
            <a:ext cx="20002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8" name="Dikdörtgen"/>
          <p:cNvSpPr/>
          <p:nvPr/>
        </p:nvSpPr>
        <p:spPr>
          <a:xfrm>
            <a:off x="9144000" y="4762500"/>
            <a:ext cx="57150" cy="10287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11" name="Grupla"/>
          <p:cNvGrpSpPr/>
          <p:nvPr/>
        </p:nvGrpSpPr>
        <p:grpSpPr>
          <a:xfrm>
            <a:off x="9334500" y="4933949"/>
            <a:ext cx="1619250" cy="152401"/>
            <a:chOff x="0" y="0"/>
            <a:chExt cx="1619250" cy="152400"/>
          </a:xfrm>
        </p:grpSpPr>
        <p:sp>
          <p:nvSpPr>
            <p:cNvPr id="809" name="Dikdörtgen"/>
            <p:cNvSpPr/>
            <p:nvPr/>
          </p:nvSpPr>
          <p:spPr>
            <a:xfrm>
              <a:off x="0" y="0"/>
              <a:ext cx="16192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10" name="ORT. SKOR"/>
            <p:cNvSpPr txBox="1"/>
            <p:nvPr/>
          </p:nvSpPr>
          <p:spPr>
            <a:xfrm>
              <a:off x="0" y="-1"/>
              <a:ext cx="1619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ORT. SKOR</a:t>
              </a:r>
            </a:p>
          </p:txBody>
        </p:sp>
      </p:grpSp>
      <p:grpSp>
        <p:nvGrpSpPr>
          <p:cNvPr id="814" name="Grupla"/>
          <p:cNvGrpSpPr/>
          <p:nvPr/>
        </p:nvGrpSpPr>
        <p:grpSpPr>
          <a:xfrm>
            <a:off x="9334500" y="5162549"/>
            <a:ext cx="1619250" cy="361951"/>
            <a:chOff x="0" y="0"/>
            <a:chExt cx="1619250" cy="361950"/>
          </a:xfrm>
        </p:grpSpPr>
        <p:sp>
          <p:nvSpPr>
            <p:cNvPr id="812" name="Dikdörtgen"/>
            <p:cNvSpPr/>
            <p:nvPr/>
          </p:nvSpPr>
          <p:spPr>
            <a:xfrm>
              <a:off x="0" y="0"/>
              <a:ext cx="16192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13" name="0.569"/>
            <p:cNvSpPr txBox="1"/>
            <p:nvPr/>
          </p:nvSpPr>
          <p:spPr>
            <a:xfrm>
              <a:off x="0" y="-1"/>
              <a:ext cx="16192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0.569</a:t>
              </a:r>
            </a:p>
          </p:txBody>
        </p:sp>
      </p:grpSp>
      <p:grpSp>
        <p:nvGrpSpPr>
          <p:cNvPr id="817" name="Grupla"/>
          <p:cNvGrpSpPr/>
          <p:nvPr/>
        </p:nvGrpSpPr>
        <p:grpSpPr>
          <a:xfrm>
            <a:off x="9334500" y="5543549"/>
            <a:ext cx="1619250" cy="171451"/>
            <a:chOff x="0" y="0"/>
            <a:chExt cx="1619250" cy="171450"/>
          </a:xfrm>
        </p:grpSpPr>
        <p:sp>
          <p:nvSpPr>
            <p:cNvPr id="815" name="Dikdörtgen"/>
            <p:cNvSpPr/>
            <p:nvPr/>
          </p:nvSpPr>
          <p:spPr>
            <a:xfrm>
              <a:off x="0" y="0"/>
              <a:ext cx="1619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16" name="maks. 0.796"/>
            <p:cNvSpPr txBox="1"/>
            <p:nvPr/>
          </p:nvSpPr>
          <p:spPr>
            <a:xfrm>
              <a:off x="0" y="-1"/>
              <a:ext cx="1619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maks. 0.796</a:t>
              </a:r>
            </a:p>
          </p:txBody>
        </p:sp>
      </p:grpSp>
      <p:sp>
        <p:nvSpPr>
          <p:cNvPr id="818" name="Dikdörtgen"/>
          <p:cNvSpPr/>
          <p:nvPr/>
        </p:nvSpPr>
        <p:spPr>
          <a:xfrm>
            <a:off x="622681" y="5992000"/>
            <a:ext cx="8763001" cy="447677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21" name="Grupla"/>
          <p:cNvGrpSpPr/>
          <p:nvPr/>
        </p:nvGrpSpPr>
        <p:grpSpPr>
          <a:xfrm>
            <a:off x="775081" y="6106300"/>
            <a:ext cx="8458201" cy="342902"/>
            <a:chOff x="0" y="0"/>
            <a:chExt cx="8458200" cy="342900"/>
          </a:xfrm>
        </p:grpSpPr>
        <p:sp>
          <p:nvSpPr>
            <p:cNvPr id="819" name="Dikdörtgen"/>
            <p:cNvSpPr/>
            <p:nvPr/>
          </p:nvSpPr>
          <p:spPr>
            <a:xfrm>
              <a:off x="0" y="0"/>
              <a:ext cx="8458201" cy="3429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20" name="Bu skor genel ürün gücünü gösterir. Kişiye özel model ise aynı ürünleri müşteri davranışıyla yeniden sıralar."/>
            <p:cNvSpPr txBox="1"/>
            <p:nvPr/>
          </p:nvSpPr>
          <p:spPr>
            <a:xfrm>
              <a:off x="0" y="0"/>
              <a:ext cx="84582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skor genel ürün gücünü gösterir. Kişiye özel model ise aynı ürünleri müşteri davranışıyla yeniden sıralar.</a:t>
              </a:r>
            </a:p>
          </p:txBody>
        </p:sp>
      </p:grpSp>
      <p:grpSp>
        <p:nvGrpSpPr>
          <p:cNvPr id="824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822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23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827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825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26" name="09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0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33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831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32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836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834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35" name="Öneri Mantığı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Öneri Mantığı</a:t>
              </a:r>
            </a:p>
          </p:txBody>
        </p:sp>
      </p:grpSp>
      <p:grpSp>
        <p:nvGrpSpPr>
          <p:cNvPr id="839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837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838" name="Projede iki öneri katmanı var; ikisi aynı şey değil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Projede iki öneri katmanı var; ikisi aynı şey değil</a:t>
              </a:r>
            </a:p>
          </p:txBody>
        </p:sp>
      </p:grpSp>
      <p:grpSp>
        <p:nvGrpSpPr>
          <p:cNvPr id="842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840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41" name="Genel öneriler ürünün genel kalitesini, kişisel öneriler ise belirli müşterinin satın alma olasılığını gösteri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Genel öneriler ürünün genel kalitesini, kişisel öneriler ise belirli müşterinin satın alma olasılığını gösterir.</a:t>
              </a:r>
            </a:p>
          </p:txBody>
        </p:sp>
      </p:grpSp>
      <p:sp>
        <p:nvSpPr>
          <p:cNvPr id="843" name="Dikdörtgen"/>
          <p:cNvSpPr/>
          <p:nvPr/>
        </p:nvSpPr>
        <p:spPr>
          <a:xfrm>
            <a:off x="546971" y="2251075"/>
            <a:ext cx="4476753" cy="25717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4" name="Dikdörtgen"/>
          <p:cNvSpPr/>
          <p:nvPr/>
        </p:nvSpPr>
        <p:spPr>
          <a:xfrm>
            <a:off x="508871" y="2193925"/>
            <a:ext cx="4476753" cy="25717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5" name="Dikdörtgen"/>
          <p:cNvSpPr/>
          <p:nvPr/>
        </p:nvSpPr>
        <p:spPr>
          <a:xfrm>
            <a:off x="508871" y="2193925"/>
            <a:ext cx="57152" cy="257175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6" name="Dikdörtgen"/>
          <p:cNvSpPr/>
          <p:nvPr/>
        </p:nvSpPr>
        <p:spPr>
          <a:xfrm>
            <a:off x="7149227" y="2278061"/>
            <a:ext cx="4476752" cy="2571752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7" name="Dikdörtgen"/>
          <p:cNvSpPr/>
          <p:nvPr/>
        </p:nvSpPr>
        <p:spPr>
          <a:xfrm>
            <a:off x="7111127" y="2220911"/>
            <a:ext cx="4476752" cy="2571752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8" name="Dikdörtgen"/>
          <p:cNvSpPr/>
          <p:nvPr/>
        </p:nvSpPr>
        <p:spPr>
          <a:xfrm>
            <a:off x="7111127" y="2220911"/>
            <a:ext cx="57152" cy="2571752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51" name="Grupla"/>
          <p:cNvGrpSpPr/>
          <p:nvPr/>
        </p:nvGrpSpPr>
        <p:grpSpPr>
          <a:xfrm>
            <a:off x="813671" y="2479674"/>
            <a:ext cx="3429003" cy="323851"/>
            <a:chOff x="0" y="0"/>
            <a:chExt cx="3429001" cy="323850"/>
          </a:xfrm>
        </p:grpSpPr>
        <p:sp>
          <p:nvSpPr>
            <p:cNvPr id="849" name="Dikdörtgen"/>
            <p:cNvSpPr/>
            <p:nvPr/>
          </p:nvSpPr>
          <p:spPr>
            <a:xfrm>
              <a:off x="-1" y="0"/>
              <a:ext cx="3429003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50" name="1. Genel Ürün Önerisi"/>
            <p:cNvSpPr txBox="1"/>
            <p:nvPr/>
          </p:nvSpPr>
          <p:spPr>
            <a:xfrm>
              <a:off x="-1" y="-1"/>
              <a:ext cx="3429003" cy="292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 Genel Ürün Önerisi</a:t>
              </a:r>
            </a:p>
          </p:txBody>
        </p:sp>
      </p:grpSp>
      <p:sp>
        <p:nvSpPr>
          <p:cNvPr id="852" name="Kare"/>
          <p:cNvSpPr/>
          <p:nvPr/>
        </p:nvSpPr>
        <p:spPr>
          <a:xfrm>
            <a:off x="832722" y="3117850"/>
            <a:ext cx="66677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55" name="Grupla"/>
          <p:cNvGrpSpPr/>
          <p:nvPr/>
        </p:nvGrpSpPr>
        <p:grpSpPr>
          <a:xfrm>
            <a:off x="1004171" y="3051174"/>
            <a:ext cx="3257553" cy="419101"/>
            <a:chOff x="0" y="0"/>
            <a:chExt cx="3257551" cy="419100"/>
          </a:xfrm>
        </p:grpSpPr>
        <p:sp>
          <p:nvSpPr>
            <p:cNvPr id="853" name="Dikdörtgen"/>
            <p:cNvSpPr/>
            <p:nvPr/>
          </p:nvSpPr>
          <p:spPr>
            <a:xfrm>
              <a:off x="-1" y="0"/>
              <a:ext cx="3257553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54" name="Her satır bir üründür."/>
            <p:cNvSpPr txBox="1"/>
            <p:nvPr/>
          </p:nvSpPr>
          <p:spPr>
            <a:xfrm>
              <a:off x="-1" y="-1"/>
              <a:ext cx="3257553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Her satır bir üründür.</a:t>
              </a:r>
            </a:p>
          </p:txBody>
        </p:sp>
      </p:grpSp>
      <p:sp>
        <p:nvSpPr>
          <p:cNvPr id="856" name="Kare"/>
          <p:cNvSpPr/>
          <p:nvPr/>
        </p:nvSpPr>
        <p:spPr>
          <a:xfrm>
            <a:off x="832722" y="3498850"/>
            <a:ext cx="66677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59" name="Grupla"/>
          <p:cNvGrpSpPr/>
          <p:nvPr/>
        </p:nvGrpSpPr>
        <p:grpSpPr>
          <a:xfrm>
            <a:off x="1004171" y="3432174"/>
            <a:ext cx="3257553" cy="419101"/>
            <a:chOff x="0" y="0"/>
            <a:chExt cx="3257551" cy="419100"/>
          </a:xfrm>
        </p:grpSpPr>
        <p:sp>
          <p:nvSpPr>
            <p:cNvPr id="857" name="Dikdörtgen"/>
            <p:cNvSpPr/>
            <p:nvPr/>
          </p:nvSpPr>
          <p:spPr>
            <a:xfrm>
              <a:off x="-1" y="0"/>
              <a:ext cx="3257553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58" name="Skor: satış + rating + sepet + duygu + gelir + marj."/>
            <p:cNvSpPr txBox="1"/>
            <p:nvPr/>
          </p:nvSpPr>
          <p:spPr>
            <a:xfrm>
              <a:off x="-1" y="-1"/>
              <a:ext cx="3257553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Skor: satış + rating + sepet + duygu + gelir + marj.</a:t>
              </a:r>
            </a:p>
          </p:txBody>
        </p:sp>
      </p:grpSp>
      <p:sp>
        <p:nvSpPr>
          <p:cNvPr id="860" name="Kare"/>
          <p:cNvSpPr/>
          <p:nvPr/>
        </p:nvSpPr>
        <p:spPr>
          <a:xfrm>
            <a:off x="832722" y="3879850"/>
            <a:ext cx="66677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63" name="Grupla"/>
          <p:cNvGrpSpPr/>
          <p:nvPr/>
        </p:nvGrpSpPr>
        <p:grpSpPr>
          <a:xfrm>
            <a:off x="1004171" y="3813174"/>
            <a:ext cx="3257553" cy="419101"/>
            <a:chOff x="0" y="0"/>
            <a:chExt cx="3257551" cy="419100"/>
          </a:xfrm>
        </p:grpSpPr>
        <p:sp>
          <p:nvSpPr>
            <p:cNvPr id="861" name="Dikdörtgen"/>
            <p:cNvSpPr/>
            <p:nvPr/>
          </p:nvSpPr>
          <p:spPr>
            <a:xfrm>
              <a:off x="-1" y="0"/>
              <a:ext cx="3257553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62" name="Amaç: ürünün genel performansını ölçmek."/>
            <p:cNvSpPr txBox="1"/>
            <p:nvPr/>
          </p:nvSpPr>
          <p:spPr>
            <a:xfrm>
              <a:off x="-1" y="-1"/>
              <a:ext cx="3257553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Amaç: ürünün genel performansını ölçmek.</a:t>
              </a:r>
            </a:p>
          </p:txBody>
        </p:sp>
      </p:grpSp>
      <p:grpSp>
        <p:nvGrpSpPr>
          <p:cNvPr id="866" name="Grupla"/>
          <p:cNvGrpSpPr/>
          <p:nvPr/>
        </p:nvGrpSpPr>
        <p:grpSpPr>
          <a:xfrm>
            <a:off x="7415927" y="2506661"/>
            <a:ext cx="3429002" cy="323852"/>
            <a:chOff x="0" y="0"/>
            <a:chExt cx="3429001" cy="323850"/>
          </a:xfrm>
        </p:grpSpPr>
        <p:sp>
          <p:nvSpPr>
            <p:cNvPr id="864" name="Dikdörtgen"/>
            <p:cNvSpPr/>
            <p:nvPr/>
          </p:nvSpPr>
          <p:spPr>
            <a:xfrm>
              <a:off x="-1" y="0"/>
              <a:ext cx="3429003" cy="3238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65" name="2. Kişiye Özel Tahmin"/>
            <p:cNvSpPr txBox="1"/>
            <p:nvPr/>
          </p:nvSpPr>
          <p:spPr>
            <a:xfrm>
              <a:off x="-1" y="0"/>
              <a:ext cx="3429003" cy="292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2. Kişiye Özel Tahmin</a:t>
              </a:r>
            </a:p>
          </p:txBody>
        </p:sp>
      </p:grpSp>
      <p:sp>
        <p:nvSpPr>
          <p:cNvPr id="867" name="Kare"/>
          <p:cNvSpPr/>
          <p:nvPr/>
        </p:nvSpPr>
        <p:spPr>
          <a:xfrm>
            <a:off x="7434977" y="3144836"/>
            <a:ext cx="66677" cy="66677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70" name="Grupla"/>
          <p:cNvGrpSpPr/>
          <p:nvPr/>
        </p:nvGrpSpPr>
        <p:grpSpPr>
          <a:xfrm>
            <a:off x="7606427" y="3078161"/>
            <a:ext cx="3448052" cy="419102"/>
            <a:chOff x="0" y="0"/>
            <a:chExt cx="3448051" cy="419100"/>
          </a:xfrm>
        </p:grpSpPr>
        <p:sp>
          <p:nvSpPr>
            <p:cNvPr id="868" name="Dikdörtgen"/>
            <p:cNvSpPr/>
            <p:nvPr/>
          </p:nvSpPr>
          <p:spPr>
            <a:xfrm>
              <a:off x="-1" y="0"/>
              <a:ext cx="3448053" cy="4191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69" name="Her satır müşteri + ürün çiftidir."/>
            <p:cNvSpPr txBox="1"/>
            <p:nvPr/>
          </p:nvSpPr>
          <p:spPr>
            <a:xfrm>
              <a:off x="-1" y="0"/>
              <a:ext cx="3448053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Her satır müşteri + ürün çiftidir.</a:t>
              </a:r>
            </a:p>
          </p:txBody>
        </p:sp>
      </p:grpSp>
      <p:sp>
        <p:nvSpPr>
          <p:cNvPr id="871" name="Kare"/>
          <p:cNvSpPr/>
          <p:nvPr/>
        </p:nvSpPr>
        <p:spPr>
          <a:xfrm>
            <a:off x="7434977" y="3525837"/>
            <a:ext cx="66677" cy="66677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74" name="Grupla"/>
          <p:cNvGrpSpPr/>
          <p:nvPr/>
        </p:nvGrpSpPr>
        <p:grpSpPr>
          <a:xfrm>
            <a:off x="7606427" y="3459162"/>
            <a:ext cx="3448052" cy="419102"/>
            <a:chOff x="0" y="0"/>
            <a:chExt cx="3448051" cy="419100"/>
          </a:xfrm>
        </p:grpSpPr>
        <p:sp>
          <p:nvSpPr>
            <p:cNvPr id="872" name="Dikdörtgen"/>
            <p:cNvSpPr/>
            <p:nvPr/>
          </p:nvSpPr>
          <p:spPr>
            <a:xfrm>
              <a:off x="-1" y="0"/>
              <a:ext cx="3448053" cy="4191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73" name="Model satın alma olasılığı üretir."/>
            <p:cNvSpPr txBox="1"/>
            <p:nvPr/>
          </p:nvSpPr>
          <p:spPr>
            <a:xfrm>
              <a:off x="-1" y="0"/>
              <a:ext cx="3448053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Model satın alma olasılığı üretir.</a:t>
              </a:r>
            </a:p>
          </p:txBody>
        </p:sp>
      </p:grpSp>
      <p:sp>
        <p:nvSpPr>
          <p:cNvPr id="875" name="Kare"/>
          <p:cNvSpPr/>
          <p:nvPr/>
        </p:nvSpPr>
        <p:spPr>
          <a:xfrm>
            <a:off x="7434977" y="3906837"/>
            <a:ext cx="66677" cy="66677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78" name="Grupla"/>
          <p:cNvGrpSpPr/>
          <p:nvPr/>
        </p:nvGrpSpPr>
        <p:grpSpPr>
          <a:xfrm>
            <a:off x="7606427" y="3840162"/>
            <a:ext cx="3448052" cy="419102"/>
            <a:chOff x="0" y="0"/>
            <a:chExt cx="3448051" cy="419100"/>
          </a:xfrm>
        </p:grpSpPr>
        <p:sp>
          <p:nvSpPr>
            <p:cNvPr id="876" name="Dikdörtgen"/>
            <p:cNvSpPr/>
            <p:nvPr/>
          </p:nvSpPr>
          <p:spPr>
            <a:xfrm>
              <a:off x="-1" y="0"/>
              <a:ext cx="3448053" cy="4191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77" name="Daha önce satın alınan ürünler öneriden çıkarılır."/>
            <p:cNvSpPr txBox="1"/>
            <p:nvPr/>
          </p:nvSpPr>
          <p:spPr>
            <a:xfrm>
              <a:off x="-1" y="0"/>
              <a:ext cx="3448053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Daha önce satın alınan ürünler öneriden çıkarılır.</a:t>
              </a:r>
            </a:p>
          </p:txBody>
        </p:sp>
      </p:grpSp>
      <p:grpSp>
        <p:nvGrpSpPr>
          <p:cNvPr id="881" name="Grupla"/>
          <p:cNvGrpSpPr/>
          <p:nvPr/>
        </p:nvGrpSpPr>
        <p:grpSpPr>
          <a:xfrm>
            <a:off x="5048250" y="3371849"/>
            <a:ext cx="2000250" cy="514351"/>
            <a:chOff x="0" y="0"/>
            <a:chExt cx="2000250" cy="514350"/>
          </a:xfrm>
        </p:grpSpPr>
        <p:sp>
          <p:nvSpPr>
            <p:cNvPr id="879" name="Dikdörtgen"/>
            <p:cNvSpPr/>
            <p:nvPr/>
          </p:nvSpPr>
          <p:spPr>
            <a:xfrm>
              <a:off x="0" y="0"/>
              <a:ext cx="2000250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2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80" name="product_id ile ürün sinyali kişisel modele taşınır"/>
            <p:cNvSpPr txBox="1"/>
            <p:nvPr/>
          </p:nvSpPr>
          <p:spPr>
            <a:xfrm>
              <a:off x="0" y="-1"/>
              <a:ext cx="2000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2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product_id ile ürün sinyali kişisel modele taşınır</a:t>
              </a:r>
            </a:p>
          </p:txBody>
        </p:sp>
      </p:grpSp>
      <p:grpSp>
        <p:nvGrpSpPr>
          <p:cNvPr id="884" name="Grupla"/>
          <p:cNvGrpSpPr/>
          <p:nvPr/>
        </p:nvGrpSpPr>
        <p:grpSpPr>
          <a:xfrm>
            <a:off x="5734050" y="2914649"/>
            <a:ext cx="666750" cy="469901"/>
            <a:chOff x="0" y="0"/>
            <a:chExt cx="666750" cy="469900"/>
          </a:xfrm>
        </p:grpSpPr>
        <p:sp>
          <p:nvSpPr>
            <p:cNvPr id="882" name="Dikdörtgen"/>
            <p:cNvSpPr/>
            <p:nvPr/>
          </p:nvSpPr>
          <p:spPr>
            <a:xfrm>
              <a:off x="0" y="-1"/>
              <a:ext cx="666750" cy="4191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31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83" name="→"/>
            <p:cNvSpPr txBox="1"/>
            <p:nvPr/>
          </p:nvSpPr>
          <p:spPr>
            <a:xfrm>
              <a:off x="0" y="0"/>
              <a:ext cx="666750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3100">
                  <a:solidFill>
                    <a:srgbClr val="F47C2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885" name="Dikdörtgen"/>
          <p:cNvSpPr/>
          <p:nvPr/>
        </p:nvSpPr>
        <p:spPr>
          <a:xfrm>
            <a:off x="1143000" y="5334000"/>
            <a:ext cx="8953500" cy="51435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888" name="Grupla"/>
          <p:cNvGrpSpPr/>
          <p:nvPr/>
        </p:nvGrpSpPr>
        <p:grpSpPr>
          <a:xfrm>
            <a:off x="1295400" y="5448299"/>
            <a:ext cx="8648700" cy="342901"/>
            <a:chOff x="0" y="0"/>
            <a:chExt cx="8648700" cy="342900"/>
          </a:xfrm>
        </p:grpSpPr>
        <p:sp>
          <p:nvSpPr>
            <p:cNvPr id="886" name="Dikdörtgen"/>
            <p:cNvSpPr/>
            <p:nvPr/>
          </p:nvSpPr>
          <p:spPr>
            <a:xfrm>
              <a:off x="0" y="0"/>
              <a:ext cx="86487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87" name="Genel Öneriler ürün seviyesidir, Müşteri sekmesi kişisel tahmindir."/>
            <p:cNvSpPr txBox="1"/>
            <p:nvPr/>
          </p:nvSpPr>
          <p:spPr>
            <a:xfrm>
              <a:off x="0" y="-1"/>
              <a:ext cx="86487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4" indent="1828800"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Genel Öneriler ürün seviyesidir, Müşteri sekmesi kişisel tahmindir.</a:t>
              </a:r>
            </a:p>
          </p:txBody>
        </p:sp>
      </p:grpSp>
      <p:grpSp>
        <p:nvGrpSpPr>
          <p:cNvPr id="891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889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90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894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892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93" name="10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7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00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898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99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903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901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02" name="Kişisel Model Verisi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Kişisel Model Verisi</a:t>
              </a:r>
            </a:p>
          </p:txBody>
        </p:sp>
      </p:grpSp>
      <p:grpSp>
        <p:nvGrpSpPr>
          <p:cNvPr id="906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904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905" name="Kişisel model müşteri-ürün çiftleriyle eğitildi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Kişisel model müşteri-ürün çiftleriyle eğitildi</a:t>
              </a:r>
            </a:p>
          </p:txBody>
        </p:sp>
      </p:grpSp>
      <p:grpSp>
        <p:nvGrpSpPr>
          <p:cNvPr id="909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907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08" name="Modelin sorusu: Bu müşteri bu ürünü satın alır mı? Bu nedenle hedef değişken satın aldı / almadı biçimindedi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Modelin sorusu: Bu müşteri bu ürünü satın alır mı? Bu nedenle hedef değişken satın aldı / almadı biçimindedir.</a:t>
              </a:r>
            </a:p>
          </p:txBody>
        </p:sp>
      </p:grpSp>
      <p:sp>
        <p:nvSpPr>
          <p:cNvPr id="910" name="Dikdörtgen"/>
          <p:cNvSpPr/>
          <p:nvPr/>
        </p:nvSpPr>
        <p:spPr>
          <a:xfrm>
            <a:off x="723900" y="2057400"/>
            <a:ext cx="23812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1" name="Dikdörtgen"/>
          <p:cNvSpPr/>
          <p:nvPr/>
        </p:nvSpPr>
        <p:spPr>
          <a:xfrm>
            <a:off x="685800" y="2000250"/>
            <a:ext cx="23812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2" name="Dikdörtgen"/>
          <p:cNvSpPr/>
          <p:nvPr/>
        </p:nvSpPr>
        <p:spPr>
          <a:xfrm>
            <a:off x="685800" y="2000250"/>
            <a:ext cx="57150" cy="10287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15" name="Grupla"/>
          <p:cNvGrpSpPr/>
          <p:nvPr/>
        </p:nvGrpSpPr>
        <p:grpSpPr>
          <a:xfrm>
            <a:off x="876300" y="2171699"/>
            <a:ext cx="2000250" cy="152401"/>
            <a:chOff x="0" y="0"/>
            <a:chExt cx="2000250" cy="152400"/>
          </a:xfrm>
        </p:grpSpPr>
        <p:sp>
          <p:nvSpPr>
            <p:cNvPr id="913" name="Dikdörtgen"/>
            <p:cNvSpPr/>
            <p:nvPr/>
          </p:nvSpPr>
          <p:spPr>
            <a:xfrm>
              <a:off x="0" y="0"/>
              <a:ext cx="20002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14" name="TABLO BOYUTU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TABLO BOYUTU</a:t>
              </a:r>
            </a:p>
          </p:txBody>
        </p:sp>
      </p:grpSp>
      <p:grpSp>
        <p:nvGrpSpPr>
          <p:cNvPr id="918" name="Grupla"/>
          <p:cNvGrpSpPr/>
          <p:nvPr/>
        </p:nvGrpSpPr>
        <p:grpSpPr>
          <a:xfrm>
            <a:off x="876300" y="2400299"/>
            <a:ext cx="2000250" cy="361951"/>
            <a:chOff x="0" y="0"/>
            <a:chExt cx="2000250" cy="361950"/>
          </a:xfrm>
        </p:grpSpPr>
        <p:sp>
          <p:nvSpPr>
            <p:cNvPr id="916" name="Dikdörtgen"/>
            <p:cNvSpPr/>
            <p:nvPr/>
          </p:nvSpPr>
          <p:spPr>
            <a:xfrm>
              <a:off x="0" y="0"/>
              <a:ext cx="20002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17" name="529.593 x 24"/>
            <p:cNvSpPr txBox="1"/>
            <p:nvPr/>
          </p:nvSpPr>
          <p:spPr>
            <a:xfrm>
              <a:off x="0" y="-1"/>
              <a:ext cx="20002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529.593 x 24</a:t>
              </a:r>
            </a:p>
          </p:txBody>
        </p:sp>
      </p:grpSp>
      <p:grpSp>
        <p:nvGrpSpPr>
          <p:cNvPr id="921" name="Grupla"/>
          <p:cNvGrpSpPr/>
          <p:nvPr/>
        </p:nvGrpSpPr>
        <p:grpSpPr>
          <a:xfrm>
            <a:off x="876300" y="2781299"/>
            <a:ext cx="2000250" cy="171451"/>
            <a:chOff x="0" y="0"/>
            <a:chExt cx="2000250" cy="171450"/>
          </a:xfrm>
        </p:grpSpPr>
        <p:sp>
          <p:nvSpPr>
            <p:cNvPr id="919" name="Dikdörtgen"/>
            <p:cNvSpPr/>
            <p:nvPr/>
          </p:nvSpPr>
          <p:spPr>
            <a:xfrm>
              <a:off x="0" y="0"/>
              <a:ext cx="2000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20" name="kisisel_model_verisi.csv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kisisel_model_verisi.csv</a:t>
              </a:r>
            </a:p>
          </p:txBody>
        </p:sp>
      </p:grpSp>
      <p:sp>
        <p:nvSpPr>
          <p:cNvPr id="922" name="Dikdörtgen"/>
          <p:cNvSpPr/>
          <p:nvPr/>
        </p:nvSpPr>
        <p:spPr>
          <a:xfrm>
            <a:off x="3390900" y="2057400"/>
            <a:ext cx="23812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3" name="Dikdörtgen"/>
          <p:cNvSpPr/>
          <p:nvPr/>
        </p:nvSpPr>
        <p:spPr>
          <a:xfrm>
            <a:off x="3352800" y="2000250"/>
            <a:ext cx="23812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4" name="Dikdörtgen"/>
          <p:cNvSpPr/>
          <p:nvPr/>
        </p:nvSpPr>
        <p:spPr>
          <a:xfrm>
            <a:off x="3352800" y="2000250"/>
            <a:ext cx="57150" cy="10287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27" name="Grupla"/>
          <p:cNvGrpSpPr/>
          <p:nvPr/>
        </p:nvGrpSpPr>
        <p:grpSpPr>
          <a:xfrm>
            <a:off x="3543300" y="2171699"/>
            <a:ext cx="2000250" cy="152401"/>
            <a:chOff x="0" y="0"/>
            <a:chExt cx="2000250" cy="152400"/>
          </a:xfrm>
        </p:grpSpPr>
        <p:sp>
          <p:nvSpPr>
            <p:cNvPr id="925" name="Dikdörtgen"/>
            <p:cNvSpPr/>
            <p:nvPr/>
          </p:nvSpPr>
          <p:spPr>
            <a:xfrm>
              <a:off x="0" y="0"/>
              <a:ext cx="20002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26" name="SATIN ALDI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SATIN ALDI</a:t>
              </a:r>
            </a:p>
          </p:txBody>
        </p:sp>
      </p:grpSp>
      <p:grpSp>
        <p:nvGrpSpPr>
          <p:cNvPr id="930" name="Grupla"/>
          <p:cNvGrpSpPr/>
          <p:nvPr/>
        </p:nvGrpSpPr>
        <p:grpSpPr>
          <a:xfrm>
            <a:off x="3543300" y="2400299"/>
            <a:ext cx="2000250" cy="361951"/>
            <a:chOff x="0" y="0"/>
            <a:chExt cx="2000250" cy="361950"/>
          </a:xfrm>
        </p:grpSpPr>
        <p:sp>
          <p:nvSpPr>
            <p:cNvPr id="928" name="Dikdörtgen"/>
            <p:cNvSpPr/>
            <p:nvPr/>
          </p:nvSpPr>
          <p:spPr>
            <a:xfrm>
              <a:off x="0" y="0"/>
              <a:ext cx="20002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29" name="58.969"/>
            <p:cNvSpPr txBox="1"/>
            <p:nvPr/>
          </p:nvSpPr>
          <p:spPr>
            <a:xfrm>
              <a:off x="0" y="-1"/>
              <a:ext cx="20002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58.969</a:t>
              </a:r>
            </a:p>
          </p:txBody>
        </p:sp>
      </p:grpSp>
      <p:grpSp>
        <p:nvGrpSpPr>
          <p:cNvPr id="933" name="Grupla"/>
          <p:cNvGrpSpPr/>
          <p:nvPr/>
        </p:nvGrpSpPr>
        <p:grpSpPr>
          <a:xfrm>
            <a:off x="3543300" y="2781299"/>
            <a:ext cx="2000250" cy="171451"/>
            <a:chOff x="0" y="0"/>
            <a:chExt cx="2000250" cy="171450"/>
          </a:xfrm>
        </p:grpSpPr>
        <p:sp>
          <p:nvSpPr>
            <p:cNvPr id="931" name="Dikdörtgen"/>
            <p:cNvSpPr/>
            <p:nvPr/>
          </p:nvSpPr>
          <p:spPr>
            <a:xfrm>
              <a:off x="0" y="0"/>
              <a:ext cx="2000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32" name="pozitif sınıf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pozitif sınıf</a:t>
              </a:r>
            </a:p>
          </p:txBody>
        </p:sp>
      </p:grpSp>
      <p:sp>
        <p:nvSpPr>
          <p:cNvPr id="934" name="Dikdörtgen"/>
          <p:cNvSpPr/>
          <p:nvPr/>
        </p:nvSpPr>
        <p:spPr>
          <a:xfrm>
            <a:off x="6057900" y="2057400"/>
            <a:ext cx="23812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5" name="Dikdörtgen"/>
          <p:cNvSpPr/>
          <p:nvPr/>
        </p:nvSpPr>
        <p:spPr>
          <a:xfrm>
            <a:off x="6019800" y="2000250"/>
            <a:ext cx="23812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6" name="Dikdörtgen"/>
          <p:cNvSpPr/>
          <p:nvPr/>
        </p:nvSpPr>
        <p:spPr>
          <a:xfrm>
            <a:off x="6019800" y="2000250"/>
            <a:ext cx="57150" cy="1028700"/>
          </a:xfrm>
          <a:prstGeom prst="rect">
            <a:avLst/>
          </a:prstGeom>
          <a:solidFill>
            <a:srgbClr val="D6453D"/>
          </a:solidFill>
          <a:ln w="3175">
            <a:solidFill>
              <a:srgbClr val="D6453D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39" name="Grupla"/>
          <p:cNvGrpSpPr/>
          <p:nvPr/>
        </p:nvGrpSpPr>
        <p:grpSpPr>
          <a:xfrm>
            <a:off x="6210300" y="2171699"/>
            <a:ext cx="2000250" cy="152401"/>
            <a:chOff x="0" y="0"/>
            <a:chExt cx="2000250" cy="152400"/>
          </a:xfrm>
        </p:grpSpPr>
        <p:sp>
          <p:nvSpPr>
            <p:cNvPr id="937" name="Dikdörtgen"/>
            <p:cNvSpPr/>
            <p:nvPr/>
          </p:nvSpPr>
          <p:spPr>
            <a:xfrm>
              <a:off x="0" y="0"/>
              <a:ext cx="20002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38" name="SATIN ALMADI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SATIN ALMADI</a:t>
              </a:r>
            </a:p>
          </p:txBody>
        </p:sp>
      </p:grpSp>
      <p:grpSp>
        <p:nvGrpSpPr>
          <p:cNvPr id="942" name="Grupla"/>
          <p:cNvGrpSpPr/>
          <p:nvPr/>
        </p:nvGrpSpPr>
        <p:grpSpPr>
          <a:xfrm>
            <a:off x="6210300" y="2400299"/>
            <a:ext cx="2000250" cy="361951"/>
            <a:chOff x="0" y="0"/>
            <a:chExt cx="2000250" cy="361950"/>
          </a:xfrm>
        </p:grpSpPr>
        <p:sp>
          <p:nvSpPr>
            <p:cNvPr id="940" name="Dikdörtgen"/>
            <p:cNvSpPr/>
            <p:nvPr/>
          </p:nvSpPr>
          <p:spPr>
            <a:xfrm>
              <a:off x="0" y="0"/>
              <a:ext cx="20002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41" name="470.624"/>
            <p:cNvSpPr txBox="1"/>
            <p:nvPr/>
          </p:nvSpPr>
          <p:spPr>
            <a:xfrm>
              <a:off x="0" y="-1"/>
              <a:ext cx="20002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470.624</a:t>
              </a:r>
            </a:p>
          </p:txBody>
        </p:sp>
      </p:grpSp>
      <p:grpSp>
        <p:nvGrpSpPr>
          <p:cNvPr id="945" name="Grupla"/>
          <p:cNvGrpSpPr/>
          <p:nvPr/>
        </p:nvGrpSpPr>
        <p:grpSpPr>
          <a:xfrm>
            <a:off x="6210300" y="2781299"/>
            <a:ext cx="2000250" cy="171451"/>
            <a:chOff x="0" y="0"/>
            <a:chExt cx="2000250" cy="171450"/>
          </a:xfrm>
        </p:grpSpPr>
        <p:sp>
          <p:nvSpPr>
            <p:cNvPr id="943" name="Dikdörtgen"/>
            <p:cNvSpPr/>
            <p:nvPr/>
          </p:nvSpPr>
          <p:spPr>
            <a:xfrm>
              <a:off x="0" y="0"/>
              <a:ext cx="2000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44" name="negatif sınıf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negatif sınıf</a:t>
              </a:r>
            </a:p>
          </p:txBody>
        </p:sp>
      </p:grpSp>
      <p:sp>
        <p:nvSpPr>
          <p:cNvPr id="946" name="Dikdörtgen"/>
          <p:cNvSpPr/>
          <p:nvPr/>
        </p:nvSpPr>
        <p:spPr>
          <a:xfrm>
            <a:off x="8724900" y="2057400"/>
            <a:ext cx="23812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7" name="Dikdörtgen"/>
          <p:cNvSpPr/>
          <p:nvPr/>
        </p:nvSpPr>
        <p:spPr>
          <a:xfrm>
            <a:off x="8686800" y="2000250"/>
            <a:ext cx="23812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8" name="Dikdörtgen"/>
          <p:cNvSpPr/>
          <p:nvPr/>
        </p:nvSpPr>
        <p:spPr>
          <a:xfrm>
            <a:off x="8686800" y="2000250"/>
            <a:ext cx="57150" cy="10287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51" name="Grupla"/>
          <p:cNvGrpSpPr/>
          <p:nvPr/>
        </p:nvGrpSpPr>
        <p:grpSpPr>
          <a:xfrm>
            <a:off x="8877300" y="2171699"/>
            <a:ext cx="2000250" cy="152401"/>
            <a:chOff x="0" y="0"/>
            <a:chExt cx="2000250" cy="152400"/>
          </a:xfrm>
        </p:grpSpPr>
        <p:sp>
          <p:nvSpPr>
            <p:cNvPr id="949" name="Dikdörtgen"/>
            <p:cNvSpPr/>
            <p:nvPr/>
          </p:nvSpPr>
          <p:spPr>
            <a:xfrm>
              <a:off x="0" y="0"/>
              <a:ext cx="20002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50" name="MODEL AUC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MODEL AUC</a:t>
              </a:r>
            </a:p>
          </p:txBody>
        </p:sp>
      </p:grpSp>
      <p:grpSp>
        <p:nvGrpSpPr>
          <p:cNvPr id="954" name="Grupla"/>
          <p:cNvGrpSpPr/>
          <p:nvPr/>
        </p:nvGrpSpPr>
        <p:grpSpPr>
          <a:xfrm>
            <a:off x="8877300" y="2400299"/>
            <a:ext cx="2000250" cy="361951"/>
            <a:chOff x="0" y="0"/>
            <a:chExt cx="2000250" cy="361950"/>
          </a:xfrm>
        </p:grpSpPr>
        <p:sp>
          <p:nvSpPr>
            <p:cNvPr id="952" name="Dikdörtgen"/>
            <p:cNvSpPr/>
            <p:nvPr/>
          </p:nvSpPr>
          <p:spPr>
            <a:xfrm>
              <a:off x="0" y="0"/>
              <a:ext cx="20002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53" name="0.954"/>
            <p:cNvSpPr txBox="1"/>
            <p:nvPr/>
          </p:nvSpPr>
          <p:spPr>
            <a:xfrm>
              <a:off x="0" y="-1"/>
              <a:ext cx="20002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0.954</a:t>
              </a:r>
            </a:p>
          </p:txBody>
        </p:sp>
      </p:grpSp>
      <p:grpSp>
        <p:nvGrpSpPr>
          <p:cNvPr id="957" name="Grupla"/>
          <p:cNvGrpSpPr/>
          <p:nvPr/>
        </p:nvGrpSpPr>
        <p:grpSpPr>
          <a:xfrm>
            <a:off x="8877300" y="2781299"/>
            <a:ext cx="2000250" cy="171451"/>
            <a:chOff x="0" y="0"/>
            <a:chExt cx="2000250" cy="171450"/>
          </a:xfrm>
        </p:grpSpPr>
        <p:sp>
          <p:nvSpPr>
            <p:cNvPr id="955" name="Dikdörtgen"/>
            <p:cNvSpPr/>
            <p:nvPr/>
          </p:nvSpPr>
          <p:spPr>
            <a:xfrm>
              <a:off x="0" y="0"/>
              <a:ext cx="2000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56" name="test seti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test seti</a:t>
              </a:r>
            </a:p>
          </p:txBody>
        </p:sp>
      </p:grpSp>
      <p:sp>
        <p:nvSpPr>
          <p:cNvPr id="958" name="Dikdörtgen"/>
          <p:cNvSpPr/>
          <p:nvPr/>
        </p:nvSpPr>
        <p:spPr>
          <a:xfrm>
            <a:off x="857250" y="3695700"/>
            <a:ext cx="5219700" cy="22098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9" name="Dikdörtgen"/>
          <p:cNvSpPr/>
          <p:nvPr/>
        </p:nvSpPr>
        <p:spPr>
          <a:xfrm>
            <a:off x="819150" y="3638550"/>
            <a:ext cx="5219700" cy="22098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62" name="Grupla"/>
          <p:cNvGrpSpPr/>
          <p:nvPr/>
        </p:nvGrpSpPr>
        <p:grpSpPr>
          <a:xfrm>
            <a:off x="990600" y="3771899"/>
            <a:ext cx="4876800" cy="190501"/>
            <a:chOff x="0" y="0"/>
            <a:chExt cx="4876800" cy="190500"/>
          </a:xfrm>
        </p:grpSpPr>
        <p:sp>
          <p:nvSpPr>
            <p:cNvPr id="960" name="Dikdörtgen"/>
            <p:cNvSpPr/>
            <p:nvPr/>
          </p:nvSpPr>
          <p:spPr>
            <a:xfrm>
              <a:off x="0" y="0"/>
              <a:ext cx="48768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61" name="Müşteri-ürün davranış tablosu"/>
            <p:cNvSpPr txBox="1"/>
            <p:nvPr/>
          </p:nvSpPr>
          <p:spPr>
            <a:xfrm>
              <a:off x="0" y="-1"/>
              <a:ext cx="4876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Müşteri-ürün davranış tablosu</a:t>
              </a:r>
            </a:p>
          </p:txBody>
        </p:sp>
      </p:grpSp>
      <p:grpSp>
        <p:nvGrpSpPr>
          <p:cNvPr id="965" name="Grupla"/>
          <p:cNvGrpSpPr/>
          <p:nvPr/>
        </p:nvGrpSpPr>
        <p:grpSpPr>
          <a:xfrm>
            <a:off x="990600" y="4038599"/>
            <a:ext cx="4876800" cy="1714501"/>
            <a:chOff x="0" y="0"/>
            <a:chExt cx="4876800" cy="1714500"/>
          </a:xfrm>
        </p:grpSpPr>
        <p:sp>
          <p:nvSpPr>
            <p:cNvPr id="963" name="Dikdörtgen"/>
            <p:cNvSpPr/>
            <p:nvPr/>
          </p:nvSpPr>
          <p:spPr>
            <a:xfrm>
              <a:off x="0" y="0"/>
              <a:ext cx="48768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964" name="davranis = (…"/>
            <p:cNvSpPr txBox="1"/>
            <p:nvPr/>
          </p:nvSpPr>
          <p:spPr>
            <a:xfrm>
              <a:off x="0" y="-1"/>
              <a:ext cx="4876800" cy="167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davranis = 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events.dropna(subset=["product_id"])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.merge(sessions[["session_id", "customer_id"]],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       on="session_id", how="left")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.pivot_table(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    index=["customer_id", "product_id"],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    columns="event_type",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    values="event_id",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    aggfunc="count",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    fill_value=0)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</p:txBody>
        </p:sp>
      </p:grpSp>
      <p:sp>
        <p:nvSpPr>
          <p:cNvPr id="966" name="Kare"/>
          <p:cNvSpPr/>
          <p:nvPr/>
        </p:nvSpPr>
        <p:spPr>
          <a:xfrm>
            <a:off x="6705600" y="387667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69" name="Grupla"/>
          <p:cNvGrpSpPr/>
          <p:nvPr/>
        </p:nvGrpSpPr>
        <p:grpSpPr>
          <a:xfrm>
            <a:off x="6877050" y="3809999"/>
            <a:ext cx="3829050" cy="438151"/>
            <a:chOff x="0" y="0"/>
            <a:chExt cx="3829050" cy="438150"/>
          </a:xfrm>
        </p:grpSpPr>
        <p:sp>
          <p:nvSpPr>
            <p:cNvPr id="967" name="Dikdörtgen"/>
            <p:cNvSpPr/>
            <p:nvPr/>
          </p:nvSpPr>
          <p:spPr>
            <a:xfrm>
              <a:off x="0" y="0"/>
              <a:ext cx="382905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68" name="Pozitif örnek: müşterinin gerçekten satın aldığı ürün."/>
            <p:cNvSpPr txBox="1"/>
            <p:nvPr/>
          </p:nvSpPr>
          <p:spPr>
            <a:xfrm>
              <a:off x="0" y="-1"/>
              <a:ext cx="38290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Pozitif örnek: müşterinin gerçekten satın aldığı ürün.</a:t>
              </a:r>
            </a:p>
          </p:txBody>
        </p:sp>
      </p:grpSp>
      <p:sp>
        <p:nvSpPr>
          <p:cNvPr id="970" name="Kare"/>
          <p:cNvSpPr/>
          <p:nvPr/>
        </p:nvSpPr>
        <p:spPr>
          <a:xfrm>
            <a:off x="6705600" y="42767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73" name="Grupla"/>
          <p:cNvGrpSpPr/>
          <p:nvPr/>
        </p:nvGrpSpPr>
        <p:grpSpPr>
          <a:xfrm>
            <a:off x="6877050" y="4210049"/>
            <a:ext cx="3829050" cy="438151"/>
            <a:chOff x="0" y="0"/>
            <a:chExt cx="3829050" cy="438150"/>
          </a:xfrm>
        </p:grpSpPr>
        <p:sp>
          <p:nvSpPr>
            <p:cNvPr id="971" name="Dikdörtgen"/>
            <p:cNvSpPr/>
            <p:nvPr/>
          </p:nvSpPr>
          <p:spPr>
            <a:xfrm>
              <a:off x="0" y="0"/>
              <a:ext cx="382905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72" name="Negatif örnek: görüntülenen veya sepete eklenen ama satın alınmayan ürün."/>
            <p:cNvSpPr txBox="1"/>
            <p:nvPr/>
          </p:nvSpPr>
          <p:spPr>
            <a:xfrm>
              <a:off x="0" y="-1"/>
              <a:ext cx="38290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Negatif örnek: görüntülenen veya sepete eklenen ama satın alınmayan ürün.</a:t>
              </a:r>
            </a:p>
          </p:txBody>
        </p:sp>
      </p:grpSp>
      <p:sp>
        <p:nvSpPr>
          <p:cNvPr id="974" name="Kare"/>
          <p:cNvSpPr/>
          <p:nvPr/>
        </p:nvSpPr>
        <p:spPr>
          <a:xfrm>
            <a:off x="6705600" y="467677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77" name="Grupla"/>
          <p:cNvGrpSpPr/>
          <p:nvPr/>
        </p:nvGrpSpPr>
        <p:grpSpPr>
          <a:xfrm>
            <a:off x="6877050" y="4610099"/>
            <a:ext cx="3829050" cy="438151"/>
            <a:chOff x="0" y="0"/>
            <a:chExt cx="3829050" cy="438150"/>
          </a:xfrm>
        </p:grpSpPr>
        <p:sp>
          <p:nvSpPr>
            <p:cNvPr id="975" name="Dikdörtgen"/>
            <p:cNvSpPr/>
            <p:nvPr/>
          </p:nvSpPr>
          <p:spPr>
            <a:xfrm>
              <a:off x="0" y="0"/>
              <a:ext cx="382905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76" name="Hiç görülmeyen ürünler doğrudan negatif kabul edilmedi."/>
            <p:cNvSpPr txBox="1"/>
            <p:nvPr/>
          </p:nvSpPr>
          <p:spPr>
            <a:xfrm>
              <a:off x="0" y="-1"/>
              <a:ext cx="38290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Hiç görülmeyen ürünler doğrudan negatif kabul edilmedi.</a:t>
              </a:r>
            </a:p>
          </p:txBody>
        </p:sp>
      </p:grpSp>
      <p:grpSp>
        <p:nvGrpSpPr>
          <p:cNvPr id="980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978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79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983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981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82" name="11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6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989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987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88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992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990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91" name="Özellik Mühendisliği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Özellik Mühendisliği</a:t>
              </a:r>
            </a:p>
          </p:txBody>
        </p:sp>
      </p:grpSp>
      <p:grpSp>
        <p:nvGrpSpPr>
          <p:cNvPr id="995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993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994" name="Model yalnızca ürün bilgisiyle değil, müşteri davranışıyla da beslenir"/>
            <p:cNvSpPr txBox="1"/>
            <p:nvPr/>
          </p:nvSpPr>
          <p:spPr>
            <a:xfrm>
              <a:off x="0" y="-1"/>
              <a:ext cx="9239250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Model yalnızca ürün bilgisiyle değil, müşteri davranışıyla da beslenir</a:t>
              </a:r>
            </a:p>
          </p:txBody>
        </p:sp>
      </p:grpSp>
      <p:grpSp>
        <p:nvGrpSpPr>
          <p:cNvPr id="998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996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97" name="Kişiselleştirme, müşteri geçmişi + ürün kalitesi + kategori ilgisi aynı tabloda buluşunca ortaya çıka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Kişiselleştirme, müşteri geçmişi + ürün kalitesi + kategori ilgisi aynı tabloda buluşunca ortaya çıkar.</a:t>
              </a:r>
            </a:p>
          </p:txBody>
        </p:sp>
      </p:grpSp>
      <p:sp>
        <p:nvSpPr>
          <p:cNvPr id="999" name="Dikdörtgen"/>
          <p:cNvSpPr/>
          <p:nvPr/>
        </p:nvSpPr>
        <p:spPr>
          <a:xfrm>
            <a:off x="704850" y="2057400"/>
            <a:ext cx="3333750" cy="2000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0" name="Dikdörtgen"/>
          <p:cNvSpPr/>
          <p:nvPr/>
        </p:nvSpPr>
        <p:spPr>
          <a:xfrm>
            <a:off x="666750" y="2000250"/>
            <a:ext cx="3333750" cy="20002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1" name="Dikdörtgen"/>
          <p:cNvSpPr/>
          <p:nvPr/>
        </p:nvSpPr>
        <p:spPr>
          <a:xfrm>
            <a:off x="666750" y="2000250"/>
            <a:ext cx="57150" cy="200025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04" name="Grupla"/>
          <p:cNvGrpSpPr/>
          <p:nvPr/>
        </p:nvGrpSpPr>
        <p:grpSpPr>
          <a:xfrm>
            <a:off x="895350" y="2266949"/>
            <a:ext cx="2762250" cy="266701"/>
            <a:chOff x="0" y="0"/>
            <a:chExt cx="2762250" cy="266700"/>
          </a:xfrm>
        </p:grpSpPr>
        <p:sp>
          <p:nvSpPr>
            <p:cNvPr id="1002" name="Dikdörtgen"/>
            <p:cNvSpPr/>
            <p:nvPr/>
          </p:nvSpPr>
          <p:spPr>
            <a:xfrm>
              <a:off x="0" y="0"/>
              <a:ext cx="2762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03" name="Müşteri Davranışı"/>
            <p:cNvSpPr txBox="1"/>
            <p:nvPr/>
          </p:nvSpPr>
          <p:spPr>
            <a:xfrm>
              <a:off x="0" y="-1"/>
              <a:ext cx="276225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Müşteri Davranışı</a:t>
              </a:r>
            </a:p>
          </p:txBody>
        </p:sp>
      </p:grpSp>
      <p:sp>
        <p:nvSpPr>
          <p:cNvPr id="1005" name="Dikdörtgen"/>
          <p:cNvSpPr/>
          <p:nvPr/>
        </p:nvSpPr>
        <p:spPr>
          <a:xfrm>
            <a:off x="895350" y="27432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08" name="Grupla"/>
          <p:cNvGrpSpPr/>
          <p:nvPr/>
        </p:nvGrpSpPr>
        <p:grpSpPr>
          <a:xfrm>
            <a:off x="990600" y="2809874"/>
            <a:ext cx="1085850" cy="139701"/>
            <a:chOff x="0" y="0"/>
            <a:chExt cx="1085850" cy="139700"/>
          </a:xfrm>
        </p:grpSpPr>
        <p:sp>
          <p:nvSpPr>
            <p:cNvPr id="1006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07" name="page_view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page_view</a:t>
              </a:r>
            </a:p>
          </p:txBody>
        </p:sp>
      </p:grpSp>
      <p:sp>
        <p:nvSpPr>
          <p:cNvPr id="1009" name="Dikdörtgen"/>
          <p:cNvSpPr/>
          <p:nvPr/>
        </p:nvSpPr>
        <p:spPr>
          <a:xfrm>
            <a:off x="2343150" y="27432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12" name="Grupla"/>
          <p:cNvGrpSpPr/>
          <p:nvPr/>
        </p:nvGrpSpPr>
        <p:grpSpPr>
          <a:xfrm>
            <a:off x="2438400" y="2809874"/>
            <a:ext cx="1085850" cy="139701"/>
            <a:chOff x="0" y="0"/>
            <a:chExt cx="1085850" cy="139700"/>
          </a:xfrm>
        </p:grpSpPr>
        <p:sp>
          <p:nvSpPr>
            <p:cNvPr id="1010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11" name="add_to_cart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add_to_cart</a:t>
              </a:r>
            </a:p>
          </p:txBody>
        </p:sp>
      </p:grpSp>
      <p:sp>
        <p:nvSpPr>
          <p:cNvPr id="1013" name="Dikdörtgen"/>
          <p:cNvSpPr/>
          <p:nvPr/>
        </p:nvSpPr>
        <p:spPr>
          <a:xfrm>
            <a:off x="895350" y="306705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16" name="Grupla"/>
          <p:cNvGrpSpPr/>
          <p:nvPr/>
        </p:nvGrpSpPr>
        <p:grpSpPr>
          <a:xfrm>
            <a:off x="990600" y="3133724"/>
            <a:ext cx="1085850" cy="139701"/>
            <a:chOff x="0" y="0"/>
            <a:chExt cx="1085850" cy="139700"/>
          </a:xfrm>
        </p:grpSpPr>
        <p:sp>
          <p:nvSpPr>
            <p:cNvPr id="1014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15" name="kategori_ilgi_orani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kategori_ilgi_orani</a:t>
              </a:r>
            </a:p>
          </p:txBody>
        </p:sp>
      </p:grpSp>
      <p:sp>
        <p:nvSpPr>
          <p:cNvPr id="1017" name="Dikdörtgen"/>
          <p:cNvSpPr/>
          <p:nvPr/>
        </p:nvSpPr>
        <p:spPr>
          <a:xfrm>
            <a:off x="4514850" y="2057400"/>
            <a:ext cx="3333750" cy="2000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8" name="Dikdörtgen"/>
          <p:cNvSpPr/>
          <p:nvPr/>
        </p:nvSpPr>
        <p:spPr>
          <a:xfrm>
            <a:off x="4476750" y="2000250"/>
            <a:ext cx="3333750" cy="20002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9" name="Dikdörtgen"/>
          <p:cNvSpPr/>
          <p:nvPr/>
        </p:nvSpPr>
        <p:spPr>
          <a:xfrm>
            <a:off x="4476750" y="2000250"/>
            <a:ext cx="57150" cy="200025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22" name="Grupla"/>
          <p:cNvGrpSpPr/>
          <p:nvPr/>
        </p:nvGrpSpPr>
        <p:grpSpPr>
          <a:xfrm>
            <a:off x="4705350" y="2266949"/>
            <a:ext cx="2762250" cy="266701"/>
            <a:chOff x="0" y="0"/>
            <a:chExt cx="2762250" cy="266700"/>
          </a:xfrm>
        </p:grpSpPr>
        <p:sp>
          <p:nvSpPr>
            <p:cNvPr id="1020" name="Dikdörtgen"/>
            <p:cNvSpPr/>
            <p:nvPr/>
          </p:nvSpPr>
          <p:spPr>
            <a:xfrm>
              <a:off x="0" y="0"/>
              <a:ext cx="2762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21" name="Ürün Sinyalleri"/>
            <p:cNvSpPr txBox="1"/>
            <p:nvPr/>
          </p:nvSpPr>
          <p:spPr>
            <a:xfrm>
              <a:off x="0" y="-1"/>
              <a:ext cx="276225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Sinyalleri</a:t>
              </a:r>
            </a:p>
          </p:txBody>
        </p:sp>
      </p:grpSp>
      <p:sp>
        <p:nvSpPr>
          <p:cNvPr id="1023" name="Dikdörtgen"/>
          <p:cNvSpPr/>
          <p:nvPr/>
        </p:nvSpPr>
        <p:spPr>
          <a:xfrm>
            <a:off x="4705350" y="27432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26" name="Grupla"/>
          <p:cNvGrpSpPr/>
          <p:nvPr/>
        </p:nvGrpSpPr>
        <p:grpSpPr>
          <a:xfrm>
            <a:off x="4800600" y="2809874"/>
            <a:ext cx="1085850" cy="139701"/>
            <a:chOff x="0" y="0"/>
            <a:chExt cx="1085850" cy="139700"/>
          </a:xfrm>
        </p:grpSpPr>
        <p:sp>
          <p:nvSpPr>
            <p:cNvPr id="1024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25" name="price_usd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price_usd</a:t>
              </a:r>
            </a:p>
          </p:txBody>
        </p:sp>
      </p:grpSp>
      <p:sp>
        <p:nvSpPr>
          <p:cNvPr id="1027" name="Dikdörtgen"/>
          <p:cNvSpPr/>
          <p:nvPr/>
        </p:nvSpPr>
        <p:spPr>
          <a:xfrm>
            <a:off x="6153150" y="27432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30" name="Grupla"/>
          <p:cNvGrpSpPr/>
          <p:nvPr/>
        </p:nvGrpSpPr>
        <p:grpSpPr>
          <a:xfrm>
            <a:off x="6248400" y="2809874"/>
            <a:ext cx="1085850" cy="139701"/>
            <a:chOff x="0" y="0"/>
            <a:chExt cx="1085850" cy="139700"/>
          </a:xfrm>
        </p:grpSpPr>
        <p:sp>
          <p:nvSpPr>
            <p:cNvPr id="1028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29" name="margin_usd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margin_usd</a:t>
              </a:r>
            </a:p>
          </p:txBody>
        </p:sp>
      </p:grpSp>
      <p:sp>
        <p:nvSpPr>
          <p:cNvPr id="1031" name="Dikdörtgen"/>
          <p:cNvSpPr/>
          <p:nvPr/>
        </p:nvSpPr>
        <p:spPr>
          <a:xfrm>
            <a:off x="4705350" y="306705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34" name="Grupla"/>
          <p:cNvGrpSpPr/>
          <p:nvPr/>
        </p:nvGrpSpPr>
        <p:grpSpPr>
          <a:xfrm>
            <a:off x="4800600" y="3133724"/>
            <a:ext cx="1085850" cy="139701"/>
            <a:chOff x="0" y="0"/>
            <a:chExt cx="1085850" cy="139700"/>
          </a:xfrm>
        </p:grpSpPr>
        <p:sp>
          <p:nvSpPr>
            <p:cNvPr id="1032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33" name="ort_rating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ort_rating</a:t>
              </a:r>
            </a:p>
          </p:txBody>
        </p:sp>
      </p:grpSp>
      <p:sp>
        <p:nvSpPr>
          <p:cNvPr id="1035" name="Dikdörtgen"/>
          <p:cNvSpPr/>
          <p:nvPr/>
        </p:nvSpPr>
        <p:spPr>
          <a:xfrm>
            <a:off x="6153150" y="306705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38" name="Grupla"/>
          <p:cNvGrpSpPr/>
          <p:nvPr/>
        </p:nvGrpSpPr>
        <p:grpSpPr>
          <a:xfrm>
            <a:off x="6248400" y="3133724"/>
            <a:ext cx="1085850" cy="139701"/>
            <a:chOff x="0" y="0"/>
            <a:chExt cx="1085850" cy="139700"/>
          </a:xfrm>
        </p:grpSpPr>
        <p:sp>
          <p:nvSpPr>
            <p:cNvPr id="1036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37" name="pozitif_oran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pozitif_oran</a:t>
              </a:r>
            </a:p>
          </p:txBody>
        </p:sp>
      </p:grpSp>
      <p:sp>
        <p:nvSpPr>
          <p:cNvPr id="1039" name="Dikdörtgen"/>
          <p:cNvSpPr/>
          <p:nvPr/>
        </p:nvSpPr>
        <p:spPr>
          <a:xfrm>
            <a:off x="4705350" y="33909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42" name="Grupla"/>
          <p:cNvGrpSpPr/>
          <p:nvPr/>
        </p:nvGrpSpPr>
        <p:grpSpPr>
          <a:xfrm>
            <a:off x="4800600" y="3457574"/>
            <a:ext cx="1085850" cy="139701"/>
            <a:chOff x="0" y="0"/>
            <a:chExt cx="1085850" cy="139700"/>
          </a:xfrm>
        </p:grpSpPr>
        <p:sp>
          <p:nvSpPr>
            <p:cNvPr id="1040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41" name="oneri_skoru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oneri_skoru</a:t>
              </a:r>
            </a:p>
          </p:txBody>
        </p:sp>
      </p:grpSp>
      <p:sp>
        <p:nvSpPr>
          <p:cNvPr id="1043" name="Dikdörtgen"/>
          <p:cNvSpPr/>
          <p:nvPr/>
        </p:nvSpPr>
        <p:spPr>
          <a:xfrm>
            <a:off x="8324850" y="2057400"/>
            <a:ext cx="3333750" cy="2000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4" name="Dikdörtgen"/>
          <p:cNvSpPr/>
          <p:nvPr/>
        </p:nvSpPr>
        <p:spPr>
          <a:xfrm>
            <a:off x="8286750" y="2000250"/>
            <a:ext cx="3333750" cy="20002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5" name="Dikdörtgen"/>
          <p:cNvSpPr/>
          <p:nvPr/>
        </p:nvSpPr>
        <p:spPr>
          <a:xfrm>
            <a:off x="8286750" y="2000250"/>
            <a:ext cx="57150" cy="200025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48" name="Grupla"/>
          <p:cNvGrpSpPr/>
          <p:nvPr/>
        </p:nvGrpSpPr>
        <p:grpSpPr>
          <a:xfrm>
            <a:off x="8515350" y="2266949"/>
            <a:ext cx="2762250" cy="266701"/>
            <a:chOff x="0" y="0"/>
            <a:chExt cx="2762250" cy="266700"/>
          </a:xfrm>
        </p:grpSpPr>
        <p:sp>
          <p:nvSpPr>
            <p:cNvPr id="1046" name="Dikdörtgen"/>
            <p:cNvSpPr/>
            <p:nvPr/>
          </p:nvSpPr>
          <p:spPr>
            <a:xfrm>
              <a:off x="0" y="0"/>
              <a:ext cx="2762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47" name="Müşteri Sinyalleri"/>
            <p:cNvSpPr txBox="1"/>
            <p:nvPr/>
          </p:nvSpPr>
          <p:spPr>
            <a:xfrm>
              <a:off x="0" y="-1"/>
              <a:ext cx="276225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Müşteri Sinyalleri</a:t>
              </a:r>
            </a:p>
          </p:txBody>
        </p:sp>
      </p:grpSp>
      <p:sp>
        <p:nvSpPr>
          <p:cNvPr id="1049" name="Dikdörtgen"/>
          <p:cNvSpPr/>
          <p:nvPr/>
        </p:nvSpPr>
        <p:spPr>
          <a:xfrm>
            <a:off x="8515350" y="27432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52" name="Grupla"/>
          <p:cNvGrpSpPr/>
          <p:nvPr/>
        </p:nvGrpSpPr>
        <p:grpSpPr>
          <a:xfrm>
            <a:off x="8610600" y="2809874"/>
            <a:ext cx="1085850" cy="139701"/>
            <a:chOff x="0" y="0"/>
            <a:chExt cx="1085850" cy="139700"/>
          </a:xfrm>
        </p:grpSpPr>
        <p:sp>
          <p:nvSpPr>
            <p:cNvPr id="1050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51" name="recency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recency</a:t>
              </a:r>
            </a:p>
          </p:txBody>
        </p:sp>
      </p:grpSp>
      <p:sp>
        <p:nvSpPr>
          <p:cNvPr id="1053" name="Dikdörtgen"/>
          <p:cNvSpPr/>
          <p:nvPr/>
        </p:nvSpPr>
        <p:spPr>
          <a:xfrm>
            <a:off x="9963150" y="27432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56" name="Grupla"/>
          <p:cNvGrpSpPr/>
          <p:nvPr/>
        </p:nvGrpSpPr>
        <p:grpSpPr>
          <a:xfrm>
            <a:off x="10058400" y="2809874"/>
            <a:ext cx="1085850" cy="139701"/>
            <a:chOff x="0" y="0"/>
            <a:chExt cx="1085850" cy="139700"/>
          </a:xfrm>
        </p:grpSpPr>
        <p:sp>
          <p:nvSpPr>
            <p:cNvPr id="1054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55" name="frequency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frequency</a:t>
              </a:r>
            </a:p>
          </p:txBody>
        </p:sp>
      </p:grpSp>
      <p:sp>
        <p:nvSpPr>
          <p:cNvPr id="1057" name="Dikdörtgen"/>
          <p:cNvSpPr/>
          <p:nvPr/>
        </p:nvSpPr>
        <p:spPr>
          <a:xfrm>
            <a:off x="8515350" y="306705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60" name="Grupla"/>
          <p:cNvGrpSpPr/>
          <p:nvPr/>
        </p:nvGrpSpPr>
        <p:grpSpPr>
          <a:xfrm>
            <a:off x="8610600" y="3133724"/>
            <a:ext cx="1085850" cy="139701"/>
            <a:chOff x="0" y="0"/>
            <a:chExt cx="1085850" cy="139700"/>
          </a:xfrm>
        </p:grpSpPr>
        <p:sp>
          <p:nvSpPr>
            <p:cNvPr id="1058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59" name="monetary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monetary</a:t>
              </a:r>
            </a:p>
          </p:txBody>
        </p:sp>
      </p:grpSp>
      <p:sp>
        <p:nvSpPr>
          <p:cNvPr id="1061" name="Dikdörtgen"/>
          <p:cNvSpPr/>
          <p:nvPr/>
        </p:nvSpPr>
        <p:spPr>
          <a:xfrm>
            <a:off x="9963150" y="306705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64" name="Grupla"/>
          <p:cNvGrpSpPr/>
          <p:nvPr/>
        </p:nvGrpSpPr>
        <p:grpSpPr>
          <a:xfrm>
            <a:off x="10058400" y="3133724"/>
            <a:ext cx="1085850" cy="139701"/>
            <a:chOff x="0" y="0"/>
            <a:chExt cx="1085850" cy="139700"/>
          </a:xfrm>
        </p:grpSpPr>
        <p:sp>
          <p:nvSpPr>
            <p:cNvPr id="1062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63" name="R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</a:t>
              </a:r>
            </a:p>
          </p:txBody>
        </p:sp>
      </p:grpSp>
      <p:sp>
        <p:nvSpPr>
          <p:cNvPr id="1065" name="Dikdörtgen"/>
          <p:cNvSpPr/>
          <p:nvPr/>
        </p:nvSpPr>
        <p:spPr>
          <a:xfrm>
            <a:off x="8515350" y="33909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68" name="Grupla"/>
          <p:cNvGrpSpPr/>
          <p:nvPr/>
        </p:nvGrpSpPr>
        <p:grpSpPr>
          <a:xfrm>
            <a:off x="8610600" y="3457574"/>
            <a:ext cx="1085850" cy="139701"/>
            <a:chOff x="0" y="0"/>
            <a:chExt cx="1085850" cy="139700"/>
          </a:xfrm>
        </p:grpSpPr>
        <p:sp>
          <p:nvSpPr>
            <p:cNvPr id="1066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67" name="F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1069" name="Dikdörtgen"/>
          <p:cNvSpPr/>
          <p:nvPr/>
        </p:nvSpPr>
        <p:spPr>
          <a:xfrm>
            <a:off x="9963150" y="339090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72" name="Grupla"/>
          <p:cNvGrpSpPr/>
          <p:nvPr/>
        </p:nvGrpSpPr>
        <p:grpSpPr>
          <a:xfrm>
            <a:off x="10058400" y="3457574"/>
            <a:ext cx="1085850" cy="139701"/>
            <a:chOff x="0" y="0"/>
            <a:chExt cx="1085850" cy="139700"/>
          </a:xfrm>
        </p:grpSpPr>
        <p:sp>
          <p:nvSpPr>
            <p:cNvPr id="1070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71" name="M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</a:t>
              </a:r>
            </a:p>
          </p:txBody>
        </p:sp>
      </p:grpSp>
      <p:sp>
        <p:nvSpPr>
          <p:cNvPr id="1073" name="Dikdörtgen"/>
          <p:cNvSpPr/>
          <p:nvPr/>
        </p:nvSpPr>
        <p:spPr>
          <a:xfrm>
            <a:off x="8515350" y="3714750"/>
            <a:ext cx="1276350" cy="247650"/>
          </a:xfrm>
          <a:prstGeom prst="rect">
            <a:avLst/>
          </a:prstGeom>
          <a:solidFill>
            <a:srgbClr val="EEF5FF"/>
          </a:solidFill>
          <a:ln>
            <a:solidFill>
              <a:srgbClr val="D7E5F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76" name="Grupla"/>
          <p:cNvGrpSpPr/>
          <p:nvPr/>
        </p:nvGrpSpPr>
        <p:grpSpPr>
          <a:xfrm>
            <a:off x="8610600" y="3781424"/>
            <a:ext cx="1085850" cy="139701"/>
            <a:chOff x="0" y="0"/>
            <a:chExt cx="1085850" cy="139700"/>
          </a:xfrm>
        </p:grpSpPr>
        <p:sp>
          <p:nvSpPr>
            <p:cNvPr id="1074" name="Dikdörtgen"/>
            <p:cNvSpPr/>
            <p:nvPr/>
          </p:nvSpPr>
          <p:spPr>
            <a:xfrm>
              <a:off x="0" y="-1"/>
              <a:ext cx="1085850" cy="133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75" name="age"/>
            <p:cNvSpPr txBox="1"/>
            <p:nvPr/>
          </p:nvSpPr>
          <p:spPr>
            <a:xfrm>
              <a:off x="0" y="0"/>
              <a:ext cx="108585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age</a:t>
              </a:r>
            </a:p>
          </p:txBody>
        </p:sp>
      </p:grpSp>
      <p:sp>
        <p:nvSpPr>
          <p:cNvPr id="1077" name="Dikdörtgen"/>
          <p:cNvSpPr/>
          <p:nvPr/>
        </p:nvSpPr>
        <p:spPr>
          <a:xfrm>
            <a:off x="1562100" y="4676775"/>
            <a:ext cx="4572000" cy="12954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8" name="Dikdörtgen"/>
          <p:cNvSpPr/>
          <p:nvPr/>
        </p:nvSpPr>
        <p:spPr>
          <a:xfrm>
            <a:off x="1524000" y="4619625"/>
            <a:ext cx="4572000" cy="12954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81" name="Grupla"/>
          <p:cNvGrpSpPr/>
          <p:nvPr/>
        </p:nvGrpSpPr>
        <p:grpSpPr>
          <a:xfrm>
            <a:off x="1695450" y="4752974"/>
            <a:ext cx="4229100" cy="190501"/>
            <a:chOff x="0" y="0"/>
            <a:chExt cx="4229100" cy="190500"/>
          </a:xfrm>
        </p:grpSpPr>
        <p:sp>
          <p:nvSpPr>
            <p:cNvPr id="1079" name="Dikdörtgen"/>
            <p:cNvSpPr/>
            <p:nvPr/>
          </p:nvSpPr>
          <p:spPr>
            <a:xfrm>
              <a:off x="0" y="0"/>
              <a:ext cx="4229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80" name="Kategori ilgisi kodu"/>
            <p:cNvSpPr txBox="1"/>
            <p:nvPr/>
          </p:nvSpPr>
          <p:spPr>
            <a:xfrm>
              <a:off x="0" y="-1"/>
              <a:ext cx="42291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Kategori ilgisi kodu</a:t>
              </a:r>
            </a:p>
          </p:txBody>
        </p:sp>
      </p:grpSp>
      <p:grpSp>
        <p:nvGrpSpPr>
          <p:cNvPr id="1084" name="Grupla"/>
          <p:cNvGrpSpPr/>
          <p:nvPr/>
        </p:nvGrpSpPr>
        <p:grpSpPr>
          <a:xfrm>
            <a:off x="1695450" y="4982260"/>
            <a:ext cx="4575175" cy="914401"/>
            <a:chOff x="0" y="0"/>
            <a:chExt cx="4575175" cy="914400"/>
          </a:xfrm>
        </p:grpSpPr>
        <p:sp>
          <p:nvSpPr>
            <p:cNvPr id="1082" name="Dikdörtgen"/>
            <p:cNvSpPr/>
            <p:nvPr/>
          </p:nvSpPr>
          <p:spPr>
            <a:xfrm>
              <a:off x="0" y="0"/>
              <a:ext cx="4575175" cy="8655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1083" name="veri[&quot;kategori_ilgi_orani&quot;] = np.where(…"/>
            <p:cNvSpPr txBox="1"/>
            <p:nvPr/>
          </p:nvSpPr>
          <p:spPr>
            <a:xfrm>
              <a:off x="0" y="0"/>
              <a:ext cx="4575175" cy="914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veri["kategori_ilgi_orani"] = np.where(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veri["toplam_kategori_davranis_puani"] &gt; 0,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veri["kategori_davranis_puani"] /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veri["toplam_kategori_davranis_puani"],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0.0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</p:txBody>
        </p:sp>
      </p:grpSp>
      <p:sp>
        <p:nvSpPr>
          <p:cNvPr id="1085" name="Dikdörtgen"/>
          <p:cNvSpPr/>
          <p:nvPr/>
        </p:nvSpPr>
        <p:spPr>
          <a:xfrm>
            <a:off x="6667500" y="4838700"/>
            <a:ext cx="4000500" cy="66675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88" name="Grupla"/>
          <p:cNvGrpSpPr/>
          <p:nvPr/>
        </p:nvGrpSpPr>
        <p:grpSpPr>
          <a:xfrm>
            <a:off x="6819900" y="4953000"/>
            <a:ext cx="3695700" cy="495300"/>
            <a:chOff x="0" y="0"/>
            <a:chExt cx="3695700" cy="495300"/>
          </a:xfrm>
        </p:grpSpPr>
        <p:sp>
          <p:nvSpPr>
            <p:cNvPr id="1086" name="Dikdörtgen"/>
            <p:cNvSpPr/>
            <p:nvPr/>
          </p:nvSpPr>
          <p:spPr>
            <a:xfrm>
              <a:off x="0" y="0"/>
              <a:ext cx="36957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87" name="Kategori ilgisi satın alma etiketinden değil; görüntüleme ve sepete ekleme davranışından hesaplandı."/>
            <p:cNvSpPr txBox="1"/>
            <p:nvPr/>
          </p:nvSpPr>
          <p:spPr>
            <a:xfrm>
              <a:off x="0" y="0"/>
              <a:ext cx="3695700" cy="495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Kategori ilgisi satın alma etiketinden değil; görüntüleme ve sepete ekleme davranışından hesaplandı.</a:t>
              </a:r>
            </a:p>
          </p:txBody>
        </p:sp>
      </p:grpSp>
      <p:grpSp>
        <p:nvGrpSpPr>
          <p:cNvPr id="1091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089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90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094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092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93" name="12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7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00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098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99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103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101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02" name="RFM Segmentasyonu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RFM Segmentasyonu</a:t>
              </a:r>
            </a:p>
          </p:txBody>
        </p:sp>
      </p:grpSp>
      <p:grpSp>
        <p:nvGrpSpPr>
          <p:cNvPr id="1106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104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105" name="RFM segmentasyonu müşterileri alışveriş geçmişine göre ayırır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RFM segmentasyonu müşterileri alışveriş geçmişine göre ayırır</a:t>
              </a:r>
            </a:p>
          </p:txBody>
        </p:sp>
      </p:grpSp>
      <p:grpSp>
        <p:nvGrpSpPr>
          <p:cNvPr id="1109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1107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08" name="Bu bir kümeleme modeli değil, iş kurallarına dayalı müşteri skorlamasıdı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bir kümeleme modeli değil, iş kurallarına dayalı müşteri skorlamasıdır.</a:t>
              </a:r>
            </a:p>
          </p:txBody>
        </p:sp>
      </p:grpSp>
      <p:pic>
        <p:nvPicPr>
          <p:cNvPr id="1110" name="image7.png" descr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2006" y="2076450"/>
            <a:ext cx="4642701" cy="25542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1" name="image8.png" descr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15350" y="1905000"/>
            <a:ext cx="4228551" cy="2952750"/>
          </a:xfrm>
          <a:prstGeom prst="rect">
            <a:avLst/>
          </a:prstGeom>
          <a:ln w="12700">
            <a:miter lim="400000"/>
          </a:ln>
        </p:spPr>
      </p:pic>
      <p:sp>
        <p:nvSpPr>
          <p:cNvPr id="1112" name="Dikdörtgen"/>
          <p:cNvSpPr/>
          <p:nvPr/>
        </p:nvSpPr>
        <p:spPr>
          <a:xfrm>
            <a:off x="1085850" y="4772025"/>
            <a:ext cx="5857875" cy="1619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3" name="Dikdörtgen"/>
          <p:cNvSpPr/>
          <p:nvPr/>
        </p:nvSpPr>
        <p:spPr>
          <a:xfrm>
            <a:off x="1047750" y="4714875"/>
            <a:ext cx="5857875" cy="16192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4" name="Dikdörtgen"/>
          <p:cNvSpPr/>
          <p:nvPr/>
        </p:nvSpPr>
        <p:spPr>
          <a:xfrm>
            <a:off x="1047750" y="4714875"/>
            <a:ext cx="5857875" cy="323850"/>
          </a:xfrm>
          <a:prstGeom prst="rect">
            <a:avLst/>
          </a:prstGeom>
          <a:solidFill>
            <a:srgbClr val="EEF3F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17" name="Grupla"/>
          <p:cNvGrpSpPr/>
          <p:nvPr/>
        </p:nvGrpSpPr>
        <p:grpSpPr>
          <a:xfrm>
            <a:off x="1143000" y="4800599"/>
            <a:ext cx="1352550" cy="247651"/>
            <a:chOff x="0" y="0"/>
            <a:chExt cx="1352550" cy="247650"/>
          </a:xfrm>
        </p:grpSpPr>
        <p:sp>
          <p:nvSpPr>
            <p:cNvPr id="1115" name="Dikdörtgen"/>
            <p:cNvSpPr/>
            <p:nvPr/>
          </p:nvSpPr>
          <p:spPr>
            <a:xfrm>
              <a:off x="0" y="0"/>
              <a:ext cx="13525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16" name="Segment"/>
            <p:cNvSpPr txBox="1"/>
            <p:nvPr/>
          </p:nvSpPr>
          <p:spPr>
            <a:xfrm>
              <a:off x="0" y="-1"/>
              <a:ext cx="1352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Segment</a:t>
              </a:r>
            </a:p>
          </p:txBody>
        </p:sp>
      </p:grpSp>
      <p:sp>
        <p:nvSpPr>
          <p:cNvPr id="1118" name="Dikdörtgen"/>
          <p:cNvSpPr/>
          <p:nvPr/>
        </p:nvSpPr>
        <p:spPr>
          <a:xfrm>
            <a:off x="2570161" y="471487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21" name="Grupla"/>
          <p:cNvGrpSpPr/>
          <p:nvPr/>
        </p:nvGrpSpPr>
        <p:grpSpPr>
          <a:xfrm>
            <a:off x="2667000" y="4800599"/>
            <a:ext cx="828675" cy="247651"/>
            <a:chOff x="0" y="0"/>
            <a:chExt cx="828675" cy="247650"/>
          </a:xfrm>
        </p:grpSpPr>
        <p:sp>
          <p:nvSpPr>
            <p:cNvPr id="1119" name="Dikdörtgen"/>
            <p:cNvSpPr/>
            <p:nvPr/>
          </p:nvSpPr>
          <p:spPr>
            <a:xfrm>
              <a:off x="0" y="0"/>
              <a:ext cx="82867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20" name="Müşteri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Müşteri</a:t>
              </a:r>
            </a:p>
          </p:txBody>
        </p:sp>
      </p:grpSp>
      <p:sp>
        <p:nvSpPr>
          <p:cNvPr id="1122" name="Dikdörtgen"/>
          <p:cNvSpPr/>
          <p:nvPr/>
        </p:nvSpPr>
        <p:spPr>
          <a:xfrm>
            <a:off x="3570287" y="471487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25" name="Grupla"/>
          <p:cNvGrpSpPr/>
          <p:nvPr/>
        </p:nvGrpSpPr>
        <p:grpSpPr>
          <a:xfrm>
            <a:off x="3667125" y="4800599"/>
            <a:ext cx="3162300" cy="247651"/>
            <a:chOff x="0" y="0"/>
            <a:chExt cx="3162300" cy="247650"/>
          </a:xfrm>
        </p:grpSpPr>
        <p:sp>
          <p:nvSpPr>
            <p:cNvPr id="1123" name="Dikdörtgen"/>
            <p:cNvSpPr/>
            <p:nvPr/>
          </p:nvSpPr>
          <p:spPr>
            <a:xfrm>
              <a:off x="0" y="0"/>
              <a:ext cx="31623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24" name="Anlamı"/>
            <p:cNvSpPr txBox="1"/>
            <p:nvPr/>
          </p:nvSpPr>
          <p:spPr>
            <a:xfrm>
              <a:off x="0" y="-1"/>
              <a:ext cx="3162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Anlamı</a:t>
              </a:r>
            </a:p>
          </p:txBody>
        </p:sp>
      </p:grpSp>
      <p:grpSp>
        <p:nvGrpSpPr>
          <p:cNvPr id="1128" name="Grupla"/>
          <p:cNvGrpSpPr/>
          <p:nvPr/>
        </p:nvGrpSpPr>
        <p:grpSpPr>
          <a:xfrm>
            <a:off x="1143000" y="5124449"/>
            <a:ext cx="1352550" cy="247651"/>
            <a:chOff x="0" y="0"/>
            <a:chExt cx="1352550" cy="247650"/>
          </a:xfrm>
        </p:grpSpPr>
        <p:sp>
          <p:nvSpPr>
            <p:cNvPr id="1126" name="Dikdörtgen"/>
            <p:cNvSpPr/>
            <p:nvPr/>
          </p:nvSpPr>
          <p:spPr>
            <a:xfrm>
              <a:off x="0" y="0"/>
              <a:ext cx="13525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27" name="Sadık"/>
            <p:cNvSpPr txBox="1"/>
            <p:nvPr/>
          </p:nvSpPr>
          <p:spPr>
            <a:xfrm>
              <a:off x="0" y="-1"/>
              <a:ext cx="1352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Sadık</a:t>
              </a:r>
            </a:p>
          </p:txBody>
        </p:sp>
      </p:grpSp>
      <p:sp>
        <p:nvSpPr>
          <p:cNvPr id="1129" name="Dikdörtgen"/>
          <p:cNvSpPr/>
          <p:nvPr/>
        </p:nvSpPr>
        <p:spPr>
          <a:xfrm>
            <a:off x="2570161" y="503872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32" name="Grupla"/>
          <p:cNvGrpSpPr/>
          <p:nvPr/>
        </p:nvGrpSpPr>
        <p:grpSpPr>
          <a:xfrm>
            <a:off x="2667000" y="5124449"/>
            <a:ext cx="828675" cy="247651"/>
            <a:chOff x="0" y="0"/>
            <a:chExt cx="828675" cy="247650"/>
          </a:xfrm>
        </p:grpSpPr>
        <p:sp>
          <p:nvSpPr>
            <p:cNvPr id="1130" name="Dikdörtgen"/>
            <p:cNvSpPr/>
            <p:nvPr/>
          </p:nvSpPr>
          <p:spPr>
            <a:xfrm>
              <a:off x="0" y="0"/>
              <a:ext cx="82867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31" name="4.388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4.388</a:t>
              </a:r>
            </a:p>
          </p:txBody>
        </p:sp>
      </p:grpSp>
      <p:sp>
        <p:nvSpPr>
          <p:cNvPr id="1133" name="Dikdörtgen"/>
          <p:cNvSpPr/>
          <p:nvPr/>
        </p:nvSpPr>
        <p:spPr>
          <a:xfrm>
            <a:off x="3570287" y="503872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36" name="Grupla"/>
          <p:cNvGrpSpPr/>
          <p:nvPr/>
        </p:nvGrpSpPr>
        <p:grpSpPr>
          <a:xfrm>
            <a:off x="3667125" y="5124449"/>
            <a:ext cx="3162300" cy="247651"/>
            <a:chOff x="0" y="0"/>
            <a:chExt cx="3162300" cy="247650"/>
          </a:xfrm>
        </p:grpSpPr>
        <p:sp>
          <p:nvSpPr>
            <p:cNvPr id="1134" name="Dikdörtgen"/>
            <p:cNvSpPr/>
            <p:nvPr/>
          </p:nvSpPr>
          <p:spPr>
            <a:xfrm>
              <a:off x="0" y="0"/>
              <a:ext cx="31623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35" name="Düzenli alışveriş"/>
            <p:cNvSpPr txBox="1"/>
            <p:nvPr/>
          </p:nvSpPr>
          <p:spPr>
            <a:xfrm>
              <a:off x="0" y="-1"/>
              <a:ext cx="3162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Düzenli alışveriş</a:t>
              </a:r>
            </a:p>
          </p:txBody>
        </p:sp>
      </p:grpSp>
      <p:sp>
        <p:nvSpPr>
          <p:cNvPr id="1137" name="Dikdörtgen"/>
          <p:cNvSpPr/>
          <p:nvPr/>
        </p:nvSpPr>
        <p:spPr>
          <a:xfrm>
            <a:off x="1047750" y="5037137"/>
            <a:ext cx="585787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40" name="Grupla"/>
          <p:cNvGrpSpPr/>
          <p:nvPr/>
        </p:nvGrpSpPr>
        <p:grpSpPr>
          <a:xfrm>
            <a:off x="1143000" y="5448299"/>
            <a:ext cx="1352550" cy="247651"/>
            <a:chOff x="0" y="0"/>
            <a:chExt cx="1352550" cy="247650"/>
          </a:xfrm>
        </p:grpSpPr>
        <p:sp>
          <p:nvSpPr>
            <p:cNvPr id="1138" name="Dikdörtgen"/>
            <p:cNvSpPr/>
            <p:nvPr/>
          </p:nvSpPr>
          <p:spPr>
            <a:xfrm>
              <a:off x="0" y="0"/>
              <a:ext cx="13525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39" name="Kayıp"/>
            <p:cNvSpPr txBox="1"/>
            <p:nvPr/>
          </p:nvSpPr>
          <p:spPr>
            <a:xfrm>
              <a:off x="0" y="-1"/>
              <a:ext cx="1352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Kayıp</a:t>
              </a:r>
            </a:p>
          </p:txBody>
        </p:sp>
      </p:grpSp>
      <p:sp>
        <p:nvSpPr>
          <p:cNvPr id="1141" name="Dikdörtgen"/>
          <p:cNvSpPr/>
          <p:nvPr/>
        </p:nvSpPr>
        <p:spPr>
          <a:xfrm>
            <a:off x="2570161" y="536257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44" name="Grupla"/>
          <p:cNvGrpSpPr/>
          <p:nvPr/>
        </p:nvGrpSpPr>
        <p:grpSpPr>
          <a:xfrm>
            <a:off x="2667000" y="5448299"/>
            <a:ext cx="828675" cy="247651"/>
            <a:chOff x="0" y="0"/>
            <a:chExt cx="828675" cy="247650"/>
          </a:xfrm>
        </p:grpSpPr>
        <p:sp>
          <p:nvSpPr>
            <p:cNvPr id="1142" name="Dikdörtgen"/>
            <p:cNvSpPr/>
            <p:nvPr/>
          </p:nvSpPr>
          <p:spPr>
            <a:xfrm>
              <a:off x="0" y="0"/>
              <a:ext cx="82867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43" name="3.767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3.767</a:t>
              </a:r>
            </a:p>
          </p:txBody>
        </p:sp>
      </p:grpSp>
      <p:sp>
        <p:nvSpPr>
          <p:cNvPr id="1145" name="Dikdörtgen"/>
          <p:cNvSpPr/>
          <p:nvPr/>
        </p:nvSpPr>
        <p:spPr>
          <a:xfrm>
            <a:off x="3570287" y="536257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48" name="Grupla"/>
          <p:cNvGrpSpPr/>
          <p:nvPr/>
        </p:nvGrpSpPr>
        <p:grpSpPr>
          <a:xfrm>
            <a:off x="3667125" y="5448299"/>
            <a:ext cx="3162300" cy="247651"/>
            <a:chOff x="0" y="0"/>
            <a:chExt cx="3162300" cy="247650"/>
          </a:xfrm>
        </p:grpSpPr>
        <p:sp>
          <p:nvSpPr>
            <p:cNvPr id="1146" name="Dikdörtgen"/>
            <p:cNvSpPr/>
            <p:nvPr/>
          </p:nvSpPr>
          <p:spPr>
            <a:xfrm>
              <a:off x="0" y="0"/>
              <a:ext cx="31623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47" name="Uzun süredir yok"/>
            <p:cNvSpPr txBox="1"/>
            <p:nvPr/>
          </p:nvSpPr>
          <p:spPr>
            <a:xfrm>
              <a:off x="0" y="-1"/>
              <a:ext cx="3162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Uzun süredir yok</a:t>
              </a:r>
            </a:p>
          </p:txBody>
        </p:sp>
      </p:grpSp>
      <p:sp>
        <p:nvSpPr>
          <p:cNvPr id="1149" name="Dikdörtgen"/>
          <p:cNvSpPr/>
          <p:nvPr/>
        </p:nvSpPr>
        <p:spPr>
          <a:xfrm>
            <a:off x="1047750" y="5360987"/>
            <a:ext cx="585787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52" name="Grupla"/>
          <p:cNvGrpSpPr/>
          <p:nvPr/>
        </p:nvGrpSpPr>
        <p:grpSpPr>
          <a:xfrm>
            <a:off x="1143000" y="5772149"/>
            <a:ext cx="1352550" cy="247651"/>
            <a:chOff x="0" y="0"/>
            <a:chExt cx="1352550" cy="247650"/>
          </a:xfrm>
        </p:grpSpPr>
        <p:sp>
          <p:nvSpPr>
            <p:cNvPr id="1150" name="Dikdörtgen"/>
            <p:cNvSpPr/>
            <p:nvPr/>
          </p:nvSpPr>
          <p:spPr>
            <a:xfrm>
              <a:off x="0" y="0"/>
              <a:ext cx="13525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51" name="Şampiyon"/>
            <p:cNvSpPr txBox="1"/>
            <p:nvPr/>
          </p:nvSpPr>
          <p:spPr>
            <a:xfrm>
              <a:off x="0" y="-1"/>
              <a:ext cx="1352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Şampiyon</a:t>
              </a:r>
            </a:p>
          </p:txBody>
        </p:sp>
      </p:grpSp>
      <p:sp>
        <p:nvSpPr>
          <p:cNvPr id="1153" name="Dikdörtgen"/>
          <p:cNvSpPr/>
          <p:nvPr/>
        </p:nvSpPr>
        <p:spPr>
          <a:xfrm>
            <a:off x="2570161" y="568642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56" name="Grupla"/>
          <p:cNvGrpSpPr/>
          <p:nvPr/>
        </p:nvGrpSpPr>
        <p:grpSpPr>
          <a:xfrm>
            <a:off x="2667000" y="5772149"/>
            <a:ext cx="828675" cy="247651"/>
            <a:chOff x="0" y="0"/>
            <a:chExt cx="828675" cy="247650"/>
          </a:xfrm>
        </p:grpSpPr>
        <p:sp>
          <p:nvSpPr>
            <p:cNvPr id="1154" name="Dikdörtgen"/>
            <p:cNvSpPr/>
            <p:nvPr/>
          </p:nvSpPr>
          <p:spPr>
            <a:xfrm>
              <a:off x="0" y="0"/>
              <a:ext cx="82867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55" name="2.923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2.923</a:t>
              </a:r>
            </a:p>
          </p:txBody>
        </p:sp>
      </p:grpSp>
      <p:sp>
        <p:nvSpPr>
          <p:cNvPr id="1157" name="Dikdörtgen"/>
          <p:cNvSpPr/>
          <p:nvPr/>
        </p:nvSpPr>
        <p:spPr>
          <a:xfrm>
            <a:off x="3570287" y="568642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60" name="Grupla"/>
          <p:cNvGrpSpPr/>
          <p:nvPr/>
        </p:nvGrpSpPr>
        <p:grpSpPr>
          <a:xfrm>
            <a:off x="3667125" y="5772149"/>
            <a:ext cx="3162300" cy="247651"/>
            <a:chOff x="0" y="0"/>
            <a:chExt cx="3162300" cy="247650"/>
          </a:xfrm>
        </p:grpSpPr>
        <p:sp>
          <p:nvSpPr>
            <p:cNvPr id="1158" name="Dikdörtgen"/>
            <p:cNvSpPr/>
            <p:nvPr/>
          </p:nvSpPr>
          <p:spPr>
            <a:xfrm>
              <a:off x="0" y="0"/>
              <a:ext cx="31623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59" name="Yakın tarih + sık alışveriş"/>
            <p:cNvSpPr txBox="1"/>
            <p:nvPr/>
          </p:nvSpPr>
          <p:spPr>
            <a:xfrm>
              <a:off x="0" y="-1"/>
              <a:ext cx="3162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Yakın tarih + sık alışveriş</a:t>
              </a:r>
            </a:p>
          </p:txBody>
        </p:sp>
      </p:grpSp>
      <p:sp>
        <p:nvSpPr>
          <p:cNvPr id="1161" name="Dikdörtgen"/>
          <p:cNvSpPr/>
          <p:nvPr/>
        </p:nvSpPr>
        <p:spPr>
          <a:xfrm>
            <a:off x="1047750" y="5684837"/>
            <a:ext cx="585787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64" name="Grupla"/>
          <p:cNvGrpSpPr/>
          <p:nvPr/>
        </p:nvGrpSpPr>
        <p:grpSpPr>
          <a:xfrm>
            <a:off x="1143000" y="6095999"/>
            <a:ext cx="1352550" cy="247651"/>
            <a:chOff x="0" y="0"/>
            <a:chExt cx="1352550" cy="247650"/>
          </a:xfrm>
        </p:grpSpPr>
        <p:sp>
          <p:nvSpPr>
            <p:cNvPr id="1162" name="Dikdörtgen"/>
            <p:cNvSpPr/>
            <p:nvPr/>
          </p:nvSpPr>
          <p:spPr>
            <a:xfrm>
              <a:off x="0" y="0"/>
              <a:ext cx="13525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63" name="Risk Altında"/>
            <p:cNvSpPr txBox="1"/>
            <p:nvPr/>
          </p:nvSpPr>
          <p:spPr>
            <a:xfrm>
              <a:off x="0" y="-1"/>
              <a:ext cx="13525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Risk Altında</a:t>
              </a:r>
            </a:p>
          </p:txBody>
        </p:sp>
      </p:grpSp>
      <p:sp>
        <p:nvSpPr>
          <p:cNvPr id="1165" name="Dikdörtgen"/>
          <p:cNvSpPr/>
          <p:nvPr/>
        </p:nvSpPr>
        <p:spPr>
          <a:xfrm>
            <a:off x="2570161" y="601027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68" name="Grupla"/>
          <p:cNvGrpSpPr/>
          <p:nvPr/>
        </p:nvGrpSpPr>
        <p:grpSpPr>
          <a:xfrm>
            <a:off x="2667000" y="6095999"/>
            <a:ext cx="828675" cy="247651"/>
            <a:chOff x="0" y="0"/>
            <a:chExt cx="828675" cy="247650"/>
          </a:xfrm>
        </p:grpSpPr>
        <p:sp>
          <p:nvSpPr>
            <p:cNvPr id="1166" name="Dikdörtgen"/>
            <p:cNvSpPr/>
            <p:nvPr/>
          </p:nvSpPr>
          <p:spPr>
            <a:xfrm>
              <a:off x="0" y="0"/>
              <a:ext cx="82867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67" name="2.734"/>
            <p:cNvSpPr txBox="1"/>
            <p:nvPr/>
          </p:nvSpPr>
          <p:spPr>
            <a:xfrm>
              <a:off x="0" y="-1"/>
              <a:ext cx="82867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2.734</a:t>
              </a:r>
            </a:p>
          </p:txBody>
        </p:sp>
      </p:grpSp>
      <p:sp>
        <p:nvSpPr>
          <p:cNvPr id="1169" name="Dikdörtgen"/>
          <p:cNvSpPr/>
          <p:nvPr/>
        </p:nvSpPr>
        <p:spPr>
          <a:xfrm>
            <a:off x="3570287" y="6010275"/>
            <a:ext cx="12702" cy="3238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72" name="Grupla"/>
          <p:cNvGrpSpPr/>
          <p:nvPr/>
        </p:nvGrpSpPr>
        <p:grpSpPr>
          <a:xfrm>
            <a:off x="3667125" y="6095999"/>
            <a:ext cx="3162300" cy="247651"/>
            <a:chOff x="0" y="0"/>
            <a:chExt cx="3162300" cy="247650"/>
          </a:xfrm>
        </p:grpSpPr>
        <p:sp>
          <p:nvSpPr>
            <p:cNvPr id="1170" name="Dikdörtgen"/>
            <p:cNvSpPr/>
            <p:nvPr/>
          </p:nvSpPr>
          <p:spPr>
            <a:xfrm>
              <a:off x="0" y="0"/>
              <a:ext cx="31623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71" name="Geri kazanılabilir"/>
            <p:cNvSpPr txBox="1"/>
            <p:nvPr/>
          </p:nvSpPr>
          <p:spPr>
            <a:xfrm>
              <a:off x="0" y="-1"/>
              <a:ext cx="31623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Geri kazanılabilir</a:t>
              </a:r>
            </a:p>
          </p:txBody>
        </p:sp>
      </p:grpSp>
      <p:sp>
        <p:nvSpPr>
          <p:cNvPr id="1173" name="Dikdörtgen"/>
          <p:cNvSpPr/>
          <p:nvPr/>
        </p:nvSpPr>
        <p:spPr>
          <a:xfrm>
            <a:off x="1047750" y="6008687"/>
            <a:ext cx="5857875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4" name="Dikdörtgen"/>
          <p:cNvSpPr/>
          <p:nvPr/>
        </p:nvSpPr>
        <p:spPr>
          <a:xfrm>
            <a:off x="6343650" y="5124450"/>
            <a:ext cx="4095750" cy="60960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77" name="Grupla"/>
          <p:cNvGrpSpPr/>
          <p:nvPr/>
        </p:nvGrpSpPr>
        <p:grpSpPr>
          <a:xfrm>
            <a:off x="6496050" y="5238749"/>
            <a:ext cx="3790950" cy="438151"/>
            <a:chOff x="0" y="0"/>
            <a:chExt cx="3790950" cy="438150"/>
          </a:xfrm>
        </p:grpSpPr>
        <p:sp>
          <p:nvSpPr>
            <p:cNvPr id="1175" name="Dikdörtgen"/>
            <p:cNvSpPr/>
            <p:nvPr/>
          </p:nvSpPr>
          <p:spPr>
            <a:xfrm>
              <a:off x="0" y="0"/>
              <a:ext cx="379095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76" name="Noktaların iç içe görünmesi normaldir: segmentler görsel mesafe ile değil R, F ve M skor kurallarıyla oluşur."/>
            <p:cNvSpPr txBox="1"/>
            <p:nvPr/>
          </p:nvSpPr>
          <p:spPr>
            <a:xfrm>
              <a:off x="0" y="-1"/>
              <a:ext cx="379095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Noktaların iç içe görünmesi normaldir: segmentler görsel mesafe ile değil R, F ve M skor kurallarıyla oluşur.</a:t>
              </a:r>
            </a:p>
          </p:txBody>
        </p:sp>
      </p:grpSp>
      <p:grpSp>
        <p:nvGrpSpPr>
          <p:cNvPr id="1180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178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79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183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181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82" name="13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86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89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187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88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192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190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91" name="Model Seçimi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Model Seçimi</a:t>
              </a:r>
            </a:p>
          </p:txBody>
        </p:sp>
      </p:grpSp>
      <p:grpSp>
        <p:nvGrpSpPr>
          <p:cNvPr id="1195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193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194" name="Problem türü sınıflandırmadır; Random Forest sonuçları yorumlamayı kolaylaştırır"/>
            <p:cNvSpPr txBox="1"/>
            <p:nvPr/>
          </p:nvSpPr>
          <p:spPr>
            <a:xfrm>
              <a:off x="0" y="-1"/>
              <a:ext cx="9239250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Problem türü sınıflandırmadır; Random Forest sonuçları yorumlamayı kolaylaştırır</a:t>
              </a:r>
            </a:p>
          </p:txBody>
        </p:sp>
      </p:grpSp>
      <p:grpSp>
        <p:nvGrpSpPr>
          <p:cNvPr id="1198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1196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97" name="Tahmin sayısal satış adedi değil, satın alır / satın almaz veya önerilir / önerilmez kararıdı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Tahmin sayısal satış adedi değil, satın alır / satın almaz veya önerilir / önerilmez kararıdır.</a:t>
              </a:r>
            </a:p>
          </p:txBody>
        </p:sp>
      </p:grpSp>
      <p:sp>
        <p:nvSpPr>
          <p:cNvPr id="1199" name="Dikdörtgen"/>
          <p:cNvSpPr/>
          <p:nvPr/>
        </p:nvSpPr>
        <p:spPr>
          <a:xfrm>
            <a:off x="781050" y="2152650"/>
            <a:ext cx="3048000" cy="2381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0" name="Dikdörtgen"/>
          <p:cNvSpPr/>
          <p:nvPr/>
        </p:nvSpPr>
        <p:spPr>
          <a:xfrm>
            <a:off x="742950" y="2095500"/>
            <a:ext cx="3048000" cy="23812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1" name="Dikdörtgen"/>
          <p:cNvSpPr/>
          <p:nvPr/>
        </p:nvSpPr>
        <p:spPr>
          <a:xfrm>
            <a:off x="742950" y="2095500"/>
            <a:ext cx="57150" cy="238125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04" name="Grupla"/>
          <p:cNvGrpSpPr/>
          <p:nvPr/>
        </p:nvGrpSpPr>
        <p:grpSpPr>
          <a:xfrm>
            <a:off x="1047750" y="2381249"/>
            <a:ext cx="2381250" cy="266701"/>
            <a:chOff x="0" y="0"/>
            <a:chExt cx="2381250" cy="266700"/>
          </a:xfrm>
        </p:grpSpPr>
        <p:sp>
          <p:nvSpPr>
            <p:cNvPr id="1202" name="Dikdörtgen"/>
            <p:cNvSpPr/>
            <p:nvPr/>
          </p:nvSpPr>
          <p:spPr>
            <a:xfrm>
              <a:off x="0" y="0"/>
              <a:ext cx="2381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7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03" name="Neden sınıflandırma?"/>
            <p:cNvSpPr txBox="1"/>
            <p:nvPr/>
          </p:nvSpPr>
          <p:spPr>
            <a:xfrm>
              <a:off x="0" y="-1"/>
              <a:ext cx="2381250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7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Neden sınıflandırma?</a:t>
              </a:r>
            </a:p>
          </p:txBody>
        </p:sp>
      </p:grpSp>
      <p:sp>
        <p:nvSpPr>
          <p:cNvPr id="1205" name="Kare"/>
          <p:cNvSpPr/>
          <p:nvPr/>
        </p:nvSpPr>
        <p:spPr>
          <a:xfrm>
            <a:off x="1047750" y="30194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08" name="Grupla"/>
          <p:cNvGrpSpPr/>
          <p:nvPr/>
        </p:nvGrpSpPr>
        <p:grpSpPr>
          <a:xfrm>
            <a:off x="1219200" y="2952749"/>
            <a:ext cx="2019300" cy="438151"/>
            <a:chOff x="0" y="0"/>
            <a:chExt cx="2019300" cy="438150"/>
          </a:xfrm>
        </p:grpSpPr>
        <p:sp>
          <p:nvSpPr>
            <p:cNvPr id="1206" name="Dikdörtgen"/>
            <p:cNvSpPr/>
            <p:nvPr/>
          </p:nvSpPr>
          <p:spPr>
            <a:xfrm>
              <a:off x="0" y="0"/>
              <a:ext cx="20193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07" name="Hedef iki sınıflıdır."/>
            <p:cNvSpPr txBox="1"/>
            <p:nvPr/>
          </p:nvSpPr>
          <p:spPr>
            <a:xfrm>
              <a:off x="0" y="-1"/>
              <a:ext cx="20193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Hedef iki sınıflıdır.</a:t>
              </a:r>
            </a:p>
          </p:txBody>
        </p:sp>
      </p:grpSp>
      <p:sp>
        <p:nvSpPr>
          <p:cNvPr id="1209" name="Kare"/>
          <p:cNvSpPr/>
          <p:nvPr/>
        </p:nvSpPr>
        <p:spPr>
          <a:xfrm>
            <a:off x="1047750" y="341947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12" name="Grupla"/>
          <p:cNvGrpSpPr/>
          <p:nvPr/>
        </p:nvGrpSpPr>
        <p:grpSpPr>
          <a:xfrm>
            <a:off x="1219200" y="3352799"/>
            <a:ext cx="2019300" cy="438151"/>
            <a:chOff x="0" y="0"/>
            <a:chExt cx="2019300" cy="438150"/>
          </a:xfrm>
        </p:grpSpPr>
        <p:sp>
          <p:nvSpPr>
            <p:cNvPr id="1210" name="Dikdörtgen"/>
            <p:cNvSpPr/>
            <p:nvPr/>
          </p:nvSpPr>
          <p:spPr>
            <a:xfrm>
              <a:off x="0" y="0"/>
              <a:ext cx="20193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11" name="0 = hayır, 1 = evet."/>
            <p:cNvSpPr txBox="1"/>
            <p:nvPr/>
          </p:nvSpPr>
          <p:spPr>
            <a:xfrm>
              <a:off x="0" y="-1"/>
              <a:ext cx="20193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 = hayır, 1 = evet.</a:t>
              </a:r>
            </a:p>
          </p:txBody>
        </p:sp>
      </p:grpSp>
      <p:sp>
        <p:nvSpPr>
          <p:cNvPr id="1213" name="Kare"/>
          <p:cNvSpPr/>
          <p:nvPr/>
        </p:nvSpPr>
        <p:spPr>
          <a:xfrm>
            <a:off x="1047750" y="38195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16" name="Grupla"/>
          <p:cNvGrpSpPr/>
          <p:nvPr/>
        </p:nvGrpSpPr>
        <p:grpSpPr>
          <a:xfrm>
            <a:off x="1219200" y="3752849"/>
            <a:ext cx="2019300" cy="438151"/>
            <a:chOff x="0" y="0"/>
            <a:chExt cx="2019300" cy="438150"/>
          </a:xfrm>
        </p:grpSpPr>
        <p:sp>
          <p:nvSpPr>
            <p:cNvPr id="1214" name="Dikdörtgen"/>
            <p:cNvSpPr/>
            <p:nvPr/>
          </p:nvSpPr>
          <p:spPr>
            <a:xfrm>
              <a:off x="0" y="0"/>
              <a:ext cx="20193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15" name="Olasılık sıralama için kullanılır."/>
            <p:cNvSpPr txBox="1"/>
            <p:nvPr/>
          </p:nvSpPr>
          <p:spPr>
            <a:xfrm>
              <a:off x="0" y="-1"/>
              <a:ext cx="201930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Olasılık sıralama için kullanılır.</a:t>
              </a:r>
            </a:p>
          </p:txBody>
        </p:sp>
      </p:grpSp>
      <p:sp>
        <p:nvSpPr>
          <p:cNvPr id="1217" name="Dikdörtgen"/>
          <p:cNvSpPr/>
          <p:nvPr/>
        </p:nvSpPr>
        <p:spPr>
          <a:xfrm>
            <a:off x="4610100" y="2152650"/>
            <a:ext cx="3048000" cy="2381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8" name="Dikdörtgen"/>
          <p:cNvSpPr/>
          <p:nvPr/>
        </p:nvSpPr>
        <p:spPr>
          <a:xfrm>
            <a:off x="4572000" y="2095500"/>
            <a:ext cx="3048000" cy="23812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9" name="Dikdörtgen"/>
          <p:cNvSpPr/>
          <p:nvPr/>
        </p:nvSpPr>
        <p:spPr>
          <a:xfrm>
            <a:off x="4572000" y="2095500"/>
            <a:ext cx="57150" cy="238125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22" name="Grupla"/>
          <p:cNvGrpSpPr/>
          <p:nvPr/>
        </p:nvGrpSpPr>
        <p:grpSpPr>
          <a:xfrm>
            <a:off x="4876800" y="2381249"/>
            <a:ext cx="2381250" cy="508001"/>
            <a:chOff x="0" y="0"/>
            <a:chExt cx="2381250" cy="508000"/>
          </a:xfrm>
        </p:grpSpPr>
        <p:sp>
          <p:nvSpPr>
            <p:cNvPr id="1220" name="Dikdörtgen"/>
            <p:cNvSpPr/>
            <p:nvPr/>
          </p:nvSpPr>
          <p:spPr>
            <a:xfrm>
              <a:off x="0" y="-1"/>
              <a:ext cx="2381250" cy="2667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7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21" name="Neden Random Forest?"/>
            <p:cNvSpPr txBox="1"/>
            <p:nvPr/>
          </p:nvSpPr>
          <p:spPr>
            <a:xfrm>
              <a:off x="0" y="0"/>
              <a:ext cx="2381250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7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Neden Random Forest?</a:t>
              </a:r>
            </a:p>
          </p:txBody>
        </p:sp>
      </p:grpSp>
      <p:sp>
        <p:nvSpPr>
          <p:cNvPr id="1223" name="Kare"/>
          <p:cNvSpPr/>
          <p:nvPr/>
        </p:nvSpPr>
        <p:spPr>
          <a:xfrm>
            <a:off x="4876800" y="30194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26" name="Grupla"/>
          <p:cNvGrpSpPr/>
          <p:nvPr/>
        </p:nvGrpSpPr>
        <p:grpSpPr>
          <a:xfrm>
            <a:off x="5048250" y="2952749"/>
            <a:ext cx="2019300" cy="438151"/>
            <a:chOff x="0" y="0"/>
            <a:chExt cx="2019300" cy="438150"/>
          </a:xfrm>
        </p:grpSpPr>
        <p:sp>
          <p:nvSpPr>
            <p:cNvPr id="1224" name="Dikdörtgen"/>
            <p:cNvSpPr/>
            <p:nvPr/>
          </p:nvSpPr>
          <p:spPr>
            <a:xfrm>
              <a:off x="0" y="0"/>
              <a:ext cx="20193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25" name="Karar ağacı mantığı anlaşılır."/>
            <p:cNvSpPr txBox="1"/>
            <p:nvPr/>
          </p:nvSpPr>
          <p:spPr>
            <a:xfrm>
              <a:off x="0" y="-1"/>
              <a:ext cx="201930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Karar ağacı mantığı anlaşılır.</a:t>
              </a:r>
            </a:p>
          </p:txBody>
        </p:sp>
      </p:grpSp>
      <p:sp>
        <p:nvSpPr>
          <p:cNvPr id="1227" name="Kare"/>
          <p:cNvSpPr/>
          <p:nvPr/>
        </p:nvSpPr>
        <p:spPr>
          <a:xfrm>
            <a:off x="4876800" y="341947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30" name="Grupla"/>
          <p:cNvGrpSpPr/>
          <p:nvPr/>
        </p:nvGrpSpPr>
        <p:grpSpPr>
          <a:xfrm>
            <a:off x="5048250" y="3352799"/>
            <a:ext cx="2019300" cy="438151"/>
            <a:chOff x="0" y="0"/>
            <a:chExt cx="2019300" cy="438150"/>
          </a:xfrm>
        </p:grpSpPr>
        <p:sp>
          <p:nvSpPr>
            <p:cNvPr id="1228" name="Dikdörtgen"/>
            <p:cNvSpPr/>
            <p:nvPr/>
          </p:nvSpPr>
          <p:spPr>
            <a:xfrm>
              <a:off x="0" y="0"/>
              <a:ext cx="20193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29" name="Doğrusal olmayan ilişkileri yakalar."/>
            <p:cNvSpPr txBox="1"/>
            <p:nvPr/>
          </p:nvSpPr>
          <p:spPr>
            <a:xfrm>
              <a:off x="0" y="-1"/>
              <a:ext cx="201930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Doğrusal olmayan ilişkileri yakalar.</a:t>
              </a:r>
            </a:p>
          </p:txBody>
        </p:sp>
      </p:grpSp>
      <p:sp>
        <p:nvSpPr>
          <p:cNvPr id="1231" name="Kare"/>
          <p:cNvSpPr/>
          <p:nvPr/>
        </p:nvSpPr>
        <p:spPr>
          <a:xfrm>
            <a:off x="4876800" y="38195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34" name="Grupla"/>
          <p:cNvGrpSpPr/>
          <p:nvPr/>
        </p:nvGrpSpPr>
        <p:grpSpPr>
          <a:xfrm>
            <a:off x="5048250" y="3752849"/>
            <a:ext cx="2019300" cy="438151"/>
            <a:chOff x="0" y="0"/>
            <a:chExt cx="2019300" cy="438150"/>
          </a:xfrm>
        </p:grpSpPr>
        <p:sp>
          <p:nvSpPr>
            <p:cNvPr id="1232" name="Dikdörtgen"/>
            <p:cNvSpPr/>
            <p:nvPr/>
          </p:nvSpPr>
          <p:spPr>
            <a:xfrm>
              <a:off x="0" y="0"/>
              <a:ext cx="20193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33" name="Özellik önemini gösterir."/>
            <p:cNvSpPr txBox="1"/>
            <p:nvPr/>
          </p:nvSpPr>
          <p:spPr>
            <a:xfrm>
              <a:off x="0" y="-1"/>
              <a:ext cx="20193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Özellik önemini gösterir.</a:t>
              </a:r>
            </a:p>
          </p:txBody>
        </p:sp>
      </p:grpSp>
      <p:sp>
        <p:nvSpPr>
          <p:cNvPr id="1235" name="Dikdörtgen"/>
          <p:cNvSpPr/>
          <p:nvPr/>
        </p:nvSpPr>
        <p:spPr>
          <a:xfrm>
            <a:off x="8439150" y="2152650"/>
            <a:ext cx="3048000" cy="23812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6" name="Dikdörtgen"/>
          <p:cNvSpPr/>
          <p:nvPr/>
        </p:nvSpPr>
        <p:spPr>
          <a:xfrm>
            <a:off x="8401050" y="2095500"/>
            <a:ext cx="3048000" cy="23812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7" name="Dikdörtgen"/>
          <p:cNvSpPr/>
          <p:nvPr/>
        </p:nvSpPr>
        <p:spPr>
          <a:xfrm>
            <a:off x="8401050" y="2095500"/>
            <a:ext cx="57150" cy="2381250"/>
          </a:xfrm>
          <a:prstGeom prst="rect">
            <a:avLst/>
          </a:prstGeom>
          <a:solidFill>
            <a:srgbClr val="D6453D"/>
          </a:solidFill>
          <a:ln w="3175">
            <a:solidFill>
              <a:srgbClr val="D6453D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40" name="Grupla"/>
          <p:cNvGrpSpPr/>
          <p:nvPr/>
        </p:nvGrpSpPr>
        <p:grpSpPr>
          <a:xfrm>
            <a:off x="8705850" y="2381249"/>
            <a:ext cx="2381250" cy="266701"/>
            <a:chOff x="0" y="0"/>
            <a:chExt cx="2381250" cy="266700"/>
          </a:xfrm>
        </p:grpSpPr>
        <p:sp>
          <p:nvSpPr>
            <p:cNvPr id="1238" name="Dikdörtgen"/>
            <p:cNvSpPr/>
            <p:nvPr/>
          </p:nvSpPr>
          <p:spPr>
            <a:xfrm>
              <a:off x="0" y="0"/>
              <a:ext cx="23812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7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39" name="Veri sızıntısı önlemi"/>
            <p:cNvSpPr txBox="1"/>
            <p:nvPr/>
          </p:nvSpPr>
          <p:spPr>
            <a:xfrm>
              <a:off x="0" y="-1"/>
              <a:ext cx="2381250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7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Veri sızıntısı önlemi</a:t>
              </a:r>
            </a:p>
          </p:txBody>
        </p:sp>
      </p:grpSp>
      <p:sp>
        <p:nvSpPr>
          <p:cNvPr id="1241" name="Kare"/>
          <p:cNvSpPr/>
          <p:nvPr/>
        </p:nvSpPr>
        <p:spPr>
          <a:xfrm>
            <a:off x="8705850" y="30194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44" name="Grupla"/>
          <p:cNvGrpSpPr/>
          <p:nvPr/>
        </p:nvGrpSpPr>
        <p:grpSpPr>
          <a:xfrm>
            <a:off x="8877300" y="2952749"/>
            <a:ext cx="2114550" cy="400051"/>
            <a:chOff x="0" y="0"/>
            <a:chExt cx="2114550" cy="400050"/>
          </a:xfrm>
        </p:grpSpPr>
        <p:sp>
          <p:nvSpPr>
            <p:cNvPr id="1242" name="Dikdörtgen"/>
            <p:cNvSpPr/>
            <p:nvPr/>
          </p:nvSpPr>
          <p:spPr>
            <a:xfrm>
              <a:off x="0" y="0"/>
              <a:ext cx="2114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43" name="Satış oranı ürün modeline verilmedi."/>
            <p:cNvSpPr txBox="1"/>
            <p:nvPr/>
          </p:nvSpPr>
          <p:spPr>
            <a:xfrm>
              <a:off x="0" y="-1"/>
              <a:ext cx="21145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Satış oranı ürün modeline verilmedi.</a:t>
              </a:r>
            </a:p>
          </p:txBody>
        </p:sp>
      </p:grpSp>
      <p:sp>
        <p:nvSpPr>
          <p:cNvPr id="1245" name="Kare"/>
          <p:cNvSpPr/>
          <p:nvPr/>
        </p:nvSpPr>
        <p:spPr>
          <a:xfrm>
            <a:off x="8705850" y="338137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48" name="Grupla"/>
          <p:cNvGrpSpPr/>
          <p:nvPr/>
        </p:nvGrpSpPr>
        <p:grpSpPr>
          <a:xfrm>
            <a:off x="8877300" y="3314699"/>
            <a:ext cx="2114550" cy="400051"/>
            <a:chOff x="0" y="0"/>
            <a:chExt cx="2114550" cy="400050"/>
          </a:xfrm>
        </p:grpSpPr>
        <p:sp>
          <p:nvSpPr>
            <p:cNvPr id="1246" name="Dikdörtgen"/>
            <p:cNvSpPr/>
            <p:nvPr/>
          </p:nvSpPr>
          <p:spPr>
            <a:xfrm>
              <a:off x="0" y="0"/>
              <a:ext cx="2114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47" name="Hedef etiketiyle aynı bilgiyi taşıyan alanlar çıkarıldı."/>
            <p:cNvSpPr txBox="1"/>
            <p:nvPr/>
          </p:nvSpPr>
          <p:spPr>
            <a:xfrm>
              <a:off x="0" y="-1"/>
              <a:ext cx="21145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Hedef etiketiyle aynı bilgiyi taşıyan alanlar çıkarıldı.</a:t>
              </a:r>
            </a:p>
          </p:txBody>
        </p:sp>
      </p:grpSp>
      <p:sp>
        <p:nvSpPr>
          <p:cNvPr id="1249" name="Kare"/>
          <p:cNvSpPr/>
          <p:nvPr/>
        </p:nvSpPr>
        <p:spPr>
          <a:xfrm>
            <a:off x="8705850" y="37433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52" name="Grupla"/>
          <p:cNvGrpSpPr/>
          <p:nvPr/>
        </p:nvGrpSpPr>
        <p:grpSpPr>
          <a:xfrm>
            <a:off x="8877300" y="3676649"/>
            <a:ext cx="2114550" cy="400051"/>
            <a:chOff x="0" y="0"/>
            <a:chExt cx="2114550" cy="400050"/>
          </a:xfrm>
        </p:grpSpPr>
        <p:sp>
          <p:nvSpPr>
            <p:cNvPr id="1250" name="Dikdörtgen"/>
            <p:cNvSpPr/>
            <p:nvPr/>
          </p:nvSpPr>
          <p:spPr>
            <a:xfrm>
              <a:off x="0" y="0"/>
              <a:ext cx="211455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51" name="Train/test ayrımı stratify ile yapıldı."/>
            <p:cNvSpPr txBox="1"/>
            <p:nvPr/>
          </p:nvSpPr>
          <p:spPr>
            <a:xfrm>
              <a:off x="0" y="-1"/>
              <a:ext cx="21145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Train/test ayrımı stratify ile yapıldı.</a:t>
              </a:r>
            </a:p>
          </p:txBody>
        </p:sp>
      </p:grpSp>
      <p:sp>
        <p:nvSpPr>
          <p:cNvPr id="1253" name="Dikdörtgen"/>
          <p:cNvSpPr/>
          <p:nvPr/>
        </p:nvSpPr>
        <p:spPr>
          <a:xfrm>
            <a:off x="3181350" y="5010150"/>
            <a:ext cx="5334000" cy="10668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4" name="Dikdörtgen"/>
          <p:cNvSpPr/>
          <p:nvPr/>
        </p:nvSpPr>
        <p:spPr>
          <a:xfrm>
            <a:off x="3034712" y="4952999"/>
            <a:ext cx="5442539" cy="121494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57" name="Grupla"/>
          <p:cNvGrpSpPr/>
          <p:nvPr/>
        </p:nvGrpSpPr>
        <p:grpSpPr>
          <a:xfrm>
            <a:off x="3314700" y="5086349"/>
            <a:ext cx="4991100" cy="190501"/>
            <a:chOff x="0" y="0"/>
            <a:chExt cx="4991100" cy="190500"/>
          </a:xfrm>
        </p:grpSpPr>
        <p:sp>
          <p:nvSpPr>
            <p:cNvPr id="1255" name="Dikdörtgen"/>
            <p:cNvSpPr/>
            <p:nvPr/>
          </p:nvSpPr>
          <p:spPr>
            <a:xfrm>
              <a:off x="0" y="0"/>
              <a:ext cx="4991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56" name="Kişisel model"/>
            <p:cNvSpPr txBox="1"/>
            <p:nvPr/>
          </p:nvSpPr>
          <p:spPr>
            <a:xfrm>
              <a:off x="0" y="-1"/>
              <a:ext cx="49911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Kişisel model</a:t>
              </a:r>
            </a:p>
          </p:txBody>
        </p:sp>
      </p:grpSp>
      <p:grpSp>
        <p:nvGrpSpPr>
          <p:cNvPr id="1260" name="Grupla"/>
          <p:cNvGrpSpPr/>
          <p:nvPr/>
        </p:nvGrpSpPr>
        <p:grpSpPr>
          <a:xfrm>
            <a:off x="3314699" y="5180998"/>
            <a:ext cx="6869326" cy="914401"/>
            <a:chOff x="0" y="0"/>
            <a:chExt cx="6869324" cy="914400"/>
          </a:xfrm>
        </p:grpSpPr>
        <p:sp>
          <p:nvSpPr>
            <p:cNvPr id="1258" name="Dikdörtgen"/>
            <p:cNvSpPr/>
            <p:nvPr/>
          </p:nvSpPr>
          <p:spPr>
            <a:xfrm>
              <a:off x="0" y="0"/>
              <a:ext cx="6869325" cy="78656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1259" name="model = RandomForestClassifier(…"/>
            <p:cNvSpPr txBox="1"/>
            <p:nvPr/>
          </p:nvSpPr>
          <p:spPr>
            <a:xfrm>
              <a:off x="0" y="0"/>
              <a:ext cx="6869325" cy="914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model = RandomForestClassifier(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n_estimators=180,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max_depth=10,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class_weight="balanced",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random_state=42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</p:txBody>
        </p:sp>
      </p:grpSp>
      <p:grpSp>
        <p:nvGrpSpPr>
          <p:cNvPr id="1263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261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62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266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264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65" name="14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9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72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270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71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275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273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74" name="Ürün Modeli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Ürün Modeli</a:t>
              </a:r>
            </a:p>
          </p:txBody>
        </p:sp>
      </p:grpSp>
      <p:grpSp>
        <p:nvGrpSpPr>
          <p:cNvPr id="1278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276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277" name="Ürün modeli genel önerilebilirlik etiketini başarılı biçimde ayırıyor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Ürün modeli genel önerilebilirlik etiketini başarılı biçimde ayırıyor</a:t>
              </a:r>
            </a:p>
          </p:txBody>
        </p:sp>
      </p:grpSp>
      <p:grpSp>
        <p:nvGrpSpPr>
          <p:cNvPr id="1281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1279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80" name="Bu model genel ürün skorunun hangi özelliklerle açıklanabildiğini gösteri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model genel ürün skorunun hangi özelliklerle açıklanabildiğini gösterir.</a:t>
              </a:r>
            </a:p>
          </p:txBody>
        </p:sp>
      </p:grpSp>
      <p:sp>
        <p:nvSpPr>
          <p:cNvPr id="1282" name="Dikdörtgen"/>
          <p:cNvSpPr/>
          <p:nvPr/>
        </p:nvSpPr>
        <p:spPr>
          <a:xfrm>
            <a:off x="704850" y="1962150"/>
            <a:ext cx="19050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3" name="Dikdörtgen"/>
          <p:cNvSpPr/>
          <p:nvPr/>
        </p:nvSpPr>
        <p:spPr>
          <a:xfrm>
            <a:off x="666750" y="1905000"/>
            <a:ext cx="19050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4" name="Dikdörtgen"/>
          <p:cNvSpPr/>
          <p:nvPr/>
        </p:nvSpPr>
        <p:spPr>
          <a:xfrm>
            <a:off x="666750" y="1905000"/>
            <a:ext cx="57150" cy="10287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87" name="Grupla"/>
          <p:cNvGrpSpPr/>
          <p:nvPr/>
        </p:nvGrpSpPr>
        <p:grpSpPr>
          <a:xfrm>
            <a:off x="857250" y="2076449"/>
            <a:ext cx="1524000" cy="152401"/>
            <a:chOff x="0" y="0"/>
            <a:chExt cx="1524000" cy="152400"/>
          </a:xfrm>
        </p:grpSpPr>
        <p:sp>
          <p:nvSpPr>
            <p:cNvPr id="1285" name="Dikdörtgen"/>
            <p:cNvSpPr/>
            <p:nvPr/>
          </p:nvSpPr>
          <p:spPr>
            <a:xfrm>
              <a:off x="0" y="0"/>
              <a:ext cx="15240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86" name="DOĞRULUK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DOĞRULUK</a:t>
              </a:r>
            </a:p>
          </p:txBody>
        </p:sp>
      </p:grpSp>
      <p:grpSp>
        <p:nvGrpSpPr>
          <p:cNvPr id="1290" name="Grupla"/>
          <p:cNvGrpSpPr/>
          <p:nvPr/>
        </p:nvGrpSpPr>
        <p:grpSpPr>
          <a:xfrm>
            <a:off x="857250" y="2305049"/>
            <a:ext cx="1524000" cy="361951"/>
            <a:chOff x="0" y="0"/>
            <a:chExt cx="1524000" cy="361950"/>
          </a:xfrm>
        </p:grpSpPr>
        <p:sp>
          <p:nvSpPr>
            <p:cNvPr id="1288" name="Dikdörtgen"/>
            <p:cNvSpPr/>
            <p:nvPr/>
          </p:nvSpPr>
          <p:spPr>
            <a:xfrm>
              <a:off x="0" y="0"/>
              <a:ext cx="15240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89" name="84.7%"/>
            <p:cNvSpPr txBox="1"/>
            <p:nvPr/>
          </p:nvSpPr>
          <p:spPr>
            <a:xfrm>
              <a:off x="0" y="-1"/>
              <a:ext cx="15240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84.7%</a:t>
              </a:r>
            </a:p>
          </p:txBody>
        </p:sp>
      </p:grpSp>
      <p:grpSp>
        <p:nvGrpSpPr>
          <p:cNvPr id="1293" name="Grupla"/>
          <p:cNvGrpSpPr/>
          <p:nvPr/>
        </p:nvGrpSpPr>
        <p:grpSpPr>
          <a:xfrm>
            <a:off x="857250" y="2686049"/>
            <a:ext cx="1524000" cy="171451"/>
            <a:chOff x="0" y="0"/>
            <a:chExt cx="1524000" cy="171450"/>
          </a:xfrm>
        </p:grpSpPr>
        <p:sp>
          <p:nvSpPr>
            <p:cNvPr id="1291" name="Dikdörtgen"/>
            <p:cNvSpPr/>
            <p:nvPr/>
          </p:nvSpPr>
          <p:spPr>
            <a:xfrm>
              <a:off x="0" y="0"/>
              <a:ext cx="15240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92" name="test seti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test seti</a:t>
              </a:r>
            </a:p>
          </p:txBody>
        </p:sp>
      </p:grpSp>
      <p:sp>
        <p:nvSpPr>
          <p:cNvPr id="1294" name="Dikdörtgen"/>
          <p:cNvSpPr/>
          <p:nvPr/>
        </p:nvSpPr>
        <p:spPr>
          <a:xfrm>
            <a:off x="2895600" y="1962150"/>
            <a:ext cx="19050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5" name="Dikdörtgen"/>
          <p:cNvSpPr/>
          <p:nvPr/>
        </p:nvSpPr>
        <p:spPr>
          <a:xfrm>
            <a:off x="2857500" y="1905000"/>
            <a:ext cx="19050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6" name="Dikdörtgen"/>
          <p:cNvSpPr/>
          <p:nvPr/>
        </p:nvSpPr>
        <p:spPr>
          <a:xfrm>
            <a:off x="2857500" y="1905000"/>
            <a:ext cx="57150" cy="10287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99" name="Grupla"/>
          <p:cNvGrpSpPr/>
          <p:nvPr/>
        </p:nvGrpSpPr>
        <p:grpSpPr>
          <a:xfrm>
            <a:off x="3048000" y="2076449"/>
            <a:ext cx="1524000" cy="152401"/>
            <a:chOff x="0" y="0"/>
            <a:chExt cx="1524000" cy="152400"/>
          </a:xfrm>
        </p:grpSpPr>
        <p:sp>
          <p:nvSpPr>
            <p:cNvPr id="1297" name="Dikdörtgen"/>
            <p:cNvSpPr/>
            <p:nvPr/>
          </p:nvSpPr>
          <p:spPr>
            <a:xfrm>
              <a:off x="0" y="0"/>
              <a:ext cx="15240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98" name="ROC AUC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ROC AUC</a:t>
              </a:r>
            </a:p>
          </p:txBody>
        </p:sp>
      </p:grpSp>
      <p:grpSp>
        <p:nvGrpSpPr>
          <p:cNvPr id="1302" name="Grupla"/>
          <p:cNvGrpSpPr/>
          <p:nvPr/>
        </p:nvGrpSpPr>
        <p:grpSpPr>
          <a:xfrm>
            <a:off x="3048000" y="2305049"/>
            <a:ext cx="1524000" cy="361951"/>
            <a:chOff x="0" y="0"/>
            <a:chExt cx="1524000" cy="361950"/>
          </a:xfrm>
        </p:grpSpPr>
        <p:sp>
          <p:nvSpPr>
            <p:cNvPr id="1300" name="Dikdörtgen"/>
            <p:cNvSpPr/>
            <p:nvPr/>
          </p:nvSpPr>
          <p:spPr>
            <a:xfrm>
              <a:off x="0" y="0"/>
              <a:ext cx="15240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01" name="0.913"/>
            <p:cNvSpPr txBox="1"/>
            <p:nvPr/>
          </p:nvSpPr>
          <p:spPr>
            <a:xfrm>
              <a:off x="0" y="-1"/>
              <a:ext cx="15240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0.913</a:t>
              </a:r>
            </a:p>
          </p:txBody>
        </p:sp>
      </p:grpSp>
      <p:grpSp>
        <p:nvGrpSpPr>
          <p:cNvPr id="1305" name="Grupla"/>
          <p:cNvGrpSpPr/>
          <p:nvPr/>
        </p:nvGrpSpPr>
        <p:grpSpPr>
          <a:xfrm>
            <a:off x="3048000" y="2686049"/>
            <a:ext cx="1524000" cy="171451"/>
            <a:chOff x="0" y="0"/>
            <a:chExt cx="1524000" cy="171450"/>
          </a:xfrm>
        </p:grpSpPr>
        <p:sp>
          <p:nvSpPr>
            <p:cNvPr id="1303" name="Dikdörtgen"/>
            <p:cNvSpPr/>
            <p:nvPr/>
          </p:nvSpPr>
          <p:spPr>
            <a:xfrm>
              <a:off x="0" y="0"/>
              <a:ext cx="15240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04" name="iyi ayrım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iyi ayrım</a:t>
              </a:r>
            </a:p>
          </p:txBody>
        </p:sp>
      </p:grpSp>
      <p:sp>
        <p:nvSpPr>
          <p:cNvPr id="1306" name="Dikdörtgen"/>
          <p:cNvSpPr/>
          <p:nvPr/>
        </p:nvSpPr>
        <p:spPr>
          <a:xfrm>
            <a:off x="5086350" y="1962150"/>
            <a:ext cx="19050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7" name="Dikdörtgen"/>
          <p:cNvSpPr/>
          <p:nvPr/>
        </p:nvSpPr>
        <p:spPr>
          <a:xfrm>
            <a:off x="5048250" y="1905000"/>
            <a:ext cx="19050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8" name="Dikdörtgen"/>
          <p:cNvSpPr/>
          <p:nvPr/>
        </p:nvSpPr>
        <p:spPr>
          <a:xfrm>
            <a:off x="5048250" y="1905000"/>
            <a:ext cx="57150" cy="10287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11" name="Grupla"/>
          <p:cNvGrpSpPr/>
          <p:nvPr/>
        </p:nvGrpSpPr>
        <p:grpSpPr>
          <a:xfrm>
            <a:off x="5238750" y="2076449"/>
            <a:ext cx="1524000" cy="152401"/>
            <a:chOff x="0" y="0"/>
            <a:chExt cx="1524000" cy="152400"/>
          </a:xfrm>
        </p:grpSpPr>
        <p:sp>
          <p:nvSpPr>
            <p:cNvPr id="1309" name="Dikdörtgen"/>
            <p:cNvSpPr/>
            <p:nvPr/>
          </p:nvSpPr>
          <p:spPr>
            <a:xfrm>
              <a:off x="0" y="0"/>
              <a:ext cx="15240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10" name="PRECISION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PRECISION</a:t>
              </a:r>
            </a:p>
          </p:txBody>
        </p:sp>
      </p:grpSp>
      <p:grpSp>
        <p:nvGrpSpPr>
          <p:cNvPr id="1314" name="Grupla"/>
          <p:cNvGrpSpPr/>
          <p:nvPr/>
        </p:nvGrpSpPr>
        <p:grpSpPr>
          <a:xfrm>
            <a:off x="5238750" y="2305049"/>
            <a:ext cx="1524000" cy="361951"/>
            <a:chOff x="0" y="0"/>
            <a:chExt cx="1524000" cy="361950"/>
          </a:xfrm>
        </p:grpSpPr>
        <p:sp>
          <p:nvSpPr>
            <p:cNvPr id="1312" name="Dikdörtgen"/>
            <p:cNvSpPr/>
            <p:nvPr/>
          </p:nvSpPr>
          <p:spPr>
            <a:xfrm>
              <a:off x="0" y="0"/>
              <a:ext cx="15240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13" name="73.4%"/>
            <p:cNvSpPr txBox="1"/>
            <p:nvPr/>
          </p:nvSpPr>
          <p:spPr>
            <a:xfrm>
              <a:off x="0" y="-1"/>
              <a:ext cx="15240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73.4%</a:t>
              </a:r>
            </a:p>
          </p:txBody>
        </p:sp>
      </p:grpSp>
      <p:grpSp>
        <p:nvGrpSpPr>
          <p:cNvPr id="1317" name="Grupla"/>
          <p:cNvGrpSpPr/>
          <p:nvPr/>
        </p:nvGrpSpPr>
        <p:grpSpPr>
          <a:xfrm>
            <a:off x="5238750" y="2686049"/>
            <a:ext cx="1524000" cy="171451"/>
            <a:chOff x="0" y="0"/>
            <a:chExt cx="1524000" cy="171450"/>
          </a:xfrm>
        </p:grpSpPr>
        <p:sp>
          <p:nvSpPr>
            <p:cNvPr id="1315" name="Dikdörtgen"/>
            <p:cNvSpPr/>
            <p:nvPr/>
          </p:nvSpPr>
          <p:spPr>
            <a:xfrm>
              <a:off x="0" y="0"/>
              <a:ext cx="15240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16" name="önerilir sınıf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önerilir sınıf</a:t>
              </a:r>
            </a:p>
          </p:txBody>
        </p:sp>
      </p:grpSp>
      <p:sp>
        <p:nvSpPr>
          <p:cNvPr id="1318" name="Dikdörtgen"/>
          <p:cNvSpPr/>
          <p:nvPr/>
        </p:nvSpPr>
        <p:spPr>
          <a:xfrm>
            <a:off x="7277100" y="1962150"/>
            <a:ext cx="19050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9" name="Dikdörtgen"/>
          <p:cNvSpPr/>
          <p:nvPr/>
        </p:nvSpPr>
        <p:spPr>
          <a:xfrm>
            <a:off x="7239000" y="1905000"/>
            <a:ext cx="19050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0" name="Dikdörtgen"/>
          <p:cNvSpPr/>
          <p:nvPr/>
        </p:nvSpPr>
        <p:spPr>
          <a:xfrm>
            <a:off x="7239000" y="1905000"/>
            <a:ext cx="57150" cy="1028700"/>
          </a:xfrm>
          <a:prstGeom prst="rect">
            <a:avLst/>
          </a:prstGeom>
          <a:solidFill>
            <a:srgbClr val="F2B632"/>
          </a:solidFill>
          <a:ln w="3175">
            <a:solidFill>
              <a:srgbClr val="F2B632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23" name="Grupla"/>
          <p:cNvGrpSpPr/>
          <p:nvPr/>
        </p:nvGrpSpPr>
        <p:grpSpPr>
          <a:xfrm>
            <a:off x="7429500" y="2076449"/>
            <a:ext cx="1524000" cy="152401"/>
            <a:chOff x="0" y="0"/>
            <a:chExt cx="1524000" cy="152400"/>
          </a:xfrm>
        </p:grpSpPr>
        <p:sp>
          <p:nvSpPr>
            <p:cNvPr id="1321" name="Dikdörtgen"/>
            <p:cNvSpPr/>
            <p:nvPr/>
          </p:nvSpPr>
          <p:spPr>
            <a:xfrm>
              <a:off x="0" y="0"/>
              <a:ext cx="15240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22" name="F1 SKORU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F1 SKORU</a:t>
              </a:r>
            </a:p>
          </p:txBody>
        </p:sp>
      </p:grpSp>
      <p:grpSp>
        <p:nvGrpSpPr>
          <p:cNvPr id="1326" name="Grupla"/>
          <p:cNvGrpSpPr/>
          <p:nvPr/>
        </p:nvGrpSpPr>
        <p:grpSpPr>
          <a:xfrm>
            <a:off x="7429500" y="2305049"/>
            <a:ext cx="1524000" cy="361951"/>
            <a:chOff x="0" y="0"/>
            <a:chExt cx="1524000" cy="361950"/>
          </a:xfrm>
        </p:grpSpPr>
        <p:sp>
          <p:nvSpPr>
            <p:cNvPr id="1324" name="Dikdörtgen"/>
            <p:cNvSpPr/>
            <p:nvPr/>
          </p:nvSpPr>
          <p:spPr>
            <a:xfrm>
              <a:off x="0" y="0"/>
              <a:ext cx="15240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25" name="0.750"/>
            <p:cNvSpPr txBox="1"/>
            <p:nvPr/>
          </p:nvSpPr>
          <p:spPr>
            <a:xfrm>
              <a:off x="0" y="-1"/>
              <a:ext cx="15240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0.750</a:t>
              </a:r>
            </a:p>
          </p:txBody>
        </p:sp>
      </p:grpSp>
      <p:grpSp>
        <p:nvGrpSpPr>
          <p:cNvPr id="1329" name="Grupla"/>
          <p:cNvGrpSpPr/>
          <p:nvPr/>
        </p:nvGrpSpPr>
        <p:grpSpPr>
          <a:xfrm>
            <a:off x="7429500" y="2686049"/>
            <a:ext cx="1524000" cy="171451"/>
            <a:chOff x="0" y="0"/>
            <a:chExt cx="1524000" cy="171450"/>
          </a:xfrm>
        </p:grpSpPr>
        <p:sp>
          <p:nvSpPr>
            <p:cNvPr id="1327" name="Dikdörtgen"/>
            <p:cNvSpPr/>
            <p:nvPr/>
          </p:nvSpPr>
          <p:spPr>
            <a:xfrm>
              <a:off x="0" y="0"/>
              <a:ext cx="15240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28" name="denge metriği"/>
            <p:cNvSpPr txBox="1"/>
            <p:nvPr/>
          </p:nvSpPr>
          <p:spPr>
            <a:xfrm>
              <a:off x="0" y="-1"/>
              <a:ext cx="15240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denge metriği</a:t>
              </a:r>
            </a:p>
          </p:txBody>
        </p:sp>
      </p:grpSp>
      <p:pic>
        <p:nvPicPr>
          <p:cNvPr id="1330" name="image9.png" descr="image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1689" y="3429000"/>
            <a:ext cx="2694372" cy="2190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1" name="image10.png" descr="image1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09560" y="3381375"/>
            <a:ext cx="3220530" cy="228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2" name="image11.png" descr="image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34375" y="3700895"/>
            <a:ext cx="2857500" cy="1570763"/>
          </a:xfrm>
          <a:prstGeom prst="rect">
            <a:avLst/>
          </a:prstGeom>
          <a:ln w="12700">
            <a:miter lim="400000"/>
          </a:ln>
        </p:spPr>
      </p:pic>
      <p:sp>
        <p:nvSpPr>
          <p:cNvPr id="1333" name="Dikdörtgen"/>
          <p:cNvSpPr/>
          <p:nvPr/>
        </p:nvSpPr>
        <p:spPr>
          <a:xfrm>
            <a:off x="838200" y="5810250"/>
            <a:ext cx="9334500" cy="41910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36" name="Grupla"/>
          <p:cNvGrpSpPr/>
          <p:nvPr/>
        </p:nvGrpSpPr>
        <p:grpSpPr>
          <a:xfrm>
            <a:off x="990600" y="5924549"/>
            <a:ext cx="9029700" cy="247651"/>
            <a:chOff x="0" y="0"/>
            <a:chExt cx="9029700" cy="247650"/>
          </a:xfrm>
        </p:grpSpPr>
        <p:sp>
          <p:nvSpPr>
            <p:cNvPr id="1334" name="Dikdörtgen"/>
            <p:cNvSpPr/>
            <p:nvPr/>
          </p:nvSpPr>
          <p:spPr>
            <a:xfrm>
              <a:off x="0" y="0"/>
              <a:ext cx="90297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35" name="Confusion Matrix: 69 doğru öneri, 25 yanlış öneri, 21 kaçan öneri var. AUC 0.913 modelin sınıfları iyi ayırdığını gösterir."/>
            <p:cNvSpPr txBox="1"/>
            <p:nvPr/>
          </p:nvSpPr>
          <p:spPr>
            <a:xfrm>
              <a:off x="0" y="-1"/>
              <a:ext cx="90297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Confusion Matrix: 69 doğru öneri, 25 yanlış öneri, 21 kaçan öneri var. AUC 0.913 modelin sınıfları iyi ayırdığını gösterir.</a:t>
              </a:r>
            </a:p>
          </p:txBody>
        </p:sp>
      </p:grpSp>
      <p:grpSp>
        <p:nvGrpSpPr>
          <p:cNvPr id="1339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337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38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342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340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41" name="15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5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48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346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47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351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349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50" name="Kişisel Model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Kişisel Model</a:t>
              </a:r>
            </a:p>
          </p:txBody>
        </p:sp>
      </p:grpSp>
      <p:grpSp>
        <p:nvGrpSpPr>
          <p:cNvPr id="1354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352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353" name="Kişisel satın alma modeli ürünleri müşteri bazında sıralamak için kullanılır"/>
            <p:cNvSpPr txBox="1"/>
            <p:nvPr/>
          </p:nvSpPr>
          <p:spPr>
            <a:xfrm>
              <a:off x="0" y="-1"/>
              <a:ext cx="9239250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Kişisel satın alma modeli ürünleri müşteri bazında sıralamak için kullanılır</a:t>
              </a:r>
            </a:p>
          </p:txBody>
        </p:sp>
      </p:grpSp>
      <p:grpSp>
        <p:nvGrpSpPr>
          <p:cNvPr id="1357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1355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56" name="Dashboard’daki öneri listesi modelin satın alma olasılığına göre oluşturulur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Dashboard’daki öneri listesi modelin satın alma olasılığına göre oluşturulur.</a:t>
              </a:r>
            </a:p>
          </p:txBody>
        </p:sp>
      </p:grpSp>
      <p:sp>
        <p:nvSpPr>
          <p:cNvPr id="1358" name="Dikdörtgen"/>
          <p:cNvSpPr/>
          <p:nvPr/>
        </p:nvSpPr>
        <p:spPr>
          <a:xfrm>
            <a:off x="781050" y="2000250"/>
            <a:ext cx="20955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9" name="Dikdörtgen"/>
          <p:cNvSpPr/>
          <p:nvPr/>
        </p:nvSpPr>
        <p:spPr>
          <a:xfrm>
            <a:off x="742950" y="1943100"/>
            <a:ext cx="20955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0" name="Dikdörtgen"/>
          <p:cNvSpPr/>
          <p:nvPr/>
        </p:nvSpPr>
        <p:spPr>
          <a:xfrm>
            <a:off x="742950" y="1943100"/>
            <a:ext cx="57150" cy="10287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63" name="Grupla"/>
          <p:cNvGrpSpPr/>
          <p:nvPr/>
        </p:nvGrpSpPr>
        <p:grpSpPr>
          <a:xfrm>
            <a:off x="933450" y="2114549"/>
            <a:ext cx="1714500" cy="152401"/>
            <a:chOff x="0" y="0"/>
            <a:chExt cx="1714500" cy="152400"/>
          </a:xfrm>
        </p:grpSpPr>
        <p:sp>
          <p:nvSpPr>
            <p:cNvPr id="1361" name="Dikdörtgen"/>
            <p:cNvSpPr/>
            <p:nvPr/>
          </p:nvSpPr>
          <p:spPr>
            <a:xfrm>
              <a:off x="0" y="0"/>
              <a:ext cx="17145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62" name="DOĞRULUK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DOĞRULUK</a:t>
              </a:r>
            </a:p>
          </p:txBody>
        </p:sp>
      </p:grpSp>
      <p:grpSp>
        <p:nvGrpSpPr>
          <p:cNvPr id="1366" name="Grupla"/>
          <p:cNvGrpSpPr/>
          <p:nvPr/>
        </p:nvGrpSpPr>
        <p:grpSpPr>
          <a:xfrm>
            <a:off x="933450" y="2343149"/>
            <a:ext cx="1714500" cy="361951"/>
            <a:chOff x="0" y="0"/>
            <a:chExt cx="1714500" cy="361950"/>
          </a:xfrm>
        </p:grpSpPr>
        <p:sp>
          <p:nvSpPr>
            <p:cNvPr id="1364" name="Dikdörtgen"/>
            <p:cNvSpPr/>
            <p:nvPr/>
          </p:nvSpPr>
          <p:spPr>
            <a:xfrm>
              <a:off x="0" y="0"/>
              <a:ext cx="17145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65" name="88.3%"/>
            <p:cNvSpPr txBox="1"/>
            <p:nvPr/>
          </p:nvSpPr>
          <p:spPr>
            <a:xfrm>
              <a:off x="0" y="-1"/>
              <a:ext cx="17145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88.3%</a:t>
              </a:r>
            </a:p>
          </p:txBody>
        </p:sp>
      </p:grpSp>
      <p:grpSp>
        <p:nvGrpSpPr>
          <p:cNvPr id="1369" name="Grupla"/>
          <p:cNvGrpSpPr/>
          <p:nvPr/>
        </p:nvGrpSpPr>
        <p:grpSpPr>
          <a:xfrm>
            <a:off x="933450" y="2724149"/>
            <a:ext cx="1714500" cy="171451"/>
            <a:chOff x="0" y="0"/>
            <a:chExt cx="1714500" cy="171450"/>
          </a:xfrm>
        </p:grpSpPr>
        <p:sp>
          <p:nvSpPr>
            <p:cNvPr id="1367" name="Dikdörtgen"/>
            <p:cNvSpPr/>
            <p:nvPr/>
          </p:nvSpPr>
          <p:spPr>
            <a:xfrm>
              <a:off x="0" y="0"/>
              <a:ext cx="1714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68" name="test seti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test seti</a:t>
              </a:r>
            </a:p>
          </p:txBody>
        </p:sp>
      </p:grpSp>
      <p:sp>
        <p:nvSpPr>
          <p:cNvPr id="1370" name="Dikdörtgen"/>
          <p:cNvSpPr/>
          <p:nvPr/>
        </p:nvSpPr>
        <p:spPr>
          <a:xfrm>
            <a:off x="3181350" y="2000250"/>
            <a:ext cx="20955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1" name="Dikdörtgen"/>
          <p:cNvSpPr/>
          <p:nvPr/>
        </p:nvSpPr>
        <p:spPr>
          <a:xfrm>
            <a:off x="3143250" y="1943100"/>
            <a:ext cx="20955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2" name="Dikdörtgen"/>
          <p:cNvSpPr/>
          <p:nvPr/>
        </p:nvSpPr>
        <p:spPr>
          <a:xfrm>
            <a:off x="3143250" y="1943100"/>
            <a:ext cx="57150" cy="10287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75" name="Grupla"/>
          <p:cNvGrpSpPr/>
          <p:nvPr/>
        </p:nvGrpSpPr>
        <p:grpSpPr>
          <a:xfrm>
            <a:off x="3333750" y="2114549"/>
            <a:ext cx="1714500" cy="152401"/>
            <a:chOff x="0" y="0"/>
            <a:chExt cx="1714500" cy="152400"/>
          </a:xfrm>
        </p:grpSpPr>
        <p:sp>
          <p:nvSpPr>
            <p:cNvPr id="1373" name="Dikdörtgen"/>
            <p:cNvSpPr/>
            <p:nvPr/>
          </p:nvSpPr>
          <p:spPr>
            <a:xfrm>
              <a:off x="0" y="0"/>
              <a:ext cx="17145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74" name="ROC AUC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ROC AUC</a:t>
              </a:r>
            </a:p>
          </p:txBody>
        </p:sp>
      </p:grpSp>
      <p:grpSp>
        <p:nvGrpSpPr>
          <p:cNvPr id="1378" name="Grupla"/>
          <p:cNvGrpSpPr/>
          <p:nvPr/>
        </p:nvGrpSpPr>
        <p:grpSpPr>
          <a:xfrm>
            <a:off x="3333750" y="2343149"/>
            <a:ext cx="1714500" cy="361951"/>
            <a:chOff x="0" y="0"/>
            <a:chExt cx="1714500" cy="361950"/>
          </a:xfrm>
        </p:grpSpPr>
        <p:sp>
          <p:nvSpPr>
            <p:cNvPr id="1376" name="Dikdörtgen"/>
            <p:cNvSpPr/>
            <p:nvPr/>
          </p:nvSpPr>
          <p:spPr>
            <a:xfrm>
              <a:off x="0" y="0"/>
              <a:ext cx="17145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77" name="0.954"/>
            <p:cNvSpPr txBox="1"/>
            <p:nvPr/>
          </p:nvSpPr>
          <p:spPr>
            <a:xfrm>
              <a:off x="0" y="-1"/>
              <a:ext cx="17145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0.954</a:t>
              </a:r>
            </a:p>
          </p:txBody>
        </p:sp>
      </p:grpSp>
      <p:grpSp>
        <p:nvGrpSpPr>
          <p:cNvPr id="1381" name="Grupla"/>
          <p:cNvGrpSpPr/>
          <p:nvPr/>
        </p:nvGrpSpPr>
        <p:grpSpPr>
          <a:xfrm>
            <a:off x="3333750" y="2724149"/>
            <a:ext cx="1714500" cy="171451"/>
            <a:chOff x="0" y="0"/>
            <a:chExt cx="1714500" cy="171450"/>
          </a:xfrm>
        </p:grpSpPr>
        <p:sp>
          <p:nvSpPr>
            <p:cNvPr id="1379" name="Dikdörtgen"/>
            <p:cNvSpPr/>
            <p:nvPr/>
          </p:nvSpPr>
          <p:spPr>
            <a:xfrm>
              <a:off x="0" y="0"/>
              <a:ext cx="1714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80" name="çok iyi ayrım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çok iyi ayrım</a:t>
              </a:r>
            </a:p>
          </p:txBody>
        </p:sp>
      </p:grpSp>
      <p:sp>
        <p:nvSpPr>
          <p:cNvPr id="1382" name="Dikdörtgen"/>
          <p:cNvSpPr/>
          <p:nvPr/>
        </p:nvSpPr>
        <p:spPr>
          <a:xfrm>
            <a:off x="5581650" y="2000250"/>
            <a:ext cx="209550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3" name="Dikdörtgen"/>
          <p:cNvSpPr/>
          <p:nvPr/>
        </p:nvSpPr>
        <p:spPr>
          <a:xfrm>
            <a:off x="5543550" y="1943100"/>
            <a:ext cx="209550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4" name="Dikdörtgen"/>
          <p:cNvSpPr/>
          <p:nvPr/>
        </p:nvSpPr>
        <p:spPr>
          <a:xfrm>
            <a:off x="5543550" y="1943100"/>
            <a:ext cx="57150" cy="10287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87" name="Grupla"/>
          <p:cNvGrpSpPr/>
          <p:nvPr/>
        </p:nvGrpSpPr>
        <p:grpSpPr>
          <a:xfrm>
            <a:off x="5734050" y="2114549"/>
            <a:ext cx="1714500" cy="152401"/>
            <a:chOff x="0" y="0"/>
            <a:chExt cx="1714500" cy="152400"/>
          </a:xfrm>
        </p:grpSpPr>
        <p:sp>
          <p:nvSpPr>
            <p:cNvPr id="1385" name="Dikdörtgen"/>
            <p:cNvSpPr/>
            <p:nvPr/>
          </p:nvSpPr>
          <p:spPr>
            <a:xfrm>
              <a:off x="0" y="0"/>
              <a:ext cx="17145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86" name="RECALL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RECALL</a:t>
              </a:r>
            </a:p>
          </p:txBody>
        </p:sp>
      </p:grpSp>
      <p:grpSp>
        <p:nvGrpSpPr>
          <p:cNvPr id="1390" name="Grupla"/>
          <p:cNvGrpSpPr/>
          <p:nvPr/>
        </p:nvGrpSpPr>
        <p:grpSpPr>
          <a:xfrm>
            <a:off x="5734050" y="2343149"/>
            <a:ext cx="1714500" cy="361951"/>
            <a:chOff x="0" y="0"/>
            <a:chExt cx="1714500" cy="361950"/>
          </a:xfrm>
        </p:grpSpPr>
        <p:sp>
          <p:nvSpPr>
            <p:cNvPr id="1388" name="Dikdörtgen"/>
            <p:cNvSpPr/>
            <p:nvPr/>
          </p:nvSpPr>
          <p:spPr>
            <a:xfrm>
              <a:off x="0" y="0"/>
              <a:ext cx="17145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89" name="%99.99"/>
            <p:cNvSpPr txBox="1"/>
            <p:nvPr/>
          </p:nvSpPr>
          <p:spPr>
            <a:xfrm>
              <a:off x="0" y="-1"/>
              <a:ext cx="171450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%99.99</a:t>
              </a:r>
            </a:p>
          </p:txBody>
        </p:sp>
      </p:grpSp>
      <p:grpSp>
        <p:nvGrpSpPr>
          <p:cNvPr id="1393" name="Grupla"/>
          <p:cNvGrpSpPr/>
          <p:nvPr/>
        </p:nvGrpSpPr>
        <p:grpSpPr>
          <a:xfrm>
            <a:off x="5734050" y="2724149"/>
            <a:ext cx="1714500" cy="171451"/>
            <a:chOff x="0" y="0"/>
            <a:chExt cx="1714500" cy="171450"/>
          </a:xfrm>
        </p:grpSpPr>
        <p:sp>
          <p:nvSpPr>
            <p:cNvPr id="1391" name="Dikdörtgen"/>
            <p:cNvSpPr/>
            <p:nvPr/>
          </p:nvSpPr>
          <p:spPr>
            <a:xfrm>
              <a:off x="0" y="0"/>
              <a:ext cx="1714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92" name="satın alanları yakalama"/>
            <p:cNvSpPr txBox="1"/>
            <p:nvPr/>
          </p:nvSpPr>
          <p:spPr>
            <a:xfrm>
              <a:off x="0" y="-1"/>
              <a:ext cx="17145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satın alanları yakalama</a:t>
              </a:r>
            </a:p>
          </p:txBody>
        </p:sp>
      </p:grpSp>
      <p:sp>
        <p:nvSpPr>
          <p:cNvPr id="1394" name="Dikdörtgen"/>
          <p:cNvSpPr/>
          <p:nvPr/>
        </p:nvSpPr>
        <p:spPr>
          <a:xfrm>
            <a:off x="7981950" y="2000250"/>
            <a:ext cx="2381250" cy="10287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5" name="Dikdörtgen"/>
          <p:cNvSpPr/>
          <p:nvPr/>
        </p:nvSpPr>
        <p:spPr>
          <a:xfrm>
            <a:off x="7943850" y="1943100"/>
            <a:ext cx="2381250" cy="10287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6" name="Dikdörtgen"/>
          <p:cNvSpPr/>
          <p:nvPr/>
        </p:nvSpPr>
        <p:spPr>
          <a:xfrm>
            <a:off x="7943850" y="1943100"/>
            <a:ext cx="57150" cy="1028700"/>
          </a:xfrm>
          <a:prstGeom prst="rect">
            <a:avLst/>
          </a:prstGeom>
          <a:solidFill>
            <a:srgbClr val="F2B632"/>
          </a:solidFill>
          <a:ln w="3175">
            <a:solidFill>
              <a:srgbClr val="F2B632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99" name="Grupla"/>
          <p:cNvGrpSpPr/>
          <p:nvPr/>
        </p:nvGrpSpPr>
        <p:grpSpPr>
          <a:xfrm>
            <a:off x="8134350" y="2114549"/>
            <a:ext cx="2000250" cy="152401"/>
            <a:chOff x="0" y="0"/>
            <a:chExt cx="2000250" cy="152400"/>
          </a:xfrm>
        </p:grpSpPr>
        <p:sp>
          <p:nvSpPr>
            <p:cNvPr id="1397" name="Dikdörtgen"/>
            <p:cNvSpPr/>
            <p:nvPr/>
          </p:nvSpPr>
          <p:spPr>
            <a:xfrm>
              <a:off x="0" y="0"/>
              <a:ext cx="200025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98" name="PRECISION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9AA7B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PRECISION</a:t>
              </a:r>
            </a:p>
          </p:txBody>
        </p:sp>
      </p:grpSp>
      <p:grpSp>
        <p:nvGrpSpPr>
          <p:cNvPr id="1402" name="Grupla"/>
          <p:cNvGrpSpPr/>
          <p:nvPr/>
        </p:nvGrpSpPr>
        <p:grpSpPr>
          <a:xfrm>
            <a:off x="8134350" y="2249430"/>
            <a:ext cx="2567971" cy="464682"/>
            <a:chOff x="0" y="0"/>
            <a:chExt cx="2567969" cy="464680"/>
          </a:xfrm>
        </p:grpSpPr>
        <p:sp>
          <p:nvSpPr>
            <p:cNvPr id="1400" name="Dikdörtgen"/>
            <p:cNvSpPr/>
            <p:nvPr/>
          </p:nvSpPr>
          <p:spPr>
            <a:xfrm>
              <a:off x="0" y="0"/>
              <a:ext cx="2567970" cy="46468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01" name="%48.7"/>
            <p:cNvSpPr txBox="1"/>
            <p:nvPr/>
          </p:nvSpPr>
          <p:spPr>
            <a:xfrm>
              <a:off x="0" y="0"/>
              <a:ext cx="2567970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%48.7</a:t>
              </a:r>
            </a:p>
          </p:txBody>
        </p:sp>
      </p:grpSp>
      <p:grpSp>
        <p:nvGrpSpPr>
          <p:cNvPr id="1405" name="Grupla"/>
          <p:cNvGrpSpPr/>
          <p:nvPr/>
        </p:nvGrpSpPr>
        <p:grpSpPr>
          <a:xfrm>
            <a:off x="8134350" y="2724149"/>
            <a:ext cx="2000250" cy="171451"/>
            <a:chOff x="0" y="0"/>
            <a:chExt cx="2000250" cy="171450"/>
          </a:xfrm>
        </p:grpSpPr>
        <p:sp>
          <p:nvSpPr>
            <p:cNvPr id="1403" name="Dikdörtgen"/>
            <p:cNvSpPr/>
            <p:nvPr/>
          </p:nvSpPr>
          <p:spPr>
            <a:xfrm>
              <a:off x="0" y="0"/>
              <a:ext cx="2000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04" name="öneri isabeti"/>
            <p:cNvSpPr txBox="1"/>
            <p:nvPr/>
          </p:nvSpPr>
          <p:spPr>
            <a:xfrm>
              <a:off x="0" y="-1"/>
              <a:ext cx="20002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öneri isabeti</a:t>
              </a:r>
            </a:p>
          </p:txBody>
        </p:sp>
      </p:grpSp>
      <p:sp>
        <p:nvSpPr>
          <p:cNvPr id="1406" name="Dikdörtgen"/>
          <p:cNvSpPr/>
          <p:nvPr/>
        </p:nvSpPr>
        <p:spPr>
          <a:xfrm>
            <a:off x="933450" y="3600450"/>
            <a:ext cx="4429125" cy="18097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7" name="Dikdörtgen"/>
          <p:cNvSpPr/>
          <p:nvPr/>
        </p:nvSpPr>
        <p:spPr>
          <a:xfrm>
            <a:off x="895350" y="3543300"/>
            <a:ext cx="4429125" cy="18097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8" name="Dikdörtgen"/>
          <p:cNvSpPr/>
          <p:nvPr/>
        </p:nvSpPr>
        <p:spPr>
          <a:xfrm>
            <a:off x="895350" y="3543300"/>
            <a:ext cx="57150" cy="180975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11" name="Grupla"/>
          <p:cNvGrpSpPr/>
          <p:nvPr/>
        </p:nvGrpSpPr>
        <p:grpSpPr>
          <a:xfrm>
            <a:off x="1181100" y="3790949"/>
            <a:ext cx="3238500" cy="266701"/>
            <a:chOff x="0" y="0"/>
            <a:chExt cx="3238500" cy="266700"/>
          </a:xfrm>
        </p:grpSpPr>
        <p:sp>
          <p:nvSpPr>
            <p:cNvPr id="1409" name="Dikdörtgen"/>
            <p:cNvSpPr/>
            <p:nvPr/>
          </p:nvSpPr>
          <p:spPr>
            <a:xfrm>
              <a:off x="0" y="0"/>
              <a:ext cx="32385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10" name="Confusion Matrix Yorumu"/>
            <p:cNvSpPr txBox="1"/>
            <p:nvPr/>
          </p:nvSpPr>
          <p:spPr>
            <a:xfrm>
              <a:off x="0" y="-1"/>
              <a:ext cx="323850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Confusion Matrix Yorumu</a:t>
              </a:r>
            </a:p>
          </p:txBody>
        </p:sp>
      </p:grpSp>
      <p:sp>
        <p:nvSpPr>
          <p:cNvPr id="1412" name="Kare"/>
          <p:cNvSpPr/>
          <p:nvPr/>
        </p:nvSpPr>
        <p:spPr>
          <a:xfrm>
            <a:off x="1200150" y="43148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15" name="Grupla"/>
          <p:cNvGrpSpPr/>
          <p:nvPr/>
        </p:nvGrpSpPr>
        <p:grpSpPr>
          <a:xfrm>
            <a:off x="1371600" y="4248149"/>
            <a:ext cx="3257550" cy="342901"/>
            <a:chOff x="0" y="0"/>
            <a:chExt cx="3257550" cy="342900"/>
          </a:xfrm>
        </p:grpSpPr>
        <p:sp>
          <p:nvSpPr>
            <p:cNvPr id="1413" name="Dikdörtgen"/>
            <p:cNvSpPr/>
            <p:nvPr/>
          </p:nvSpPr>
          <p:spPr>
            <a:xfrm>
              <a:off x="0" y="0"/>
              <a:ext cx="32575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14" name="Model satın alanları neredeyse kaçırmıyor."/>
            <p:cNvSpPr txBox="1"/>
            <p:nvPr/>
          </p:nvSpPr>
          <p:spPr>
            <a:xfrm>
              <a:off x="0" y="-1"/>
              <a:ext cx="32575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Model satın alanları neredeyse kaçırmıyor.</a:t>
              </a:r>
            </a:p>
          </p:txBody>
        </p:sp>
      </p:grpSp>
      <p:sp>
        <p:nvSpPr>
          <p:cNvPr id="1416" name="Kare"/>
          <p:cNvSpPr/>
          <p:nvPr/>
        </p:nvSpPr>
        <p:spPr>
          <a:xfrm>
            <a:off x="1200150" y="4619625"/>
            <a:ext cx="66675" cy="6667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19" name="Grupla"/>
          <p:cNvGrpSpPr/>
          <p:nvPr/>
        </p:nvGrpSpPr>
        <p:grpSpPr>
          <a:xfrm>
            <a:off x="1365250" y="4478337"/>
            <a:ext cx="3257550" cy="355601"/>
            <a:chOff x="0" y="0"/>
            <a:chExt cx="3257550" cy="355600"/>
          </a:xfrm>
        </p:grpSpPr>
        <p:sp>
          <p:nvSpPr>
            <p:cNvPr id="1417" name="Dikdörtgen"/>
            <p:cNvSpPr/>
            <p:nvPr/>
          </p:nvSpPr>
          <p:spPr>
            <a:xfrm>
              <a:off x="0" y="0"/>
              <a:ext cx="3257550" cy="3429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18" name="Yanlış pozitifler öneri sistemlerinde izlenmesi gereken maliyettir."/>
            <p:cNvSpPr txBox="1"/>
            <p:nvPr/>
          </p:nvSpPr>
          <p:spPr>
            <a:xfrm>
              <a:off x="0" y="0"/>
              <a:ext cx="32575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Yanlış pozitifler öneri sistemlerinde izlenmesi gereken maliyettir.</a:t>
              </a:r>
            </a:p>
          </p:txBody>
        </p:sp>
      </p:grpSp>
      <p:sp>
        <p:nvSpPr>
          <p:cNvPr id="1420" name="Kare"/>
          <p:cNvSpPr/>
          <p:nvPr/>
        </p:nvSpPr>
        <p:spPr>
          <a:xfrm>
            <a:off x="1189037" y="4995862"/>
            <a:ext cx="66677" cy="66677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23" name="Grupla"/>
          <p:cNvGrpSpPr/>
          <p:nvPr/>
        </p:nvGrpSpPr>
        <p:grpSpPr>
          <a:xfrm>
            <a:off x="1368425" y="4924424"/>
            <a:ext cx="3257550" cy="342901"/>
            <a:chOff x="0" y="0"/>
            <a:chExt cx="3257550" cy="342900"/>
          </a:xfrm>
        </p:grpSpPr>
        <p:sp>
          <p:nvSpPr>
            <p:cNvPr id="1421" name="Dikdörtgen"/>
            <p:cNvSpPr/>
            <p:nvPr/>
          </p:nvSpPr>
          <p:spPr>
            <a:xfrm>
              <a:off x="0" y="0"/>
              <a:ext cx="32575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22" name="Olasılıklar ürün sıralamak için daha anlamlıdır."/>
            <p:cNvSpPr txBox="1"/>
            <p:nvPr/>
          </p:nvSpPr>
          <p:spPr>
            <a:xfrm>
              <a:off x="0" y="-1"/>
              <a:ext cx="32575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Olasılıklar ürün sıralamak için daha anlamlıdır.</a:t>
              </a:r>
            </a:p>
          </p:txBody>
        </p:sp>
      </p:grpSp>
      <p:sp>
        <p:nvSpPr>
          <p:cNvPr id="1424" name="Dikdörtgen"/>
          <p:cNvSpPr/>
          <p:nvPr/>
        </p:nvSpPr>
        <p:spPr>
          <a:xfrm>
            <a:off x="6229350" y="3600450"/>
            <a:ext cx="4381500" cy="18097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5" name="Dikdörtgen"/>
          <p:cNvSpPr/>
          <p:nvPr/>
        </p:nvSpPr>
        <p:spPr>
          <a:xfrm>
            <a:off x="6191250" y="3543300"/>
            <a:ext cx="4381500" cy="180975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6" name="Dikdörtgen"/>
          <p:cNvSpPr/>
          <p:nvPr/>
        </p:nvSpPr>
        <p:spPr>
          <a:xfrm>
            <a:off x="6191250" y="3543300"/>
            <a:ext cx="57150" cy="180975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29" name="Grupla"/>
          <p:cNvGrpSpPr/>
          <p:nvPr/>
        </p:nvGrpSpPr>
        <p:grpSpPr>
          <a:xfrm>
            <a:off x="6477000" y="3790949"/>
            <a:ext cx="3238500" cy="266701"/>
            <a:chOff x="0" y="0"/>
            <a:chExt cx="3238500" cy="266700"/>
          </a:xfrm>
        </p:grpSpPr>
        <p:sp>
          <p:nvSpPr>
            <p:cNvPr id="1427" name="Dikdörtgen"/>
            <p:cNvSpPr/>
            <p:nvPr/>
          </p:nvSpPr>
          <p:spPr>
            <a:xfrm>
              <a:off x="0" y="0"/>
              <a:ext cx="32385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28" name="En Güçlü Sinyaller"/>
            <p:cNvSpPr txBox="1"/>
            <p:nvPr/>
          </p:nvSpPr>
          <p:spPr>
            <a:xfrm>
              <a:off x="0" y="-1"/>
              <a:ext cx="323850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En Güçlü Sinyaller</a:t>
              </a:r>
            </a:p>
          </p:txBody>
        </p:sp>
      </p:grpSp>
      <p:grpSp>
        <p:nvGrpSpPr>
          <p:cNvPr id="1432" name="Grupla"/>
          <p:cNvGrpSpPr/>
          <p:nvPr/>
        </p:nvGrpSpPr>
        <p:grpSpPr>
          <a:xfrm>
            <a:off x="6477000" y="4238624"/>
            <a:ext cx="1428750" cy="171451"/>
            <a:chOff x="0" y="0"/>
            <a:chExt cx="1428750" cy="171450"/>
          </a:xfrm>
        </p:grpSpPr>
        <p:sp>
          <p:nvSpPr>
            <p:cNvPr id="1430" name="Dikdörtgen"/>
            <p:cNvSpPr/>
            <p:nvPr/>
          </p:nvSpPr>
          <p:spPr>
            <a:xfrm>
              <a:off x="0" y="0"/>
              <a:ext cx="1428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31" name="add_to_cart"/>
            <p:cNvSpPr txBox="1"/>
            <p:nvPr/>
          </p:nvSpPr>
          <p:spPr>
            <a:xfrm>
              <a:off x="0" y="-1"/>
              <a:ext cx="14287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add_to_cart</a:t>
              </a:r>
            </a:p>
          </p:txBody>
        </p:sp>
      </p:grpSp>
      <p:sp>
        <p:nvSpPr>
          <p:cNvPr id="1433" name="Dikdörtgen"/>
          <p:cNvSpPr/>
          <p:nvPr/>
        </p:nvSpPr>
        <p:spPr>
          <a:xfrm>
            <a:off x="8096250" y="4267200"/>
            <a:ext cx="1809750" cy="1143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36" name="Grupla"/>
          <p:cNvGrpSpPr/>
          <p:nvPr/>
        </p:nvGrpSpPr>
        <p:grpSpPr>
          <a:xfrm>
            <a:off x="10001250" y="4219574"/>
            <a:ext cx="552450" cy="171451"/>
            <a:chOff x="0" y="0"/>
            <a:chExt cx="552450" cy="171450"/>
          </a:xfrm>
        </p:grpSpPr>
        <p:sp>
          <p:nvSpPr>
            <p:cNvPr id="1434" name="Dikdörtgen"/>
            <p:cNvSpPr/>
            <p:nvPr/>
          </p:nvSpPr>
          <p:spPr>
            <a:xfrm>
              <a:off x="0" y="0"/>
              <a:ext cx="5524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35" name="80.8%"/>
            <p:cNvSpPr txBox="1"/>
            <p:nvPr/>
          </p:nvSpPr>
          <p:spPr>
            <a:xfrm>
              <a:off x="0" y="-1"/>
              <a:ext cx="5524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80.8%</a:t>
              </a:r>
            </a:p>
          </p:txBody>
        </p:sp>
      </p:grpSp>
      <p:grpSp>
        <p:nvGrpSpPr>
          <p:cNvPr id="1439" name="Grupla"/>
          <p:cNvGrpSpPr/>
          <p:nvPr/>
        </p:nvGrpSpPr>
        <p:grpSpPr>
          <a:xfrm>
            <a:off x="6477000" y="4524374"/>
            <a:ext cx="1428750" cy="171451"/>
            <a:chOff x="0" y="0"/>
            <a:chExt cx="1428750" cy="171450"/>
          </a:xfrm>
        </p:grpSpPr>
        <p:sp>
          <p:nvSpPr>
            <p:cNvPr id="1437" name="Dikdörtgen"/>
            <p:cNvSpPr/>
            <p:nvPr/>
          </p:nvSpPr>
          <p:spPr>
            <a:xfrm>
              <a:off x="0" y="0"/>
              <a:ext cx="1428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38" name="monetary"/>
            <p:cNvSpPr txBox="1"/>
            <p:nvPr/>
          </p:nvSpPr>
          <p:spPr>
            <a:xfrm>
              <a:off x="0" y="-1"/>
              <a:ext cx="14287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monetary</a:t>
              </a:r>
            </a:p>
          </p:txBody>
        </p:sp>
      </p:grpSp>
      <p:sp>
        <p:nvSpPr>
          <p:cNvPr id="1440" name="Dikdörtgen"/>
          <p:cNvSpPr/>
          <p:nvPr/>
        </p:nvSpPr>
        <p:spPr>
          <a:xfrm>
            <a:off x="8096250" y="4552950"/>
            <a:ext cx="87678" cy="114300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43" name="Grupla"/>
          <p:cNvGrpSpPr/>
          <p:nvPr/>
        </p:nvGrpSpPr>
        <p:grpSpPr>
          <a:xfrm>
            <a:off x="10001250" y="4505324"/>
            <a:ext cx="552450" cy="171451"/>
            <a:chOff x="0" y="0"/>
            <a:chExt cx="552450" cy="171450"/>
          </a:xfrm>
        </p:grpSpPr>
        <p:sp>
          <p:nvSpPr>
            <p:cNvPr id="1441" name="Dikdörtgen"/>
            <p:cNvSpPr/>
            <p:nvPr/>
          </p:nvSpPr>
          <p:spPr>
            <a:xfrm>
              <a:off x="0" y="0"/>
              <a:ext cx="5524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42" name="3.9%"/>
            <p:cNvSpPr txBox="1"/>
            <p:nvPr/>
          </p:nvSpPr>
          <p:spPr>
            <a:xfrm>
              <a:off x="0" y="-1"/>
              <a:ext cx="5524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3.9%</a:t>
              </a:r>
            </a:p>
          </p:txBody>
        </p:sp>
      </p:grpSp>
      <p:grpSp>
        <p:nvGrpSpPr>
          <p:cNvPr id="1446" name="Grupla"/>
          <p:cNvGrpSpPr/>
          <p:nvPr/>
        </p:nvGrpSpPr>
        <p:grpSpPr>
          <a:xfrm>
            <a:off x="6477000" y="4810124"/>
            <a:ext cx="1428750" cy="171451"/>
            <a:chOff x="0" y="0"/>
            <a:chExt cx="1428750" cy="171450"/>
          </a:xfrm>
        </p:grpSpPr>
        <p:sp>
          <p:nvSpPr>
            <p:cNvPr id="1444" name="Dikdörtgen"/>
            <p:cNvSpPr/>
            <p:nvPr/>
          </p:nvSpPr>
          <p:spPr>
            <a:xfrm>
              <a:off x="0" y="0"/>
              <a:ext cx="1428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45" name="recency"/>
            <p:cNvSpPr txBox="1"/>
            <p:nvPr/>
          </p:nvSpPr>
          <p:spPr>
            <a:xfrm>
              <a:off x="0" y="-1"/>
              <a:ext cx="14287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recency</a:t>
              </a:r>
            </a:p>
          </p:txBody>
        </p:sp>
      </p:grpSp>
      <p:sp>
        <p:nvSpPr>
          <p:cNvPr id="1447" name="Dikdörtgen"/>
          <p:cNvSpPr/>
          <p:nvPr/>
        </p:nvSpPr>
        <p:spPr>
          <a:xfrm>
            <a:off x="8096249" y="4838700"/>
            <a:ext cx="56206" cy="1143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50" name="Grupla"/>
          <p:cNvGrpSpPr/>
          <p:nvPr/>
        </p:nvGrpSpPr>
        <p:grpSpPr>
          <a:xfrm>
            <a:off x="10001250" y="4791074"/>
            <a:ext cx="552450" cy="171451"/>
            <a:chOff x="0" y="0"/>
            <a:chExt cx="552450" cy="171450"/>
          </a:xfrm>
        </p:grpSpPr>
        <p:sp>
          <p:nvSpPr>
            <p:cNvPr id="1448" name="Dikdörtgen"/>
            <p:cNvSpPr/>
            <p:nvPr/>
          </p:nvSpPr>
          <p:spPr>
            <a:xfrm>
              <a:off x="0" y="0"/>
              <a:ext cx="5524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49" name="2.5%"/>
            <p:cNvSpPr txBox="1"/>
            <p:nvPr/>
          </p:nvSpPr>
          <p:spPr>
            <a:xfrm>
              <a:off x="0" y="-1"/>
              <a:ext cx="5524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2.5%</a:t>
              </a:r>
            </a:p>
          </p:txBody>
        </p:sp>
      </p:grpSp>
      <p:grpSp>
        <p:nvGrpSpPr>
          <p:cNvPr id="1453" name="Grupla"/>
          <p:cNvGrpSpPr/>
          <p:nvPr/>
        </p:nvGrpSpPr>
        <p:grpSpPr>
          <a:xfrm>
            <a:off x="6477000" y="5095874"/>
            <a:ext cx="1428750" cy="171451"/>
            <a:chOff x="0" y="0"/>
            <a:chExt cx="1428750" cy="171450"/>
          </a:xfrm>
        </p:grpSpPr>
        <p:sp>
          <p:nvSpPr>
            <p:cNvPr id="1451" name="Dikdörtgen"/>
            <p:cNvSpPr/>
            <p:nvPr/>
          </p:nvSpPr>
          <p:spPr>
            <a:xfrm>
              <a:off x="0" y="0"/>
              <a:ext cx="14287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52" name="kategori_ilgi_orani"/>
            <p:cNvSpPr txBox="1"/>
            <p:nvPr/>
          </p:nvSpPr>
          <p:spPr>
            <a:xfrm>
              <a:off x="0" y="-1"/>
              <a:ext cx="14287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kategori_ilgi_orani</a:t>
              </a:r>
            </a:p>
          </p:txBody>
        </p:sp>
      </p:grpSp>
      <p:sp>
        <p:nvSpPr>
          <p:cNvPr id="1454" name="Dikdörtgen"/>
          <p:cNvSpPr/>
          <p:nvPr/>
        </p:nvSpPr>
        <p:spPr>
          <a:xfrm>
            <a:off x="8096250" y="5124450"/>
            <a:ext cx="53954" cy="114300"/>
          </a:xfrm>
          <a:prstGeom prst="rect">
            <a:avLst/>
          </a:prstGeom>
          <a:solidFill>
            <a:srgbClr val="F2B632"/>
          </a:solidFill>
          <a:ln w="3175">
            <a:solidFill>
              <a:srgbClr val="F2B632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57" name="Grupla"/>
          <p:cNvGrpSpPr/>
          <p:nvPr/>
        </p:nvGrpSpPr>
        <p:grpSpPr>
          <a:xfrm>
            <a:off x="10001250" y="5076824"/>
            <a:ext cx="552450" cy="171451"/>
            <a:chOff x="0" y="0"/>
            <a:chExt cx="552450" cy="171450"/>
          </a:xfrm>
        </p:grpSpPr>
        <p:sp>
          <p:nvSpPr>
            <p:cNvPr id="1455" name="Dikdörtgen"/>
            <p:cNvSpPr/>
            <p:nvPr/>
          </p:nvSpPr>
          <p:spPr>
            <a:xfrm>
              <a:off x="0" y="0"/>
              <a:ext cx="5524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56" name="2.4%"/>
            <p:cNvSpPr txBox="1"/>
            <p:nvPr/>
          </p:nvSpPr>
          <p:spPr>
            <a:xfrm>
              <a:off x="0" y="-1"/>
              <a:ext cx="5524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2.4%</a:t>
              </a:r>
            </a:p>
          </p:txBody>
        </p:sp>
      </p:grpSp>
      <p:sp>
        <p:nvSpPr>
          <p:cNvPr id="1458" name="Dikdörtgen"/>
          <p:cNvSpPr/>
          <p:nvPr/>
        </p:nvSpPr>
        <p:spPr>
          <a:xfrm>
            <a:off x="895350" y="5715000"/>
            <a:ext cx="8858250" cy="43815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61" name="Grupla"/>
          <p:cNvGrpSpPr/>
          <p:nvPr/>
        </p:nvGrpSpPr>
        <p:grpSpPr>
          <a:xfrm>
            <a:off x="1047750" y="5829299"/>
            <a:ext cx="8553450" cy="266701"/>
            <a:chOff x="0" y="0"/>
            <a:chExt cx="8553450" cy="266700"/>
          </a:xfrm>
        </p:grpSpPr>
        <p:sp>
          <p:nvSpPr>
            <p:cNvPr id="1459" name="Dikdörtgen"/>
            <p:cNvSpPr/>
            <p:nvPr/>
          </p:nvSpPr>
          <p:spPr>
            <a:xfrm>
              <a:off x="0" y="0"/>
              <a:ext cx="85534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60" name="En baskın sinyal sepete eklemedir; bu gerçek hayatta da satın alma niyetinin en güçlü göstergelerinden biridir."/>
            <p:cNvSpPr txBox="1"/>
            <p:nvPr/>
          </p:nvSpPr>
          <p:spPr>
            <a:xfrm>
              <a:off x="0" y="-1"/>
              <a:ext cx="85534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En baskın sinyal sepete eklemedir; bu gerçek hayatta da satın alma niyetinin en güçlü göstergelerinden biridir.</a:t>
              </a:r>
            </a:p>
          </p:txBody>
        </p:sp>
      </p:grpSp>
      <p:grpSp>
        <p:nvGrpSpPr>
          <p:cNvPr id="1464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462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63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467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465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66" name="16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0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73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471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72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476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474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75" name="Dashboard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Dashboard</a:t>
              </a:r>
            </a:p>
          </p:txBody>
        </p:sp>
      </p:grpSp>
      <p:grpSp>
        <p:nvGrpSpPr>
          <p:cNvPr id="1479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477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478" name="Dashboard proje çıktısını tek ekranda okunabilir hale getirir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Dashboard proje çıktısını tek ekranda okunabilir hale getirir</a:t>
              </a:r>
            </a:p>
          </p:txBody>
        </p:sp>
      </p:grpSp>
      <p:grpSp>
        <p:nvGrpSpPr>
          <p:cNvPr id="1482" name="Grupla"/>
          <p:cNvGrpSpPr/>
          <p:nvPr/>
        </p:nvGrpSpPr>
        <p:grpSpPr>
          <a:xfrm>
            <a:off x="622681" y="1383781"/>
            <a:ext cx="9429751" cy="457203"/>
            <a:chOff x="0" y="0"/>
            <a:chExt cx="9429750" cy="457201"/>
          </a:xfrm>
        </p:grpSpPr>
        <p:sp>
          <p:nvSpPr>
            <p:cNvPr id="1480" name="Dikdörtgen"/>
            <p:cNvSpPr/>
            <p:nvPr/>
          </p:nvSpPr>
          <p:spPr>
            <a:xfrm>
              <a:off x="0" y="-1"/>
              <a:ext cx="9429751" cy="45720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81" name="Özet, EDA, model, duygu, müşteri ve istatistik sayfaları aynı pipeline çıktılarından beslenir."/>
            <p:cNvSpPr txBox="1"/>
            <p:nvPr/>
          </p:nvSpPr>
          <p:spPr>
            <a:xfrm>
              <a:off x="0" y="0"/>
              <a:ext cx="942975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Özet, EDA, model, duygu, müşteri ve istatistik sayfaları aynı pipeline çıktılarından beslenir.</a:t>
              </a:r>
            </a:p>
          </p:txBody>
        </p:sp>
      </p:grpSp>
      <p:pic>
        <p:nvPicPr>
          <p:cNvPr id="1483" name="image12.png" descr="image12.png"/>
          <p:cNvPicPr>
            <a:picLocks noChangeAspect="1"/>
          </p:cNvPicPr>
          <p:nvPr/>
        </p:nvPicPr>
        <p:blipFill>
          <a:blip r:embed="rId2">
            <a:extLst/>
          </a:blip>
          <a:srcRect l="0" t="2000" r="0" b="2000"/>
          <a:stretch>
            <a:fillRect/>
          </a:stretch>
        </p:blipFill>
        <p:spPr>
          <a:xfrm>
            <a:off x="685800" y="1847849"/>
            <a:ext cx="4762500" cy="2857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4" name="image13.png" descr="image13.png"/>
          <p:cNvPicPr>
            <a:picLocks noChangeAspect="1"/>
          </p:cNvPicPr>
          <p:nvPr/>
        </p:nvPicPr>
        <p:blipFill>
          <a:blip r:embed="rId3">
            <a:extLst/>
          </a:blip>
          <a:srcRect l="0" t="2000" r="0" b="2000"/>
          <a:stretch>
            <a:fillRect/>
          </a:stretch>
        </p:blipFill>
        <p:spPr>
          <a:xfrm>
            <a:off x="5810250" y="1847849"/>
            <a:ext cx="4762500" cy="2857502"/>
          </a:xfrm>
          <a:prstGeom prst="rect">
            <a:avLst/>
          </a:prstGeom>
          <a:ln w="12700">
            <a:miter lim="400000"/>
          </a:ln>
        </p:spPr>
      </p:pic>
      <p:sp>
        <p:nvSpPr>
          <p:cNvPr id="1485" name="Dikdörtgen"/>
          <p:cNvSpPr/>
          <p:nvPr/>
        </p:nvSpPr>
        <p:spPr>
          <a:xfrm>
            <a:off x="742950" y="5010150"/>
            <a:ext cx="4762500" cy="6858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6" name="Dikdörtgen"/>
          <p:cNvSpPr/>
          <p:nvPr/>
        </p:nvSpPr>
        <p:spPr>
          <a:xfrm>
            <a:off x="704850" y="4953000"/>
            <a:ext cx="47625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7" name="Dikdörtgen"/>
          <p:cNvSpPr/>
          <p:nvPr/>
        </p:nvSpPr>
        <p:spPr>
          <a:xfrm>
            <a:off x="704850" y="4953000"/>
            <a:ext cx="57150" cy="685800"/>
          </a:xfrm>
          <a:prstGeom prst="rect">
            <a:avLst/>
          </a:prstGeom>
          <a:solidFill>
            <a:srgbClr val="4F83F1"/>
          </a:solidFill>
          <a:ln w="3175">
            <a:solidFill>
              <a:srgbClr val="4F83F1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90" name="Grupla"/>
          <p:cNvGrpSpPr/>
          <p:nvPr/>
        </p:nvGrpSpPr>
        <p:grpSpPr>
          <a:xfrm>
            <a:off x="971550" y="5124449"/>
            <a:ext cx="1619250" cy="209551"/>
            <a:chOff x="0" y="0"/>
            <a:chExt cx="1619250" cy="209550"/>
          </a:xfrm>
        </p:grpSpPr>
        <p:sp>
          <p:nvSpPr>
            <p:cNvPr id="1488" name="Dikdörtgen"/>
            <p:cNvSpPr/>
            <p:nvPr/>
          </p:nvSpPr>
          <p:spPr>
            <a:xfrm>
              <a:off x="0" y="0"/>
              <a:ext cx="16192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89" name="Özet sayfası"/>
            <p:cNvSpPr txBox="1"/>
            <p:nvPr/>
          </p:nvSpPr>
          <p:spPr>
            <a:xfrm>
              <a:off x="0" y="-1"/>
              <a:ext cx="161925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Özet sayfası</a:t>
              </a:r>
            </a:p>
          </p:txBody>
        </p:sp>
      </p:grpSp>
      <p:grpSp>
        <p:nvGrpSpPr>
          <p:cNvPr id="1493" name="Grupla"/>
          <p:cNvGrpSpPr/>
          <p:nvPr/>
        </p:nvGrpSpPr>
        <p:grpSpPr>
          <a:xfrm>
            <a:off x="971550" y="5391149"/>
            <a:ext cx="3905250" cy="171451"/>
            <a:chOff x="0" y="0"/>
            <a:chExt cx="3905250" cy="171450"/>
          </a:xfrm>
        </p:grpSpPr>
        <p:sp>
          <p:nvSpPr>
            <p:cNvPr id="1491" name="Dikdörtgen"/>
            <p:cNvSpPr/>
            <p:nvPr/>
          </p:nvSpPr>
          <p:spPr>
            <a:xfrm>
              <a:off x="0" y="0"/>
              <a:ext cx="390525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92" name="KPI, dönüşüm hunisi ve genel ürün sinyalleri izlenir."/>
            <p:cNvSpPr txBox="1"/>
            <p:nvPr/>
          </p:nvSpPr>
          <p:spPr>
            <a:xfrm>
              <a:off x="0" y="-1"/>
              <a:ext cx="39052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KPI, dönüşüm hunisi ve genel ürün sinyalleri izlenir.</a:t>
              </a:r>
            </a:p>
          </p:txBody>
        </p:sp>
      </p:grpSp>
      <p:sp>
        <p:nvSpPr>
          <p:cNvPr id="1494" name="Dikdörtgen"/>
          <p:cNvSpPr/>
          <p:nvPr/>
        </p:nvSpPr>
        <p:spPr>
          <a:xfrm>
            <a:off x="5848350" y="5010150"/>
            <a:ext cx="4762500" cy="6858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5" name="Dikdörtgen"/>
          <p:cNvSpPr/>
          <p:nvPr/>
        </p:nvSpPr>
        <p:spPr>
          <a:xfrm>
            <a:off x="5810250" y="4953000"/>
            <a:ext cx="47625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6" name="Dikdörtgen"/>
          <p:cNvSpPr/>
          <p:nvPr/>
        </p:nvSpPr>
        <p:spPr>
          <a:xfrm>
            <a:off x="5810250" y="4953000"/>
            <a:ext cx="57150" cy="685800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99" name="Grupla"/>
          <p:cNvGrpSpPr/>
          <p:nvPr/>
        </p:nvGrpSpPr>
        <p:grpSpPr>
          <a:xfrm>
            <a:off x="6076950" y="5124449"/>
            <a:ext cx="1905000" cy="209551"/>
            <a:chOff x="0" y="0"/>
            <a:chExt cx="1905000" cy="209550"/>
          </a:xfrm>
        </p:grpSpPr>
        <p:sp>
          <p:nvSpPr>
            <p:cNvPr id="1497" name="Dikdörtgen"/>
            <p:cNvSpPr/>
            <p:nvPr/>
          </p:nvSpPr>
          <p:spPr>
            <a:xfrm>
              <a:off x="0" y="0"/>
              <a:ext cx="1905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98" name="Müşteri sayfası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Müşteri sayfası</a:t>
              </a:r>
            </a:p>
          </p:txBody>
        </p:sp>
      </p:grpSp>
      <p:grpSp>
        <p:nvGrpSpPr>
          <p:cNvPr id="1502" name="Grupla"/>
          <p:cNvGrpSpPr/>
          <p:nvPr/>
        </p:nvGrpSpPr>
        <p:grpSpPr>
          <a:xfrm>
            <a:off x="6076950" y="5391149"/>
            <a:ext cx="4000500" cy="171451"/>
            <a:chOff x="0" y="0"/>
            <a:chExt cx="4000500" cy="171450"/>
          </a:xfrm>
        </p:grpSpPr>
        <p:sp>
          <p:nvSpPr>
            <p:cNvPr id="1500" name="Dikdörtgen"/>
            <p:cNvSpPr/>
            <p:nvPr/>
          </p:nvSpPr>
          <p:spPr>
            <a:xfrm>
              <a:off x="0" y="0"/>
              <a:ext cx="4000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01" name="Seçilen müşteri için satın alma olasılığı yüksek ürünler listelenir."/>
            <p:cNvSpPr txBox="1"/>
            <p:nvPr/>
          </p:nvSpPr>
          <p:spPr>
            <a:xfrm>
              <a:off x="0" y="-1"/>
              <a:ext cx="400050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Seçilen müşteri için satın alma olasılığı yüksek ürünler listelenir.</a:t>
              </a:r>
            </a:p>
          </p:txBody>
        </p:sp>
      </p:grpSp>
      <p:sp>
        <p:nvSpPr>
          <p:cNvPr id="1503" name="Dikdörtgen"/>
          <p:cNvSpPr/>
          <p:nvPr/>
        </p:nvSpPr>
        <p:spPr>
          <a:xfrm>
            <a:off x="2971800" y="5981700"/>
            <a:ext cx="5715000" cy="38100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06" name="Grupla"/>
          <p:cNvGrpSpPr/>
          <p:nvPr/>
        </p:nvGrpSpPr>
        <p:grpSpPr>
          <a:xfrm>
            <a:off x="3124200" y="6095999"/>
            <a:ext cx="5410200" cy="209551"/>
            <a:chOff x="0" y="0"/>
            <a:chExt cx="5410200" cy="209550"/>
          </a:xfrm>
        </p:grpSpPr>
        <p:sp>
          <p:nvSpPr>
            <p:cNvPr id="1504" name="Dikdörtgen"/>
            <p:cNvSpPr/>
            <p:nvPr/>
          </p:nvSpPr>
          <p:spPr>
            <a:xfrm>
              <a:off x="0" y="0"/>
              <a:ext cx="54102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05" name="Canlı dashboard linki: https://shoplens.streamlit.app/"/>
            <p:cNvSpPr txBox="1"/>
            <p:nvPr/>
          </p:nvSpPr>
          <p:spPr>
            <a:xfrm>
              <a:off x="0" y="-1"/>
              <a:ext cx="54102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Canlı dashboard linki: https://shoplens.streamlit.app/</a:t>
              </a:r>
            </a:p>
          </p:txBody>
        </p:sp>
      </p:grpSp>
      <p:grpSp>
        <p:nvGrpSpPr>
          <p:cNvPr id="1509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507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08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512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510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11" name="17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5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18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516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17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521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519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20" name="Kod Blokları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Kod Blokları</a:t>
              </a:r>
            </a:p>
          </p:txBody>
        </p:sp>
      </p:grpSp>
      <p:grpSp>
        <p:nvGrpSpPr>
          <p:cNvPr id="1524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522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523" name="Kod Akışı ve Önemli Python Blokları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Kod Akışı ve Önemli Python Blokları</a:t>
              </a:r>
            </a:p>
          </p:txBody>
        </p:sp>
      </p:grpSp>
      <p:grpSp>
        <p:nvGrpSpPr>
          <p:cNvPr id="1527" name="Grupla"/>
          <p:cNvGrpSpPr/>
          <p:nvPr/>
        </p:nvGrpSpPr>
        <p:grpSpPr>
          <a:xfrm>
            <a:off x="622681" y="1550987"/>
            <a:ext cx="9429751" cy="457202"/>
            <a:chOff x="0" y="0"/>
            <a:chExt cx="9429750" cy="457201"/>
          </a:xfrm>
        </p:grpSpPr>
        <p:sp>
          <p:nvSpPr>
            <p:cNvPr id="1525" name="Dikdörtgen"/>
            <p:cNvSpPr/>
            <p:nvPr/>
          </p:nvSpPr>
          <p:spPr>
            <a:xfrm>
              <a:off x="0" y="-1"/>
              <a:ext cx="9429751" cy="457203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26" name="Bu sayfada veri hazırlama, hedef değişken oluşturma, RFM ve model değerlendirme adımlarının temel kodları yer alıyor."/>
            <p:cNvSpPr txBox="1"/>
            <p:nvPr/>
          </p:nvSpPr>
          <p:spPr>
            <a:xfrm>
              <a:off x="0" y="0"/>
              <a:ext cx="9429751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sayfada veri hazırlama, hedef değişken oluşturma, RFM ve model değerlendirme adımlarının temel kodları yer alıyor.</a:t>
              </a:r>
            </a:p>
          </p:txBody>
        </p:sp>
      </p:grpSp>
      <p:sp>
        <p:nvSpPr>
          <p:cNvPr id="1528" name="Dikdörtgen"/>
          <p:cNvSpPr/>
          <p:nvPr/>
        </p:nvSpPr>
        <p:spPr>
          <a:xfrm>
            <a:off x="704850" y="2009775"/>
            <a:ext cx="4953000" cy="13906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9" name="Dikdörtgen"/>
          <p:cNvSpPr/>
          <p:nvPr/>
        </p:nvSpPr>
        <p:spPr>
          <a:xfrm>
            <a:off x="666750" y="1952625"/>
            <a:ext cx="4953000" cy="13906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32" name="Grupla"/>
          <p:cNvGrpSpPr/>
          <p:nvPr/>
        </p:nvGrpSpPr>
        <p:grpSpPr>
          <a:xfrm>
            <a:off x="838200" y="2085974"/>
            <a:ext cx="4610100" cy="190501"/>
            <a:chOff x="0" y="0"/>
            <a:chExt cx="4610100" cy="190500"/>
          </a:xfrm>
        </p:grpSpPr>
        <p:sp>
          <p:nvSpPr>
            <p:cNvPr id="1530" name="Dikdörtgen"/>
            <p:cNvSpPr/>
            <p:nvPr/>
          </p:nvSpPr>
          <p:spPr>
            <a:xfrm>
              <a:off x="0" y="0"/>
              <a:ext cx="4610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31" name="Train / test ayrımı"/>
            <p:cNvSpPr txBox="1"/>
            <p:nvPr/>
          </p:nvSpPr>
          <p:spPr>
            <a:xfrm>
              <a:off x="0" y="-1"/>
              <a:ext cx="46101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Train / test ayrımı</a:t>
              </a:r>
            </a:p>
          </p:txBody>
        </p:sp>
      </p:grpSp>
      <p:grpSp>
        <p:nvGrpSpPr>
          <p:cNvPr id="1535" name="Grupla"/>
          <p:cNvGrpSpPr/>
          <p:nvPr/>
        </p:nvGrpSpPr>
        <p:grpSpPr>
          <a:xfrm>
            <a:off x="838200" y="2352674"/>
            <a:ext cx="4610100" cy="914401"/>
            <a:chOff x="0" y="0"/>
            <a:chExt cx="4610100" cy="914400"/>
          </a:xfrm>
        </p:grpSpPr>
        <p:sp>
          <p:nvSpPr>
            <p:cNvPr id="1533" name="Dikdörtgen"/>
            <p:cNvSpPr/>
            <p:nvPr/>
          </p:nvSpPr>
          <p:spPr>
            <a:xfrm>
              <a:off x="0" y="-1"/>
              <a:ext cx="4610100" cy="8953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1534" name="X_tr, X_te, y_tr, y_te = train_test_split(…"/>
            <p:cNvSpPr txBox="1"/>
            <p:nvPr/>
          </p:nvSpPr>
          <p:spPr>
            <a:xfrm>
              <a:off x="0" y="0"/>
              <a:ext cx="4610100" cy="914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X_tr, X_te, y_tr, y_te = train_test_split(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X, y,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test_size=0.25,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random_state=42,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stratify=y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</p:txBody>
        </p:sp>
      </p:grpSp>
      <p:sp>
        <p:nvSpPr>
          <p:cNvPr id="1536" name="Dikdörtgen"/>
          <p:cNvSpPr/>
          <p:nvPr/>
        </p:nvSpPr>
        <p:spPr>
          <a:xfrm>
            <a:off x="6610350" y="2009775"/>
            <a:ext cx="4572000" cy="139065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7" name="Dikdörtgen"/>
          <p:cNvSpPr/>
          <p:nvPr/>
        </p:nvSpPr>
        <p:spPr>
          <a:xfrm>
            <a:off x="6572250" y="1952625"/>
            <a:ext cx="4572000" cy="139065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40" name="Grupla"/>
          <p:cNvGrpSpPr/>
          <p:nvPr/>
        </p:nvGrpSpPr>
        <p:grpSpPr>
          <a:xfrm>
            <a:off x="6743700" y="2085974"/>
            <a:ext cx="4229100" cy="190501"/>
            <a:chOff x="0" y="0"/>
            <a:chExt cx="4229100" cy="190500"/>
          </a:xfrm>
        </p:grpSpPr>
        <p:sp>
          <p:nvSpPr>
            <p:cNvPr id="1538" name="Dikdörtgen"/>
            <p:cNvSpPr/>
            <p:nvPr/>
          </p:nvSpPr>
          <p:spPr>
            <a:xfrm>
              <a:off x="0" y="0"/>
              <a:ext cx="4229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39" name="RFM skorları"/>
            <p:cNvSpPr txBox="1"/>
            <p:nvPr/>
          </p:nvSpPr>
          <p:spPr>
            <a:xfrm>
              <a:off x="0" y="-1"/>
              <a:ext cx="42291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RFM skorları</a:t>
              </a:r>
            </a:p>
          </p:txBody>
        </p:sp>
      </p:grpSp>
      <p:grpSp>
        <p:nvGrpSpPr>
          <p:cNvPr id="1543" name="Grupla"/>
          <p:cNvGrpSpPr/>
          <p:nvPr/>
        </p:nvGrpSpPr>
        <p:grpSpPr>
          <a:xfrm>
            <a:off x="6743700" y="2352674"/>
            <a:ext cx="4229100" cy="895351"/>
            <a:chOff x="0" y="0"/>
            <a:chExt cx="4229100" cy="895350"/>
          </a:xfrm>
        </p:grpSpPr>
        <p:sp>
          <p:nvSpPr>
            <p:cNvPr id="1541" name="Dikdörtgen"/>
            <p:cNvSpPr/>
            <p:nvPr/>
          </p:nvSpPr>
          <p:spPr>
            <a:xfrm>
              <a:off x="0" y="0"/>
              <a:ext cx="4229100" cy="895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1542" name="rfm[&quot;R&quot;] = rfm_skoru(rfm[&quot;recency&quot;], artan=True)…"/>
            <p:cNvSpPr txBox="1"/>
            <p:nvPr/>
          </p:nvSpPr>
          <p:spPr>
            <a:xfrm>
              <a:off x="0" y="-1"/>
              <a:ext cx="4229100" cy="4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rfm["R"] = rfm_skoru(rfm["recency"], artan=True)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rfm["F"] = rfm_skoru(rfm["frequency"], artan=False)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rfm["M"] = rfm_skoru(rfm["monetary"], artan=False)</a:t>
              </a:r>
            </a:p>
          </p:txBody>
        </p:sp>
      </p:grpSp>
      <p:sp>
        <p:nvSpPr>
          <p:cNvPr id="1544" name="Dikdörtgen"/>
          <p:cNvSpPr/>
          <p:nvPr/>
        </p:nvSpPr>
        <p:spPr>
          <a:xfrm>
            <a:off x="704850" y="3962400"/>
            <a:ext cx="4953000" cy="16002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5" name="Dikdörtgen"/>
          <p:cNvSpPr/>
          <p:nvPr/>
        </p:nvSpPr>
        <p:spPr>
          <a:xfrm>
            <a:off x="666750" y="3905250"/>
            <a:ext cx="4953000" cy="1600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48" name="Grupla"/>
          <p:cNvGrpSpPr/>
          <p:nvPr/>
        </p:nvGrpSpPr>
        <p:grpSpPr>
          <a:xfrm>
            <a:off x="838200" y="4038599"/>
            <a:ext cx="4610100" cy="190501"/>
            <a:chOff x="0" y="0"/>
            <a:chExt cx="4610100" cy="190500"/>
          </a:xfrm>
        </p:grpSpPr>
        <p:sp>
          <p:nvSpPr>
            <p:cNvPr id="1546" name="Dikdörtgen"/>
            <p:cNvSpPr/>
            <p:nvPr/>
          </p:nvSpPr>
          <p:spPr>
            <a:xfrm>
              <a:off x="0" y="0"/>
              <a:ext cx="4610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47" name="Hedef değişken"/>
            <p:cNvSpPr txBox="1"/>
            <p:nvPr/>
          </p:nvSpPr>
          <p:spPr>
            <a:xfrm>
              <a:off x="0" y="-1"/>
              <a:ext cx="46101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Hedef değişken</a:t>
              </a:r>
            </a:p>
          </p:txBody>
        </p:sp>
      </p:grpSp>
      <p:grpSp>
        <p:nvGrpSpPr>
          <p:cNvPr id="1551" name="Grupla"/>
          <p:cNvGrpSpPr/>
          <p:nvPr/>
        </p:nvGrpSpPr>
        <p:grpSpPr>
          <a:xfrm>
            <a:off x="838200" y="4305299"/>
            <a:ext cx="4610100" cy="1104901"/>
            <a:chOff x="0" y="0"/>
            <a:chExt cx="4610100" cy="1104900"/>
          </a:xfrm>
        </p:grpSpPr>
        <p:sp>
          <p:nvSpPr>
            <p:cNvPr id="1549" name="Dikdörtgen"/>
            <p:cNvSpPr/>
            <p:nvPr/>
          </p:nvSpPr>
          <p:spPr>
            <a:xfrm>
              <a:off x="0" y="0"/>
              <a:ext cx="4610100" cy="110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1550" name="veri = davranis.merge(…"/>
            <p:cNvSpPr txBox="1"/>
            <p:nvPr/>
          </p:nvSpPr>
          <p:spPr>
            <a:xfrm>
              <a:off x="0" y="-1"/>
              <a:ext cx="4610100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veri = davranis.merge(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satin_almalar,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on=["customer_id", "product_id"],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    how="outer"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veri["satin_aldi"] = veri["satin_aldi"].fillna(0)</a:t>
              </a:r>
            </a:p>
          </p:txBody>
        </p:sp>
      </p:grpSp>
      <p:sp>
        <p:nvSpPr>
          <p:cNvPr id="1552" name="Dikdörtgen"/>
          <p:cNvSpPr/>
          <p:nvPr/>
        </p:nvSpPr>
        <p:spPr>
          <a:xfrm>
            <a:off x="6610350" y="3962400"/>
            <a:ext cx="4572000" cy="16002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3" name="Dikdörtgen"/>
          <p:cNvSpPr/>
          <p:nvPr/>
        </p:nvSpPr>
        <p:spPr>
          <a:xfrm>
            <a:off x="6572250" y="3905250"/>
            <a:ext cx="4572000" cy="1600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56" name="Grupla"/>
          <p:cNvGrpSpPr/>
          <p:nvPr/>
        </p:nvGrpSpPr>
        <p:grpSpPr>
          <a:xfrm>
            <a:off x="6743700" y="4038599"/>
            <a:ext cx="4229100" cy="190501"/>
            <a:chOff x="0" y="0"/>
            <a:chExt cx="4229100" cy="190500"/>
          </a:xfrm>
        </p:grpSpPr>
        <p:sp>
          <p:nvSpPr>
            <p:cNvPr id="1554" name="Dikdörtgen"/>
            <p:cNvSpPr/>
            <p:nvPr/>
          </p:nvSpPr>
          <p:spPr>
            <a:xfrm>
              <a:off x="0" y="0"/>
              <a:ext cx="4229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55" name="Model metrikleri"/>
            <p:cNvSpPr txBox="1"/>
            <p:nvPr/>
          </p:nvSpPr>
          <p:spPr>
            <a:xfrm>
              <a:off x="0" y="-1"/>
              <a:ext cx="42291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A7F3D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Model metrikleri</a:t>
              </a:r>
            </a:p>
          </p:txBody>
        </p:sp>
      </p:grpSp>
      <p:grpSp>
        <p:nvGrpSpPr>
          <p:cNvPr id="1559" name="Grupla"/>
          <p:cNvGrpSpPr/>
          <p:nvPr/>
        </p:nvGrpSpPr>
        <p:grpSpPr>
          <a:xfrm>
            <a:off x="6743700" y="4305299"/>
            <a:ext cx="4229100" cy="1104901"/>
            <a:chOff x="0" y="0"/>
            <a:chExt cx="4229100" cy="1104900"/>
          </a:xfrm>
        </p:grpSpPr>
        <p:sp>
          <p:nvSpPr>
            <p:cNvPr id="1557" name="Dikdörtgen"/>
            <p:cNvSpPr/>
            <p:nvPr/>
          </p:nvSpPr>
          <p:spPr>
            <a:xfrm>
              <a:off x="0" y="0"/>
              <a:ext cx="4229100" cy="110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</a:p>
          </p:txBody>
        </p:sp>
        <p:sp>
          <p:nvSpPr>
            <p:cNvPr id="1558" name="olasilik = model.predict_proba(X_te)[:, 1]…"/>
            <p:cNvSpPr txBox="1"/>
            <p:nvPr/>
          </p:nvSpPr>
          <p:spPr>
            <a:xfrm>
              <a:off x="0" y="-1"/>
              <a:ext cx="4229100" cy="609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olasilik = model.predict_proba(X_te)[:, 1]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cm = confusion_matrix(y_te, tahmin)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fpr, tpr, _ = roc_curve(y_te, olasilik)</a:t>
              </a:r>
            </a:p>
            <a:p>
              <a:pPr>
                <a:defRPr sz="1000">
                  <a:solidFill>
                    <a:srgbClr val="F8FAFC"/>
                  </a:solidFill>
                  <a:latin typeface="Aptos Mono"/>
                  <a:ea typeface="Aptos Mono"/>
                  <a:cs typeface="Aptos Mono"/>
                  <a:sym typeface="Aptos Mono"/>
                </a:defRPr>
              </a:pPr>
              <a:r>
                <a:t>auc_val = auc(fpr, tpr)</a:t>
              </a:r>
            </a:p>
          </p:txBody>
        </p:sp>
      </p:grpSp>
      <p:grpSp>
        <p:nvGrpSpPr>
          <p:cNvPr id="1562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560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61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565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563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64" name="18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8" name="Dikdörtgen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71" name="Grupla"/>
          <p:cNvGrpSpPr/>
          <p:nvPr/>
        </p:nvGrpSpPr>
        <p:grpSpPr>
          <a:xfrm>
            <a:off x="400050" y="171449"/>
            <a:ext cx="1905000" cy="266701"/>
            <a:chOff x="0" y="0"/>
            <a:chExt cx="1905000" cy="266700"/>
          </a:xfrm>
        </p:grpSpPr>
        <p:sp>
          <p:nvSpPr>
            <p:cNvPr id="1569" name="Dikdörtgen"/>
            <p:cNvSpPr/>
            <p:nvPr/>
          </p:nvSpPr>
          <p:spPr>
            <a:xfrm>
              <a:off x="0" y="0"/>
              <a:ext cx="1905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70" name="ShopLens"/>
            <p:cNvSpPr txBox="1"/>
            <p:nvPr/>
          </p:nvSpPr>
          <p:spPr>
            <a:xfrm>
              <a:off x="0" y="-1"/>
              <a:ext cx="1905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ShopLens</a:t>
              </a:r>
            </a:p>
          </p:txBody>
        </p:sp>
      </p:grpSp>
      <p:grpSp>
        <p:nvGrpSpPr>
          <p:cNvPr id="1574" name="Grupla"/>
          <p:cNvGrpSpPr/>
          <p:nvPr/>
        </p:nvGrpSpPr>
        <p:grpSpPr>
          <a:xfrm>
            <a:off x="9906000" y="171449"/>
            <a:ext cx="1885950" cy="247651"/>
            <a:chOff x="0" y="0"/>
            <a:chExt cx="1885950" cy="247650"/>
          </a:xfrm>
        </p:grpSpPr>
        <p:sp>
          <p:nvSpPr>
            <p:cNvPr id="1572" name="Dikdörtgen"/>
            <p:cNvSpPr/>
            <p:nvPr/>
          </p:nvSpPr>
          <p:spPr>
            <a:xfrm>
              <a:off x="0" y="0"/>
              <a:ext cx="18859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73" name="Değerlendirme"/>
            <p:cNvSpPr txBox="1"/>
            <p:nvPr/>
          </p:nvSpPr>
          <p:spPr>
            <a:xfrm>
              <a:off x="0" y="-1"/>
              <a:ext cx="1885950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b="1" sz="1000">
                  <a:solidFill>
                    <a:srgbClr val="BBD5C9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Değerlendirme</a:t>
              </a:r>
            </a:p>
          </p:txBody>
        </p:sp>
      </p:grpSp>
      <p:grpSp>
        <p:nvGrpSpPr>
          <p:cNvPr id="1577" name="Grupla"/>
          <p:cNvGrpSpPr/>
          <p:nvPr/>
        </p:nvGrpSpPr>
        <p:grpSpPr>
          <a:xfrm>
            <a:off x="590550" y="819149"/>
            <a:ext cx="9239250" cy="781051"/>
            <a:chOff x="0" y="0"/>
            <a:chExt cx="9239250" cy="781050"/>
          </a:xfrm>
        </p:grpSpPr>
        <p:sp>
          <p:nvSpPr>
            <p:cNvPr id="1575" name="Dikdörtgen"/>
            <p:cNvSpPr/>
            <p:nvPr/>
          </p:nvSpPr>
          <p:spPr>
            <a:xfrm>
              <a:off x="0" y="0"/>
              <a:ext cx="9239250" cy="781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576" name="Proje değerlendirme kriterlerini teknik ve görsel olarak karşılar"/>
            <p:cNvSpPr txBox="1"/>
            <p:nvPr/>
          </p:nvSpPr>
          <p:spPr>
            <a:xfrm>
              <a:off x="0" y="-1"/>
              <a:ext cx="9239250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300">
                  <a:solidFill>
                    <a:srgbClr val="152033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Proje değerlendirme kriterlerini teknik ve görsel olarak karşılar</a:t>
              </a:r>
            </a:p>
          </p:txBody>
        </p:sp>
      </p:grpSp>
      <p:grpSp>
        <p:nvGrpSpPr>
          <p:cNvPr id="1580" name="Grupla"/>
          <p:cNvGrpSpPr/>
          <p:nvPr/>
        </p:nvGrpSpPr>
        <p:grpSpPr>
          <a:xfrm>
            <a:off x="609600" y="1619249"/>
            <a:ext cx="9429750" cy="457201"/>
            <a:chOff x="0" y="0"/>
            <a:chExt cx="9429750" cy="457200"/>
          </a:xfrm>
        </p:grpSpPr>
        <p:sp>
          <p:nvSpPr>
            <p:cNvPr id="1578" name="Dikdörtgen"/>
            <p:cNvSpPr/>
            <p:nvPr/>
          </p:nvSpPr>
          <p:spPr>
            <a:xfrm>
              <a:off x="0" y="0"/>
              <a:ext cx="942975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79" name="Değerlendirme başlıkları, projedeki veri hazırlama, analiz, modelleme ve raporlama çıktılarıyla eşleştirildi."/>
            <p:cNvSpPr txBox="1"/>
            <p:nvPr/>
          </p:nvSpPr>
          <p:spPr>
            <a:xfrm>
              <a:off x="0" y="-1"/>
              <a:ext cx="9429750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Değerlendirme başlıkları, projedeki veri hazırlama, analiz, modelleme ve raporlama çıktılarıyla eşleştirildi.</a:t>
              </a:r>
            </a:p>
          </p:txBody>
        </p:sp>
      </p:grpSp>
      <p:sp>
        <p:nvSpPr>
          <p:cNvPr id="1581" name="Dikdörtgen"/>
          <p:cNvSpPr/>
          <p:nvPr/>
        </p:nvSpPr>
        <p:spPr>
          <a:xfrm>
            <a:off x="704850" y="1847850"/>
            <a:ext cx="10382250" cy="3505200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2" name="Dikdörtgen"/>
          <p:cNvSpPr/>
          <p:nvPr/>
        </p:nvSpPr>
        <p:spPr>
          <a:xfrm>
            <a:off x="666750" y="1790700"/>
            <a:ext cx="10382250" cy="3505200"/>
          </a:xfrm>
          <a:prstGeom prst="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3" name="Dikdörtgen"/>
          <p:cNvSpPr/>
          <p:nvPr/>
        </p:nvSpPr>
        <p:spPr>
          <a:xfrm>
            <a:off x="666750" y="1790700"/>
            <a:ext cx="10382250" cy="438150"/>
          </a:xfrm>
          <a:prstGeom prst="rect">
            <a:avLst/>
          </a:prstGeom>
          <a:solidFill>
            <a:srgbClr val="EEF3F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86" name="Grupla"/>
          <p:cNvGrpSpPr/>
          <p:nvPr/>
        </p:nvGrpSpPr>
        <p:grpSpPr>
          <a:xfrm>
            <a:off x="762000" y="1876424"/>
            <a:ext cx="2781300" cy="361951"/>
            <a:chOff x="0" y="0"/>
            <a:chExt cx="2781300" cy="361950"/>
          </a:xfrm>
        </p:grpSpPr>
        <p:sp>
          <p:nvSpPr>
            <p:cNvPr id="1584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85" name="Kriter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Kriter</a:t>
              </a:r>
            </a:p>
          </p:txBody>
        </p:sp>
      </p:grpSp>
      <p:sp>
        <p:nvSpPr>
          <p:cNvPr id="1587" name="Dikdörtgen"/>
          <p:cNvSpPr/>
          <p:nvPr/>
        </p:nvSpPr>
        <p:spPr>
          <a:xfrm>
            <a:off x="3617912" y="179070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90" name="Grupla"/>
          <p:cNvGrpSpPr/>
          <p:nvPr/>
        </p:nvGrpSpPr>
        <p:grpSpPr>
          <a:xfrm>
            <a:off x="3714750" y="1876424"/>
            <a:ext cx="7258050" cy="361951"/>
            <a:chOff x="0" y="0"/>
            <a:chExt cx="7258050" cy="361950"/>
          </a:xfrm>
        </p:grpSpPr>
        <p:sp>
          <p:nvSpPr>
            <p:cNvPr id="1588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89" name="Projede karşılığı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Projede karşılığı</a:t>
              </a:r>
            </a:p>
          </p:txBody>
        </p:sp>
      </p:grpSp>
      <p:grpSp>
        <p:nvGrpSpPr>
          <p:cNvPr id="1593" name="Grupla"/>
          <p:cNvGrpSpPr/>
          <p:nvPr/>
        </p:nvGrpSpPr>
        <p:grpSpPr>
          <a:xfrm>
            <a:off x="762000" y="2314574"/>
            <a:ext cx="2781300" cy="361951"/>
            <a:chOff x="0" y="0"/>
            <a:chExt cx="2781300" cy="361950"/>
          </a:xfrm>
        </p:grpSpPr>
        <p:sp>
          <p:nvSpPr>
            <p:cNvPr id="1591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92" name="Veri temini ve ön işleme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Veri temini ve ön işleme</a:t>
              </a:r>
            </a:p>
          </p:txBody>
        </p:sp>
      </p:grpSp>
      <p:sp>
        <p:nvSpPr>
          <p:cNvPr id="1594" name="Dikdörtgen"/>
          <p:cNvSpPr/>
          <p:nvPr/>
        </p:nvSpPr>
        <p:spPr>
          <a:xfrm>
            <a:off x="3617912" y="222885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97" name="Grupla"/>
          <p:cNvGrpSpPr/>
          <p:nvPr/>
        </p:nvGrpSpPr>
        <p:grpSpPr>
          <a:xfrm>
            <a:off x="3714750" y="2314574"/>
            <a:ext cx="7258050" cy="361951"/>
            <a:chOff x="0" y="0"/>
            <a:chExt cx="7258050" cy="361950"/>
          </a:xfrm>
        </p:grpSpPr>
        <p:sp>
          <p:nvSpPr>
            <p:cNvPr id="1595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96" name="Kaggle kaynağı, yedi tablo, eksik değer kararları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Kaggle kaynağı, yedi tablo, eksik değer kararları</a:t>
              </a:r>
            </a:p>
          </p:txBody>
        </p:sp>
      </p:grpSp>
      <p:sp>
        <p:nvSpPr>
          <p:cNvPr id="1598" name="Dikdörtgen"/>
          <p:cNvSpPr/>
          <p:nvPr/>
        </p:nvSpPr>
        <p:spPr>
          <a:xfrm>
            <a:off x="666750" y="2227261"/>
            <a:ext cx="103822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01" name="Grupla"/>
          <p:cNvGrpSpPr/>
          <p:nvPr/>
        </p:nvGrpSpPr>
        <p:grpSpPr>
          <a:xfrm>
            <a:off x="762000" y="2752724"/>
            <a:ext cx="2781300" cy="361951"/>
            <a:chOff x="0" y="0"/>
            <a:chExt cx="2781300" cy="361950"/>
          </a:xfrm>
        </p:grpSpPr>
        <p:sp>
          <p:nvSpPr>
            <p:cNvPr id="1599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00" name="Keşifsel veri analizi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Keşifsel veri analizi</a:t>
              </a:r>
            </a:p>
          </p:txBody>
        </p:sp>
      </p:grpSp>
      <p:sp>
        <p:nvSpPr>
          <p:cNvPr id="1602" name="Dikdörtgen"/>
          <p:cNvSpPr/>
          <p:nvPr/>
        </p:nvSpPr>
        <p:spPr>
          <a:xfrm>
            <a:off x="3617912" y="266700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05" name="Grupla"/>
          <p:cNvGrpSpPr/>
          <p:nvPr/>
        </p:nvGrpSpPr>
        <p:grpSpPr>
          <a:xfrm>
            <a:off x="3714750" y="2752724"/>
            <a:ext cx="7258050" cy="361951"/>
            <a:chOff x="0" y="0"/>
            <a:chExt cx="7258050" cy="361950"/>
          </a:xfrm>
        </p:grpSpPr>
        <p:sp>
          <p:nvSpPr>
            <p:cNvPr id="1603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04" name="Funnel, kategori, duygu, satış ve RFM grafikleri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Funnel, kategori, duygu, satış ve RFM grafikleri</a:t>
              </a:r>
            </a:p>
          </p:txBody>
        </p:sp>
      </p:grpSp>
      <p:sp>
        <p:nvSpPr>
          <p:cNvPr id="1606" name="Dikdörtgen"/>
          <p:cNvSpPr/>
          <p:nvPr/>
        </p:nvSpPr>
        <p:spPr>
          <a:xfrm>
            <a:off x="666750" y="2665411"/>
            <a:ext cx="103822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09" name="Grupla"/>
          <p:cNvGrpSpPr/>
          <p:nvPr/>
        </p:nvGrpSpPr>
        <p:grpSpPr>
          <a:xfrm>
            <a:off x="762000" y="3190874"/>
            <a:ext cx="2781300" cy="361951"/>
            <a:chOff x="0" y="0"/>
            <a:chExt cx="2781300" cy="361950"/>
          </a:xfrm>
        </p:grpSpPr>
        <p:sp>
          <p:nvSpPr>
            <p:cNvPr id="1607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08" name="Modelleme / analiz yöntemi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Modelleme / analiz yöntemi</a:t>
              </a:r>
            </a:p>
          </p:txBody>
        </p:sp>
      </p:grpSp>
      <p:sp>
        <p:nvSpPr>
          <p:cNvPr id="1610" name="Dikdörtgen"/>
          <p:cNvSpPr/>
          <p:nvPr/>
        </p:nvSpPr>
        <p:spPr>
          <a:xfrm>
            <a:off x="3617912" y="310515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13" name="Grupla"/>
          <p:cNvGrpSpPr/>
          <p:nvPr/>
        </p:nvGrpSpPr>
        <p:grpSpPr>
          <a:xfrm>
            <a:off x="3714750" y="3190874"/>
            <a:ext cx="7258050" cy="361951"/>
            <a:chOff x="0" y="0"/>
            <a:chExt cx="7258050" cy="361950"/>
          </a:xfrm>
        </p:grpSpPr>
        <p:sp>
          <p:nvSpPr>
            <p:cNvPr id="1611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12" name="Random Forest sınıflandırma ve kişisel tahmin modeli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Random Forest sınıflandırma ve kişisel tahmin modeli</a:t>
              </a:r>
            </a:p>
          </p:txBody>
        </p:sp>
      </p:grpSp>
      <p:sp>
        <p:nvSpPr>
          <p:cNvPr id="1614" name="Dikdörtgen"/>
          <p:cNvSpPr/>
          <p:nvPr/>
        </p:nvSpPr>
        <p:spPr>
          <a:xfrm>
            <a:off x="666750" y="3103561"/>
            <a:ext cx="103822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17" name="Grupla"/>
          <p:cNvGrpSpPr/>
          <p:nvPr/>
        </p:nvGrpSpPr>
        <p:grpSpPr>
          <a:xfrm>
            <a:off x="762000" y="3629024"/>
            <a:ext cx="2781300" cy="361951"/>
            <a:chOff x="0" y="0"/>
            <a:chExt cx="2781300" cy="361950"/>
          </a:xfrm>
        </p:grpSpPr>
        <p:sp>
          <p:nvSpPr>
            <p:cNvPr id="1615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16" name="Görselleştirme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Görselleştirme</a:t>
              </a:r>
            </a:p>
          </p:txBody>
        </p:sp>
      </p:grpSp>
      <p:sp>
        <p:nvSpPr>
          <p:cNvPr id="1618" name="Dikdörtgen"/>
          <p:cNvSpPr/>
          <p:nvPr/>
        </p:nvSpPr>
        <p:spPr>
          <a:xfrm>
            <a:off x="3617912" y="354330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21" name="Grupla"/>
          <p:cNvGrpSpPr/>
          <p:nvPr/>
        </p:nvGrpSpPr>
        <p:grpSpPr>
          <a:xfrm>
            <a:off x="3714750" y="3629024"/>
            <a:ext cx="7258050" cy="361951"/>
            <a:chOff x="0" y="0"/>
            <a:chExt cx="7258050" cy="361950"/>
          </a:xfrm>
        </p:grpSpPr>
        <p:sp>
          <p:nvSpPr>
            <p:cNvPr id="1619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20" name="Streamlit dashboard ve sunum grafikleri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Streamlit dashboard ve sunum grafikleri</a:t>
              </a:r>
            </a:p>
          </p:txBody>
        </p:sp>
      </p:grpSp>
      <p:sp>
        <p:nvSpPr>
          <p:cNvPr id="1622" name="Dikdörtgen"/>
          <p:cNvSpPr/>
          <p:nvPr/>
        </p:nvSpPr>
        <p:spPr>
          <a:xfrm>
            <a:off x="666750" y="3541712"/>
            <a:ext cx="103822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25" name="Grupla"/>
          <p:cNvGrpSpPr/>
          <p:nvPr/>
        </p:nvGrpSpPr>
        <p:grpSpPr>
          <a:xfrm>
            <a:off x="762000" y="4067174"/>
            <a:ext cx="2781300" cy="361951"/>
            <a:chOff x="0" y="0"/>
            <a:chExt cx="2781300" cy="361950"/>
          </a:xfrm>
        </p:grpSpPr>
        <p:sp>
          <p:nvSpPr>
            <p:cNvPr id="1623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24" name="Özgünlük ve derinlik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Özgünlük ve derinlik</a:t>
              </a:r>
            </a:p>
          </p:txBody>
        </p:sp>
      </p:grpSp>
      <p:sp>
        <p:nvSpPr>
          <p:cNvPr id="1626" name="Dikdörtgen"/>
          <p:cNvSpPr/>
          <p:nvPr/>
        </p:nvSpPr>
        <p:spPr>
          <a:xfrm>
            <a:off x="3617912" y="398145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29" name="Grupla"/>
          <p:cNvGrpSpPr/>
          <p:nvPr/>
        </p:nvGrpSpPr>
        <p:grpSpPr>
          <a:xfrm>
            <a:off x="3714750" y="4067174"/>
            <a:ext cx="7258050" cy="361951"/>
            <a:chOff x="0" y="0"/>
            <a:chExt cx="7258050" cy="361950"/>
          </a:xfrm>
        </p:grpSpPr>
        <p:sp>
          <p:nvSpPr>
            <p:cNvPr id="1627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28" name="Genel skor + kişisel satın alma tahmini + duygu analizi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Genel skor + kişisel satın alma tahmini + duygu analizi</a:t>
              </a:r>
            </a:p>
          </p:txBody>
        </p:sp>
      </p:grpSp>
      <p:sp>
        <p:nvSpPr>
          <p:cNvPr id="1630" name="Dikdörtgen"/>
          <p:cNvSpPr/>
          <p:nvPr/>
        </p:nvSpPr>
        <p:spPr>
          <a:xfrm>
            <a:off x="666750" y="3979862"/>
            <a:ext cx="103822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33" name="Grupla"/>
          <p:cNvGrpSpPr/>
          <p:nvPr/>
        </p:nvGrpSpPr>
        <p:grpSpPr>
          <a:xfrm>
            <a:off x="762000" y="4505324"/>
            <a:ext cx="2781300" cy="361951"/>
            <a:chOff x="0" y="0"/>
            <a:chExt cx="2781300" cy="361950"/>
          </a:xfrm>
        </p:grpSpPr>
        <p:sp>
          <p:nvSpPr>
            <p:cNvPr id="1631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32" name="Kod kalitesi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Kod kalitesi</a:t>
              </a:r>
            </a:p>
          </p:txBody>
        </p:sp>
      </p:grpSp>
      <p:sp>
        <p:nvSpPr>
          <p:cNvPr id="1634" name="Dikdörtgen"/>
          <p:cNvSpPr/>
          <p:nvPr/>
        </p:nvSpPr>
        <p:spPr>
          <a:xfrm>
            <a:off x="3617912" y="441960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37" name="Grupla"/>
          <p:cNvGrpSpPr/>
          <p:nvPr/>
        </p:nvGrpSpPr>
        <p:grpSpPr>
          <a:xfrm>
            <a:off x="3714750" y="4505324"/>
            <a:ext cx="7258050" cy="361951"/>
            <a:chOff x="0" y="0"/>
            <a:chExt cx="7258050" cy="361950"/>
          </a:xfrm>
        </p:grpSpPr>
        <p:sp>
          <p:nvSpPr>
            <p:cNvPr id="1635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36" name="pipeline.py ile veri hazırlama ve modelleme akışı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pipeline.py ile veri hazırlama ve modelleme akışı</a:t>
              </a:r>
            </a:p>
          </p:txBody>
        </p:sp>
      </p:grpSp>
      <p:sp>
        <p:nvSpPr>
          <p:cNvPr id="1638" name="Dikdörtgen"/>
          <p:cNvSpPr/>
          <p:nvPr/>
        </p:nvSpPr>
        <p:spPr>
          <a:xfrm>
            <a:off x="666750" y="4418012"/>
            <a:ext cx="103822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41" name="Grupla"/>
          <p:cNvGrpSpPr/>
          <p:nvPr/>
        </p:nvGrpSpPr>
        <p:grpSpPr>
          <a:xfrm>
            <a:off x="762000" y="4943474"/>
            <a:ext cx="2781300" cy="361951"/>
            <a:chOff x="0" y="0"/>
            <a:chExt cx="2781300" cy="361950"/>
          </a:xfrm>
        </p:grpSpPr>
        <p:sp>
          <p:nvSpPr>
            <p:cNvPr id="1639" name="Dikdörtgen"/>
            <p:cNvSpPr/>
            <p:nvPr/>
          </p:nvSpPr>
          <p:spPr>
            <a:xfrm>
              <a:off x="0" y="0"/>
              <a:ext cx="27813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40" name="Raporlama"/>
            <p:cNvSpPr txBox="1"/>
            <p:nvPr/>
          </p:nvSpPr>
          <p:spPr>
            <a:xfrm>
              <a:off x="0" y="-1"/>
              <a:ext cx="27813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Raporlama</a:t>
              </a:r>
            </a:p>
          </p:txBody>
        </p:sp>
      </p:grpSp>
      <p:sp>
        <p:nvSpPr>
          <p:cNvPr id="1642" name="Dikdörtgen"/>
          <p:cNvSpPr/>
          <p:nvPr/>
        </p:nvSpPr>
        <p:spPr>
          <a:xfrm>
            <a:off x="3617912" y="4857750"/>
            <a:ext cx="12702" cy="438150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45" name="Grupla"/>
          <p:cNvGrpSpPr/>
          <p:nvPr/>
        </p:nvGrpSpPr>
        <p:grpSpPr>
          <a:xfrm>
            <a:off x="3714750" y="4943474"/>
            <a:ext cx="7258050" cy="361951"/>
            <a:chOff x="0" y="0"/>
            <a:chExt cx="7258050" cy="361950"/>
          </a:xfrm>
        </p:grpSpPr>
        <p:sp>
          <p:nvSpPr>
            <p:cNvPr id="1643" name="Dikdörtgen"/>
            <p:cNvSpPr/>
            <p:nvPr/>
          </p:nvSpPr>
          <p:spPr>
            <a:xfrm>
              <a:off x="0" y="0"/>
              <a:ext cx="72580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44" name="Bu PPTX + canlı dashboard linki"/>
            <p:cNvSpPr txBox="1"/>
            <p:nvPr/>
          </p:nvSpPr>
          <p:spPr>
            <a:xfrm>
              <a:off x="0" y="-1"/>
              <a:ext cx="725805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15203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 PPTX + canlı dashboard linki</a:t>
              </a:r>
            </a:p>
          </p:txBody>
        </p:sp>
      </p:grpSp>
      <p:sp>
        <p:nvSpPr>
          <p:cNvPr id="1646" name="Dikdörtgen"/>
          <p:cNvSpPr/>
          <p:nvPr/>
        </p:nvSpPr>
        <p:spPr>
          <a:xfrm>
            <a:off x="666750" y="4856162"/>
            <a:ext cx="10382250" cy="12702"/>
          </a:xfrm>
          <a:prstGeom prst="rect">
            <a:avLst/>
          </a:prstGeom>
          <a:solidFill>
            <a:srgbClr val="D9E2EF"/>
          </a:solidFill>
          <a:ln w="3175">
            <a:solidFill>
              <a:srgbClr val="D9E2E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7" name="Dikdörtgen"/>
          <p:cNvSpPr/>
          <p:nvPr/>
        </p:nvSpPr>
        <p:spPr>
          <a:xfrm>
            <a:off x="762000" y="5676900"/>
            <a:ext cx="9334500" cy="495300"/>
          </a:xfrm>
          <a:prstGeom prst="rect">
            <a:avLst/>
          </a:prstGeom>
          <a:solidFill>
            <a:srgbClr val="EEF5FF"/>
          </a:solidFill>
          <a:ln>
            <a:solidFill>
              <a:srgbClr val="BBD3FF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50" name="Grupla"/>
          <p:cNvGrpSpPr/>
          <p:nvPr/>
        </p:nvGrpSpPr>
        <p:grpSpPr>
          <a:xfrm>
            <a:off x="914400" y="5791199"/>
            <a:ext cx="9029700" cy="323851"/>
            <a:chOff x="0" y="0"/>
            <a:chExt cx="9029700" cy="323850"/>
          </a:xfrm>
        </p:grpSpPr>
        <p:sp>
          <p:nvSpPr>
            <p:cNvPr id="1648" name="Dikdörtgen"/>
            <p:cNvSpPr/>
            <p:nvPr/>
          </p:nvSpPr>
          <p:spPr>
            <a:xfrm>
              <a:off x="0" y="0"/>
              <a:ext cx="90297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49" name="Geliştirme önerisi: Gerçek mağaza verisiyle zaman bazlı test, A/B test sonuçları ve model izleme paneli eklenebilir."/>
            <p:cNvSpPr txBox="1"/>
            <p:nvPr/>
          </p:nvSpPr>
          <p:spPr>
            <a:xfrm>
              <a:off x="0" y="-1"/>
              <a:ext cx="9029700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18345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Geliştirme önerisi: Gerçek mağaza verisiyle zaman bazlı test, A/B test sonuçları ve model izleme paneli eklenebilir.</a:t>
              </a:r>
            </a:p>
          </p:txBody>
        </p:sp>
      </p:grpSp>
      <p:grpSp>
        <p:nvGrpSpPr>
          <p:cNvPr id="1653" name="Grupla"/>
          <p:cNvGrpSpPr/>
          <p:nvPr/>
        </p:nvGrpSpPr>
        <p:grpSpPr>
          <a:xfrm>
            <a:off x="590550" y="6496049"/>
            <a:ext cx="2857500" cy="171451"/>
            <a:chOff x="0" y="0"/>
            <a:chExt cx="2857500" cy="171450"/>
          </a:xfrm>
        </p:grpSpPr>
        <p:sp>
          <p:nvSpPr>
            <p:cNvPr id="1651" name="Dikdörtgen"/>
            <p:cNvSpPr/>
            <p:nvPr/>
          </p:nvSpPr>
          <p:spPr>
            <a:xfrm>
              <a:off x="0" y="0"/>
              <a:ext cx="2857500" cy="171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52" name="Özge Güneş | Mayıs 2026"/>
            <p:cNvSpPr txBox="1"/>
            <p:nvPr/>
          </p:nvSpPr>
          <p:spPr>
            <a:xfrm>
              <a:off x="0" y="-1"/>
              <a:ext cx="28575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  <p:grpSp>
        <p:nvGrpSpPr>
          <p:cNvPr id="1656" name="Grupla"/>
          <p:cNvGrpSpPr/>
          <p:nvPr/>
        </p:nvGrpSpPr>
        <p:grpSpPr>
          <a:xfrm>
            <a:off x="11144250" y="6476999"/>
            <a:ext cx="457200" cy="190501"/>
            <a:chOff x="0" y="0"/>
            <a:chExt cx="457200" cy="190500"/>
          </a:xfrm>
        </p:grpSpPr>
        <p:sp>
          <p:nvSpPr>
            <p:cNvPr id="1654" name="Dikdörtgen"/>
            <p:cNvSpPr/>
            <p:nvPr/>
          </p:nvSpPr>
          <p:spPr>
            <a:xfrm>
              <a:off x="0" y="0"/>
              <a:ext cx="4572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55" name="19"/>
            <p:cNvSpPr txBox="1"/>
            <p:nvPr/>
          </p:nvSpPr>
          <p:spPr>
            <a:xfrm>
              <a:off x="0" y="-1"/>
              <a:ext cx="4572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900">
                  <a:solidFill>
                    <a:srgbClr val="90A0B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Dikdörtg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61" name="Grupla"/>
          <p:cNvGrpSpPr/>
          <p:nvPr/>
        </p:nvGrpSpPr>
        <p:grpSpPr>
          <a:xfrm>
            <a:off x="762000" y="876299"/>
            <a:ext cx="1524000" cy="514351"/>
            <a:chOff x="0" y="0"/>
            <a:chExt cx="1524000" cy="514350"/>
          </a:xfrm>
        </p:grpSpPr>
        <p:sp>
          <p:nvSpPr>
            <p:cNvPr id="1659" name="Dikdörtgen"/>
            <p:cNvSpPr/>
            <p:nvPr/>
          </p:nvSpPr>
          <p:spPr>
            <a:xfrm>
              <a:off x="0" y="0"/>
              <a:ext cx="1524000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33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660" name="Shop"/>
            <p:cNvSpPr txBox="1"/>
            <p:nvPr/>
          </p:nvSpPr>
          <p:spPr>
            <a:xfrm>
              <a:off x="0" y="-1"/>
              <a:ext cx="1524000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33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Shop</a:t>
              </a:r>
            </a:p>
          </p:txBody>
        </p:sp>
      </p:grpSp>
      <p:grpSp>
        <p:nvGrpSpPr>
          <p:cNvPr id="1664" name="Grupla"/>
          <p:cNvGrpSpPr/>
          <p:nvPr/>
        </p:nvGrpSpPr>
        <p:grpSpPr>
          <a:xfrm>
            <a:off x="1835011" y="876300"/>
            <a:ext cx="1746389" cy="514350"/>
            <a:chOff x="-1" y="0"/>
            <a:chExt cx="1746387" cy="514350"/>
          </a:xfrm>
        </p:grpSpPr>
        <p:sp>
          <p:nvSpPr>
            <p:cNvPr id="1662" name="Dikdörtgen"/>
            <p:cNvSpPr/>
            <p:nvPr/>
          </p:nvSpPr>
          <p:spPr>
            <a:xfrm>
              <a:off x="222386" y="0"/>
              <a:ext cx="1524001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3300">
                  <a:solidFill>
                    <a:srgbClr val="F47C2C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663" name="Lens"/>
            <p:cNvSpPr txBox="1"/>
            <p:nvPr/>
          </p:nvSpPr>
          <p:spPr>
            <a:xfrm>
              <a:off x="-2" y="3173"/>
              <a:ext cx="1524003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3300">
                  <a:solidFill>
                    <a:srgbClr val="F47C2C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Lens</a:t>
              </a:r>
            </a:p>
          </p:txBody>
        </p:sp>
      </p:grpSp>
      <p:grpSp>
        <p:nvGrpSpPr>
          <p:cNvPr id="1667" name="Grupla"/>
          <p:cNvGrpSpPr/>
          <p:nvPr/>
        </p:nvGrpSpPr>
        <p:grpSpPr>
          <a:xfrm>
            <a:off x="781050" y="1809749"/>
            <a:ext cx="7334250" cy="876301"/>
            <a:chOff x="0" y="0"/>
            <a:chExt cx="7334250" cy="876300"/>
          </a:xfrm>
        </p:grpSpPr>
        <p:sp>
          <p:nvSpPr>
            <p:cNvPr id="1665" name="Dikdörtgen"/>
            <p:cNvSpPr/>
            <p:nvPr/>
          </p:nvSpPr>
          <p:spPr>
            <a:xfrm>
              <a:off x="0" y="0"/>
              <a:ext cx="733425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666" name="Doğru ürünü doğru müşteriye önermek, veriyi davranışla birlikte okumaktan geçer."/>
            <p:cNvSpPr txBox="1"/>
            <p:nvPr/>
          </p:nvSpPr>
          <p:spPr>
            <a:xfrm>
              <a:off x="0" y="-1"/>
              <a:ext cx="7334250" cy="762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Doğru ürünü doğru müşteriye önermek, veriyi davranışla birlikte okumaktan geçer.</a:t>
              </a:r>
            </a:p>
          </p:txBody>
        </p:sp>
      </p:grpSp>
      <p:sp>
        <p:nvSpPr>
          <p:cNvPr id="1668" name="Dikdörtgen"/>
          <p:cNvSpPr/>
          <p:nvPr/>
        </p:nvSpPr>
        <p:spPr>
          <a:xfrm>
            <a:off x="838200" y="3371850"/>
            <a:ext cx="4953000" cy="1571625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9" name="Dikdörtgen"/>
          <p:cNvSpPr/>
          <p:nvPr/>
        </p:nvSpPr>
        <p:spPr>
          <a:xfrm>
            <a:off x="800100" y="3314700"/>
            <a:ext cx="4953000" cy="1571625"/>
          </a:xfrm>
          <a:prstGeom prst="rect">
            <a:avLst/>
          </a:prstGeom>
          <a:solidFill>
            <a:srgbClr val="1E3A63"/>
          </a:solidFill>
          <a:ln>
            <a:solidFill>
              <a:srgbClr val="3E5B83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0" name="Dikdörtgen"/>
          <p:cNvSpPr/>
          <p:nvPr/>
        </p:nvSpPr>
        <p:spPr>
          <a:xfrm>
            <a:off x="800100" y="3314700"/>
            <a:ext cx="57150" cy="1571625"/>
          </a:xfrm>
          <a:prstGeom prst="rect">
            <a:avLst/>
          </a:prstGeom>
          <a:solidFill>
            <a:srgbClr val="F47C2C"/>
          </a:solidFill>
          <a:ln w="3175">
            <a:solidFill>
              <a:srgbClr val="F47C2C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73" name="Grupla"/>
          <p:cNvGrpSpPr/>
          <p:nvPr/>
        </p:nvGrpSpPr>
        <p:grpSpPr>
          <a:xfrm>
            <a:off x="1123950" y="3581399"/>
            <a:ext cx="1905000" cy="247651"/>
            <a:chOff x="0" y="0"/>
            <a:chExt cx="1905000" cy="247650"/>
          </a:xfrm>
        </p:grpSpPr>
        <p:sp>
          <p:nvSpPr>
            <p:cNvPr id="1671" name="Dikdörtgen"/>
            <p:cNvSpPr/>
            <p:nvPr/>
          </p:nvSpPr>
          <p:spPr>
            <a:xfrm>
              <a:off x="0" y="0"/>
              <a:ext cx="19050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72" name="Kaynakça"/>
            <p:cNvSpPr txBox="1"/>
            <p:nvPr/>
          </p:nvSpPr>
          <p:spPr>
            <a:xfrm>
              <a:off x="0" y="-1"/>
              <a:ext cx="190500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Kaynakça</a:t>
              </a:r>
            </a:p>
          </p:txBody>
        </p:sp>
      </p:grpSp>
      <p:grpSp>
        <p:nvGrpSpPr>
          <p:cNvPr id="1676" name="Grupla"/>
          <p:cNvGrpSpPr/>
          <p:nvPr/>
        </p:nvGrpSpPr>
        <p:grpSpPr>
          <a:xfrm>
            <a:off x="1123950" y="4000499"/>
            <a:ext cx="4191000" cy="666751"/>
            <a:chOff x="0" y="0"/>
            <a:chExt cx="4191000" cy="666750"/>
          </a:xfrm>
        </p:grpSpPr>
        <p:sp>
          <p:nvSpPr>
            <p:cNvPr id="1674" name="Dikdörtgen"/>
            <p:cNvSpPr/>
            <p:nvPr/>
          </p:nvSpPr>
          <p:spPr>
            <a:xfrm>
              <a:off x="0" y="0"/>
              <a:ext cx="4191000" cy="666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75" name="Kaggle: E-commerce Transactions + Clickstream…"/>
            <p:cNvSpPr txBox="1"/>
            <p:nvPr/>
          </p:nvSpPr>
          <p:spPr>
            <a:xfrm>
              <a:off x="0" y="-1"/>
              <a:ext cx="4191000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Kaggle: E-commerce Transactions + Clickstream</a:t>
              </a:r>
            </a:p>
            <a:p>
              <a:pPr>
                <a:defRPr sz="12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Python, Pandas, scikit-learn, Plotly, Streamlit</a:t>
              </a:r>
            </a:p>
            <a:p>
              <a:pPr>
                <a:defRPr sz="12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vaderSentiment: VADER duygu analizi</a:t>
              </a:r>
            </a:p>
          </p:txBody>
        </p:sp>
      </p:grpSp>
      <p:sp>
        <p:nvSpPr>
          <p:cNvPr id="1677" name="Dikdörtgen"/>
          <p:cNvSpPr/>
          <p:nvPr/>
        </p:nvSpPr>
        <p:spPr>
          <a:xfrm>
            <a:off x="6610350" y="3371850"/>
            <a:ext cx="4000500" cy="1571625"/>
          </a:xfrm>
          <a:prstGeom prst="rect">
            <a:avLst/>
          </a:prstGeom>
          <a:solidFill>
            <a:srgbClr val="DCE5F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8" name="Dikdörtgen"/>
          <p:cNvSpPr/>
          <p:nvPr/>
        </p:nvSpPr>
        <p:spPr>
          <a:xfrm>
            <a:off x="6572250" y="3314700"/>
            <a:ext cx="4000500" cy="1571625"/>
          </a:xfrm>
          <a:prstGeom prst="rect">
            <a:avLst/>
          </a:prstGeom>
          <a:solidFill>
            <a:srgbClr val="1E3A63"/>
          </a:solidFill>
          <a:ln>
            <a:solidFill>
              <a:srgbClr val="3E5B83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9" name="Dikdörtgen"/>
          <p:cNvSpPr/>
          <p:nvPr/>
        </p:nvSpPr>
        <p:spPr>
          <a:xfrm>
            <a:off x="6572250" y="3314700"/>
            <a:ext cx="57150" cy="1571625"/>
          </a:xfrm>
          <a:prstGeom prst="rect">
            <a:avLst/>
          </a:prstGeom>
          <a:solidFill>
            <a:srgbClr val="3FA65A"/>
          </a:solidFill>
          <a:ln w="3175">
            <a:solidFill>
              <a:srgbClr val="3FA65A"/>
            </a:solidFill>
          </a:ln>
        </p:spPr>
        <p:txBody>
          <a:bodyPr lIns="0" tIns="0" rIns="0" bIns="0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82" name="Grupla"/>
          <p:cNvGrpSpPr/>
          <p:nvPr/>
        </p:nvGrpSpPr>
        <p:grpSpPr>
          <a:xfrm>
            <a:off x="6896100" y="3581399"/>
            <a:ext cx="2286000" cy="247651"/>
            <a:chOff x="0" y="0"/>
            <a:chExt cx="2286000" cy="247650"/>
          </a:xfrm>
        </p:grpSpPr>
        <p:sp>
          <p:nvSpPr>
            <p:cNvPr id="1680" name="Dikdörtgen"/>
            <p:cNvSpPr/>
            <p:nvPr/>
          </p:nvSpPr>
          <p:spPr>
            <a:xfrm>
              <a:off x="0" y="0"/>
              <a:ext cx="22860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81" name="Canlı Dashboard"/>
            <p:cNvSpPr txBox="1"/>
            <p:nvPr/>
          </p:nvSpPr>
          <p:spPr>
            <a:xfrm>
              <a:off x="0" y="-1"/>
              <a:ext cx="228600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Canlı Dashboard</a:t>
              </a:r>
            </a:p>
          </p:txBody>
        </p:sp>
      </p:grpSp>
      <p:grpSp>
        <p:nvGrpSpPr>
          <p:cNvPr id="1685" name="Grupla"/>
          <p:cNvGrpSpPr/>
          <p:nvPr/>
        </p:nvGrpSpPr>
        <p:grpSpPr>
          <a:xfrm>
            <a:off x="6896100" y="4038599"/>
            <a:ext cx="3048000" cy="609601"/>
            <a:chOff x="0" y="0"/>
            <a:chExt cx="3048000" cy="609600"/>
          </a:xfrm>
        </p:grpSpPr>
        <p:sp>
          <p:nvSpPr>
            <p:cNvPr id="1683" name="Dikdörtgen"/>
            <p:cNvSpPr/>
            <p:nvPr/>
          </p:nvSpPr>
          <p:spPr>
            <a:xfrm>
              <a:off x="0" y="0"/>
              <a:ext cx="3048000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84" name="Streamlit linki:…"/>
            <p:cNvSpPr txBox="1"/>
            <p:nvPr/>
          </p:nvSpPr>
          <p:spPr>
            <a:xfrm>
              <a:off x="0" y="-1"/>
              <a:ext cx="3048000" cy="609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3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Streamlit linki:</a:t>
              </a:r>
            </a:p>
            <a:p>
              <a:pPr>
                <a:defRPr sz="1300">
                  <a:solidFill>
                    <a:srgbClr val="D8E2F0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https://shoplens.streamlit.app/</a:t>
              </a:r>
            </a:p>
          </p:txBody>
        </p:sp>
      </p:grpSp>
      <p:grpSp>
        <p:nvGrpSpPr>
          <p:cNvPr id="1688" name="Grupla"/>
          <p:cNvGrpSpPr/>
          <p:nvPr/>
        </p:nvGrpSpPr>
        <p:grpSpPr>
          <a:xfrm>
            <a:off x="781050" y="5581649"/>
            <a:ext cx="3048000" cy="381001"/>
            <a:chOff x="0" y="0"/>
            <a:chExt cx="3048000" cy="381000"/>
          </a:xfrm>
        </p:grpSpPr>
        <p:sp>
          <p:nvSpPr>
            <p:cNvPr id="1686" name="Dikdörtgen"/>
            <p:cNvSpPr/>
            <p:nvPr/>
          </p:nvSpPr>
          <p:spPr>
            <a:xfrm>
              <a:off x="0" y="-1"/>
              <a:ext cx="3048000" cy="3619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500">
                  <a:solidFill>
                    <a:srgbClr val="F47C2C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pPr>
            </a:p>
          </p:txBody>
        </p:sp>
        <p:sp>
          <p:nvSpPr>
            <p:cNvPr id="1687" name="Teşekkürler"/>
            <p:cNvSpPr txBox="1"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500">
                  <a:solidFill>
                    <a:srgbClr val="F47C2C"/>
                  </a:solidFill>
                  <a:latin typeface="Aptos Display"/>
                  <a:ea typeface="Aptos Display"/>
                  <a:cs typeface="Aptos Display"/>
                  <a:sym typeface="Aptos Display"/>
                </a:defRPr>
              </a:lvl1pPr>
            </a:lstStyle>
            <a:p>
              <a:pPr/>
              <a:r>
                <a:t>Teşekkürler</a:t>
              </a:r>
            </a:p>
          </p:txBody>
        </p:sp>
      </p:grpSp>
      <p:grpSp>
        <p:nvGrpSpPr>
          <p:cNvPr id="1691" name="Grupla"/>
          <p:cNvGrpSpPr/>
          <p:nvPr/>
        </p:nvGrpSpPr>
        <p:grpSpPr>
          <a:xfrm>
            <a:off x="781050" y="6038849"/>
            <a:ext cx="3048000" cy="228601"/>
            <a:chOff x="0" y="0"/>
            <a:chExt cx="3048000" cy="228600"/>
          </a:xfrm>
        </p:grpSpPr>
        <p:sp>
          <p:nvSpPr>
            <p:cNvPr id="1689" name="Dikdörtgen"/>
            <p:cNvSpPr/>
            <p:nvPr/>
          </p:nvSpPr>
          <p:spPr>
            <a:xfrm>
              <a:off x="0" y="0"/>
              <a:ext cx="3048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90" name="Özge Güneş | Mayıs 2026"/>
            <p:cNvSpPr txBox="1"/>
            <p:nvPr/>
          </p:nvSpPr>
          <p:spPr>
            <a:xfrm>
              <a:off x="0" y="-1"/>
              <a:ext cx="3048000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Özge Güneş | Mayıs 2026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Keşifsel Veri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Verinin yapısını, event dağılımını ve temel kalite kontrollerini özetleyen çıktı.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0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274" y="1783080"/>
            <a:ext cx="6114692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1832" y="5596127"/>
            <a:ext cx="10323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rial"/>
              </a:rPr>
              <a:t>Veri büyüklüğü, event dağılımı, rating yapısı ve ilk EDA kontrolleri.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Dönüşüm Hunisi ve Duygu Dağılımı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Kullanıcı davranışı ile yorumlardan gelen duygu sinyali birlikte okunur.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36527"/>
            <a:ext cx="5111496" cy="2295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Page view, sepete ekleme, ödeme başlatma ve satın alma adımlarındaki geçişler.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449541"/>
            <a:ext cx="5111496" cy="22698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23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VADER + rating hibrit kuralıyla pozitif, nötr ve negatif yorum dağılımı.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Ürün Performansı ve Öneri Eşiği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Genel öneri listesini oluşturan ürün skorları ve eşik mantığı.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top_urun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00912"/>
            <a:ext cx="5111496" cy="27670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Genel öneri listesinde öne çıkan ürünlerin skor sıralaması.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521482"/>
            <a:ext cx="5111496" cy="21259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23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Öneri skoru dağılımı ve önerilir ürünleri ayıran eşik çizgisi.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Gelir ve Segment-Kategori Tercihleri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Satış etkisi ve müşteri segmentlerinin kategori tercihleri birlikte değerlendirilir.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gel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79560"/>
            <a:ext cx="5111496" cy="2809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Ürünlerin gelir katkısı ve ticari performans görünümü.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4_segment_katego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982" y="1828800"/>
            <a:ext cx="4427116" cy="35112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23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Her segmentin alışveriş yaptığı kategorilerin yüzdesel satış payları.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Genel Ürün Modeli: Değerlendirme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Bu model ürünleri genel performansa göre önerilir / önerilmez olarak ayırır.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55" y="1828800"/>
            <a:ext cx="4318490" cy="3511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Genel ürün modelinin doğru ve yanlış sınıflandırma sayıları.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174" y="1828800"/>
            <a:ext cx="4946731" cy="35112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23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Genel ürün modelinin sınıfları ayırma gücünü gösteren ROC eğrisi.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Genel Ürün Modeli: Özellik Önemi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Ürün modelinin kararında hangi sinyallerin daha etkili olduğunu gösterir.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27" y="1783080"/>
            <a:ext cx="6820185" cy="37490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1832" y="5596127"/>
            <a:ext cx="10323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rial"/>
              </a:rPr>
              <a:t>Genel ürün skorunda sepete ekleme, rating ve fiyat gibi değişkenlerin katkısı.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Müşteri Segmentasyonu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RFM ile müşterilerin alışveriş yakınlığı, sıklığı ve harcama düzeyi analiz 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78344"/>
            <a:ext cx="5111496" cy="28122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RFM segmentlerinin müşteri sayısına göre dağılımı.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327" y="1828800"/>
            <a:ext cx="5028426" cy="35112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23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Segmentlerin recency ve harcama eksenindeki konumları.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Kişiye Özel Model: Değerlendirme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Bu model belirli müşteri + ürün çifti için satın alma olasılığı üretir.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_kisisel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4" y="1828800"/>
            <a:ext cx="4605332" cy="3511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Kişiye özel modelin müşteri-ürün çiftleri üzerindeki confusion matrix çıktısı.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5440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2_kisisel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088221"/>
            <a:ext cx="5111496" cy="2992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232" y="5431536"/>
            <a:ext cx="4928616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rial"/>
              </a:rPr>
              <a:t>Kişiye özel modelin satın alan / almayan çiftleri ayırma performansı.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ShopLens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28016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B4E2CD"/>
                </a:solidFill>
                <a:latin typeface="Arial"/>
              </a:rPr>
              <a:t>Grafik Çıktıları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Özge Güneş | Mayıs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Arial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980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F2A3D"/>
                </a:solidFill>
                <a:latin typeface="Arial"/>
              </a:rPr>
              <a:t>Kişiye Özel Model: Özellik Önemi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rial"/>
              </a:rPr>
              <a:t>Kişisel öneri tarafında hangi müşteri ve ürün sinyallerinin öne çıktığını gösterir.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_kisisel_o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104" y="1783080"/>
            <a:ext cx="6425031" cy="37490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1832" y="5596127"/>
            <a:ext cx="10323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rial"/>
              </a:rPr>
              <a:t>Kişisel modelde sepete ekleme davranışı en güçlü sinyal olarak görünür.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